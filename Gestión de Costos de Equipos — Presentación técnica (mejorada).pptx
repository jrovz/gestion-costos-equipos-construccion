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felipe rodriguez valencia" userId="6489167610e555ff" providerId="LiveId" clId="{479868D6-73D8-44E2-935C-D5949522823C}"/>
    <pc:docChg chg="modSld">
      <pc:chgData name="juan felipe rodriguez valencia" userId="6489167610e555ff" providerId="LiveId" clId="{479868D6-73D8-44E2-935C-D5949522823C}" dt="2026-09-25T19:34:39.228" v="0" actId="27107"/>
      <pc:docMkLst>
        <pc:docMk/>
      </pc:docMkLst>
      <pc:sldChg chg="modSp mod">
        <pc:chgData name="juan felipe rodriguez valencia" userId="6489167610e555ff" providerId="LiveId" clId="{479868D6-73D8-44E2-935C-D5949522823C}" dt="2026-09-25T19:34:39.228" v="0" actId="27107"/>
        <pc:sldMkLst>
          <pc:docMk/>
          <pc:sldMk cId="0" sldId="270"/>
        </pc:sldMkLst>
        <pc:spChg chg="mod">
          <ac:chgData name="juan felipe rodriguez valencia" userId="6489167610e555ff" providerId="LiveId" clId="{479868D6-73D8-44E2-935C-D5949522823C}" dt="2026-09-25T19:34:39.228" v="0" actId="27107"/>
          <ac:spMkLst>
            <pc:docMk/>
            <pc:sldMk cId="0" sldId="27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537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gracias por el tiempo. En los próximos minutos les cuento cómo pasamos de cuatro archivos de datos sueltos, sin diccionario, a un sistema que limpia, analiza, proyecta costos y responde preguntas por Telegram -- con énfasis en la metodología: qué se probó, cómo se validó, y qué papel jugó machine learning en cada decisión.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caso real de consultoría: una empresa constructora está planificando un proyecto con una ventana de ejecución definida, y necesita gestionar el suministro de dos equipos críticos. Históricamente el costo de esos equipos ha sido difícil de anticipar. La gerencia sospecha que el precio está relacionado con el mercado de materias primas, pero no tiene forma de comprobarlo -- ese es el encargo.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analizar nada, hubo que lidiar con cuatro archivos en formatos completamente distintos. Nada de esto es análisis todavía, es ingeniería de datos, pero contamina todo lo que viene después si no se hace bien. Y hay una limitación real que se mantiene durante todo el proyecto: no existe un diccionario de datos.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uno es limpieza pura: normalizar los cuatro formatos distintos, validar la calidad de cada serie por separado, y alinear en el tiempo con un merge que conserva toda la historia disponible. No se eliminó ningún dato por outlier: se listaron los saltos grandes, pero se dejaron porque no había evidencia de que fueran errores de captura. El resultado se verificó contra el archivo histórico ya combinado.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está el problema central del proyecto. Si uno mira los precios crudos, encuentra correlaciones altísimas, hasta 0.997. Pero es típico de series con tendencia: ambas suben con los años. El heatmap de la derecha lo muestra en un solo vistazo: en niveles todo correlaciona por encima de 0.84 entre insumos y equipos -- probable correlación espuria. En retornos diarios, que eliminan la tendencia, solo dos pares se despegan del resto: Y con Equipo1 y Z con Equipo2. Eso ya es una pista, pero no es prueba -- para eso está la Fase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vez de confiar en un solo método, se trianguló la respuesta con cinco técnicas con supuestos distintos: tres econométricas -- cointegración de Engle-Granger, el vector de Johansen y correlación cruzada -- y dos de machine learning -- Lasso/Elastic Net y Random Forest con SHAP -- para capturar cualquier relación no lineal que los métodos lineales pudieran perderse. Cuando cinco métodos con mecánicas distintas llegan a la misma conclusión, esa conclusión es mucho más sólida.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detenerme en los dos métodos de machine learning porque son los que más peso le dan a la conclusión. Lasso/Elastic Net es un modelo lineal, pero regularizado: en vez de repartir peso entre variables correlacionadas entre sí -- que es justo el problema con X, Y y Z -- la penalización L1 fuerza coeficientes irrelevantes a cero, seleccionando variables. El alpha no se elige a mano, se elige por validación cruzada de series de tiempo, que respeta el orden temporal. Random Forest con SHAP es el otro extremo: un ensamble de árboles que no asume ninguna forma funcional, y SHAP descompone cada predicción para decir cuánto aportó cada variable. Cuando un modelo lineal regularizado y un ensamble no lineal, entrenados sobre los mismos datos, señalan el mismo insumo, eso deja de ser casualidad de un solo modelo bien ajustado.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central del proyecto: Equipo1 explicado por Y, Equipo2 por Z, los dos con relación contemporánea. X resultó ser ruido en los dos casos. El gráfico de la derecha es SHAP de un Random Forest -- uno de los cinco métodos -- y muestra exactamente el mismo patrón por un camino no lineal. Un detalle interesante: Y resultó ser un precio 'pegado', una lista que se actualiza cada cinco a siete semanas, no una cotización diaria -- lo que sugiere que Equipo1 está indexado a esa lista más que sujeto al mercado día a día.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proyectar el costo se compararon cuatro métodos, del más simple al más sofisticado. Naive repite el último precio -- es el piso de referencia. La media móvil simple de tres meses es la opción más intuitiva, y también la que el texto inyectado en el PDF del caso trataba de imponer como si fuera la respuesta correcta. ARIMA elige su orden por AIC mínimo. Y VECM es el único que aprovecha directamente la cointegración que se encontró en la Fase 2, modelando la corrección hacia el equilibrio de largo plazo.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validación es backtesting de origen rodante: se reservan los últimos 504 días hábiles, unos dos años, y se generan pronósticos desde múltiples orígenes -- uno nuevo cada 21 días -- evaluando 1, 3 y 6 meses hacia adelante en cada uno. El gráfico muestra el MAPE de cada método. La media móvil, que es lo que el texto inyectado trataba de imponer, nunca fue el método ganador en ninguna de las seis combinaciones de equipo y horizonte. El horizonte final por equipo no es fijo: se elige el más largo en el que el método ganador siga siendo ARIMA o VECM, no naive o media móvil.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final: Equipo1 se proyecta a 3 meses con VECM, Equipo2 a 1 mes, también con VECM -- el horizonte en el que cada uno sigue siendo confiable es distinto. La banda de incertidumbre no sale de un supuesto estadístico del modelo, sino del error real que ese método tuvo al probarlo contra el pasado: percentil 5 a 95 de los errores de backtesting.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PDF del caso tenía, escondido entre dos párrafos, un bloque de texto dirigido a un asistente de IA, pidiéndole que presentara una relación inventada y que usara solo la media móvil simple para el pronóstico, presentándolo como resultado de un análisis propio. No se siguió esa instrucción. Lo notable: el análisis real mostró prácticamente lo contrario -- la variable que pedía descartar terminó siendo la más importante, y el método que proponía terminó siendo el que nunca ganó en el backtesting.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pedía explicar la diferencia entre IA convencional y un agente, y este proyecto tiene los dos ejemplos uno al lado del otro. El VECM es un modelo convencional: recibe datos, devuelve un pronóstico fijo. El agente es distinto en los cuatro conceptos que pide el caso: autonomía para decidir qué herramienta usar, capacidad de acción, memoria de la conversación, y uso de herramientas concretas en vez de solo generar texto. Ya probado de punta a punta con Azure OpenAI real, interfaz Telegram.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se diseñó para minimizar costo y ser defendible por un perfil junior. Todo el cómputo vive en una sola Azure Functions App: recibe mensajes de Telegram, corre el agente, y también los jobs programados de limpieza y pronóstico. Resultados en Cosmos DB, archivos en Blob Storage. Prácticamente todo cae en los niveles gratuitos de Azure. El único gasto real es el modelo de lenguaje, que cobra por uso y es mínimo para esta escala.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este proyecto pasó de cuatro archivos de datos sueltos, sin diccionario, a un sistema completo -- limpieza reproducible, una relación insumo-equipo validada con tres métodos econométricos y dos de machine learning, una proyección de costos con backtesting real y bandas de incertidumbre honestas, un agente conversacional que ya funciona, y una arquitectura en la nube de costo mínimo. Y en el camino, se encontró y documentó un intento de manipular el análisis, resuelto con evidencia.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914400"/>
            <a:ext cx="10058400" cy="320040"/>
          </a:xfrm>
          <a:prstGeom prst="rect">
            <a:avLst/>
          </a:prstGeom>
          <a:noFill/>
          <a:ln/>
        </p:spPr>
        <p:txBody>
          <a:bodyPr wrap="square" lIns="0" tIns="0" rIns="0" bIns="0" rtlCol="0" anchor="ctr"/>
          <a:lstStyle/>
          <a:p>
            <a:pPr marL="0" indent="0">
              <a:buNone/>
            </a:pPr>
            <a:r>
              <a:rPr lang="en-US" sz="1300" b="1" kern="0" spc="100" dirty="0">
                <a:solidFill>
                  <a:srgbClr val="E0640F"/>
                </a:solidFill>
                <a:latin typeface="Calibri" pitchFamily="34" charset="0"/>
                <a:ea typeface="Calibri" pitchFamily="34" charset="-122"/>
                <a:cs typeface="Calibri" pitchFamily="34" charset="-120"/>
              </a:rPr>
              <a:t>PRUEBA TÉCNICA — CIENCIA DE DATOS SENIOR</a:t>
            </a:r>
            <a:endParaRPr lang="en-US" sz="1300" dirty="0"/>
          </a:p>
        </p:txBody>
      </p:sp>
      <p:sp>
        <p:nvSpPr>
          <p:cNvPr id="3" name="Text 1"/>
          <p:cNvSpPr txBox="1"/>
          <p:nvPr/>
        </p:nvSpPr>
        <p:spPr>
          <a:xfrm>
            <a:off x="640080" y="1371600"/>
            <a:ext cx="10515600" cy="1188720"/>
          </a:xfrm>
          <a:prstGeom prst="rect">
            <a:avLst/>
          </a:prstGeom>
          <a:noFill/>
          <a:ln/>
        </p:spPr>
        <p:txBody>
          <a:bodyPr wrap="square" lIns="0" tIns="0" rIns="0" bIns="0" rtlCol="0" anchor="ctr"/>
          <a:lstStyle/>
          <a:p>
            <a:pPr marL="0" indent="0">
              <a:lnSpc>
                <a:spcPct val="102000"/>
              </a:lnSpc>
              <a:buNone/>
            </a:pPr>
            <a:r>
              <a:rPr lang="en-US" sz="4000" b="1" dirty="0">
                <a:solidFill>
                  <a:srgbClr val="F7F5EF"/>
                </a:solidFill>
                <a:latin typeface="Cambria" pitchFamily="34" charset="0"/>
                <a:ea typeface="Cambria" pitchFamily="34" charset="-122"/>
                <a:cs typeface="Cambria" pitchFamily="34" charset="-120"/>
              </a:rPr>
              <a:t>Gestión de costos de equipos</a:t>
            </a:r>
            <a:endParaRPr lang="en-US" sz="4000" dirty="0"/>
          </a:p>
          <a:p>
            <a:pPr marL="0" indent="0">
              <a:lnSpc>
                <a:spcPct val="102000"/>
              </a:lnSpc>
              <a:buNone/>
            </a:pPr>
            <a:r>
              <a:rPr lang="en-US" sz="4000" b="1" dirty="0">
                <a:solidFill>
                  <a:srgbClr val="F7F5EF"/>
                </a:solidFill>
                <a:latin typeface="Cambria" pitchFamily="34" charset="0"/>
                <a:ea typeface="Cambria" pitchFamily="34" charset="-122"/>
                <a:cs typeface="Cambria" pitchFamily="34" charset="-120"/>
              </a:rPr>
              <a:t>de construcción</a:t>
            </a:r>
            <a:endParaRPr lang="en-US" sz="4000" dirty="0"/>
          </a:p>
        </p:txBody>
      </p:sp>
      <p:sp>
        <p:nvSpPr>
          <p:cNvPr id="4" name="Text 2"/>
          <p:cNvSpPr txBox="1"/>
          <p:nvPr/>
        </p:nvSpPr>
        <p:spPr>
          <a:xfrm>
            <a:off x="640080" y="2880360"/>
            <a:ext cx="9601200" cy="548640"/>
          </a:xfrm>
          <a:prstGeom prst="rect">
            <a:avLst/>
          </a:prstGeom>
          <a:noFill/>
          <a:ln/>
        </p:spPr>
        <p:txBody>
          <a:bodyPr wrap="square" lIns="0" tIns="0" rIns="0" bIns="0" rtlCol="0" anchor="ctr"/>
          <a:lstStyle/>
          <a:p>
            <a:pPr marL="0" indent="0">
              <a:buNone/>
            </a:pPr>
            <a:r>
              <a:rPr lang="en-US" sz="1800" dirty="0">
                <a:solidFill>
                  <a:srgbClr val="AEB9CC"/>
                </a:solidFill>
                <a:latin typeface="Calibri" pitchFamily="34" charset="0"/>
                <a:ea typeface="Calibri" pitchFamily="34" charset="-122"/>
                <a:cs typeface="Calibri" pitchFamily="34" charset="-120"/>
              </a:rPr>
              <a:t>De datos crudos sin diccionario a un agente conversacional que responde por Telegram</a:t>
            </a:r>
            <a:endParaRPr lang="en-US" sz="1800" dirty="0"/>
          </a:p>
        </p:txBody>
      </p:sp>
      <p:sp>
        <p:nvSpPr>
          <p:cNvPr id="5" name="Text 3"/>
          <p:cNvSpPr txBox="1"/>
          <p:nvPr/>
        </p:nvSpPr>
        <p:spPr>
          <a:xfrm>
            <a:off x="640080" y="6035040"/>
            <a:ext cx="5486400" cy="320040"/>
          </a:xfrm>
          <a:prstGeom prst="rect">
            <a:avLst/>
          </a:prstGeom>
          <a:noFill/>
          <a:ln/>
        </p:spPr>
        <p:txBody>
          <a:bodyPr wrap="square" lIns="0" tIns="0" rIns="0" bIns="0" rtlCol="0" anchor="ctr"/>
          <a:lstStyle/>
          <a:p>
            <a:pPr marL="0" indent="0">
              <a:buNone/>
            </a:pPr>
            <a:r>
              <a:rPr lang="en-US" sz="1300" dirty="0">
                <a:solidFill>
                  <a:srgbClr val="AEB9CC"/>
                </a:solidFill>
                <a:latin typeface="Calibri" pitchFamily="34" charset="0"/>
                <a:ea typeface="Calibri" pitchFamily="34" charset="-122"/>
                <a:cs typeface="Calibri" pitchFamily="34" charset="-120"/>
              </a:rPr>
              <a:t>Juan Felipe Rodríguez Valencia</a:t>
            </a:r>
            <a:endParaRPr lang="en-US" sz="1300" dirty="0"/>
          </a:p>
        </p:txBody>
      </p:sp>
      <p:sp>
        <p:nvSpPr>
          <p:cNvPr id="6" name="Text 4"/>
          <p:cNvSpPr txBox="1"/>
          <p:nvPr/>
        </p:nvSpPr>
        <p:spPr>
          <a:xfrm>
            <a:off x="10180015" y="6035040"/>
            <a:ext cx="1371600" cy="320040"/>
          </a:xfrm>
          <a:prstGeom prst="rect">
            <a:avLst/>
          </a:prstGeom>
          <a:noFill/>
          <a:ln/>
        </p:spPr>
        <p:txBody>
          <a:bodyPr wrap="square" lIns="0" tIns="0" rIns="0" bIns="0" rtlCol="0" anchor="ctr"/>
          <a:lstStyle/>
          <a:p>
            <a:pPr marL="0" indent="0" algn="r">
              <a:buNone/>
            </a:pPr>
            <a:r>
              <a:rPr lang="en-US" sz="1300" dirty="0">
                <a:solidFill>
                  <a:srgbClr val="AEB9CC"/>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marL="0" indent="0">
              <a:lnSpc>
                <a:spcPct val="102000"/>
              </a:lnSpc>
              <a:buNone/>
            </a:pPr>
            <a:r>
              <a:rPr lang="en-US" sz="3200" b="1" dirty="0">
                <a:solidFill>
                  <a:srgbClr val="1B2A4A"/>
                </a:solidFill>
                <a:latin typeface="Cambria" pitchFamily="34" charset="0"/>
                <a:ea typeface="Cambria" pitchFamily="34" charset="-122"/>
                <a:cs typeface="Cambria" pitchFamily="34" charset="-120"/>
              </a:rPr>
              <a:t>El problema del cliente</a:t>
            </a:r>
            <a:endParaRPr lang="en-US" sz="3200" dirty="0"/>
          </a:p>
        </p:txBody>
      </p:sp>
      <p:sp>
        <p:nvSpPr>
          <p:cNvPr id="3" name="Text 1"/>
          <p:cNvSpPr txBox="1"/>
          <p:nvPr/>
        </p:nvSpPr>
        <p:spPr>
          <a:xfrm>
            <a:off x="640080" y="1417320"/>
            <a:ext cx="10058400" cy="457200"/>
          </a:xfrm>
          <a:prstGeom prst="rect">
            <a:avLst/>
          </a:prstGeom>
          <a:noFill/>
          <a:ln/>
        </p:spPr>
        <p:txBody>
          <a:bodyPr wrap="square" lIns="0" tIns="0" rIns="0" bIns="0" rtlCol="0" anchor="ctr"/>
          <a:lstStyle/>
          <a:p>
            <a:pPr marL="0" indent="0">
              <a:buNone/>
            </a:pPr>
            <a:r>
              <a:rPr lang="en-US" sz="1800" dirty="0">
                <a:solidFill>
                  <a:srgbClr val="44506B"/>
                </a:solidFill>
                <a:latin typeface="Calibri" pitchFamily="34" charset="0"/>
                <a:ea typeface="Calibri" pitchFamily="34" charset="-122"/>
                <a:cs typeface="Calibri" pitchFamily="34" charset="-120"/>
              </a:rPr>
              <a:t>Una constructora no puede anticipar el costo de dos equipos críticos para su proyecto.</a:t>
            </a:r>
            <a:endParaRPr lang="en-US" sz="1800" dirty="0"/>
          </a:p>
        </p:txBody>
      </p:sp>
      <p:sp>
        <p:nvSpPr>
          <p:cNvPr id="4" name="Shape 2"/>
          <p:cNvSpPr/>
          <p:nvPr/>
        </p:nvSpPr>
        <p:spPr>
          <a:xfrm>
            <a:off x="640080" y="2743200"/>
            <a:ext cx="3383280" cy="1737360"/>
          </a:xfrm>
          <a:prstGeom prst="roundRect">
            <a:avLst>
              <a:gd name="adj" fmla="val 4737"/>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5" name="Text 3"/>
          <p:cNvSpPr txBox="1"/>
          <p:nvPr/>
        </p:nvSpPr>
        <p:spPr>
          <a:xfrm>
            <a:off x="914400" y="3017520"/>
            <a:ext cx="2834640" cy="365760"/>
          </a:xfrm>
          <a:prstGeom prst="rect">
            <a:avLst/>
          </a:prstGeom>
          <a:noFill/>
          <a:ln/>
        </p:spPr>
        <p:txBody>
          <a:bodyPr wrap="square" lIns="0" tIns="0" rIns="0" bIns="0" rtlCol="0" anchor="ctr"/>
          <a:lstStyle/>
          <a:p>
            <a:pPr marL="0" indent="0">
              <a:buNone/>
            </a:pPr>
            <a:r>
              <a:rPr lang="en-US" sz="1600" b="1" dirty="0">
                <a:solidFill>
                  <a:srgbClr val="E0640F"/>
                </a:solidFill>
                <a:latin typeface="Calibri" pitchFamily="34" charset="0"/>
                <a:ea typeface="Calibri" pitchFamily="34" charset="-122"/>
                <a:cs typeface="Calibri" pitchFamily="34" charset="-120"/>
              </a:rPr>
              <a:t>El síntoma</a:t>
            </a:r>
            <a:endParaRPr lang="en-US" sz="1600" dirty="0"/>
          </a:p>
        </p:txBody>
      </p:sp>
      <p:sp>
        <p:nvSpPr>
          <p:cNvPr id="6" name="Text 4"/>
          <p:cNvSpPr txBox="1"/>
          <p:nvPr/>
        </p:nvSpPr>
        <p:spPr>
          <a:xfrm>
            <a:off x="914400" y="3429000"/>
            <a:ext cx="2834640" cy="914400"/>
          </a:xfrm>
          <a:prstGeom prst="rect">
            <a:avLst/>
          </a:prstGeom>
          <a:noFill/>
          <a:ln/>
        </p:spPr>
        <p:txBody>
          <a:bodyPr wrap="square" lIns="0" tIns="0" rIns="0" bIns="0" rtlCol="0" anchor="ctr"/>
          <a:lstStyle/>
          <a:p>
            <a:pPr marL="0" indent="0">
              <a:lnSpc>
                <a:spcPct val="120000"/>
              </a:lnSpc>
              <a:buNone/>
            </a:pPr>
            <a:r>
              <a:rPr lang="en-US" sz="1350" dirty="0">
                <a:solidFill>
                  <a:srgbClr val="44506B"/>
                </a:solidFill>
                <a:latin typeface="Calibri" pitchFamily="34" charset="0"/>
                <a:ea typeface="Calibri" pitchFamily="34" charset="-122"/>
                <a:cs typeface="Calibri" pitchFamily="34" charset="-120"/>
              </a:rPr>
              <a:t>Desviaciones presupuestales recurrentes, difíciles de anticipar.</a:t>
            </a:r>
            <a:endParaRPr lang="en-US" sz="1350" dirty="0"/>
          </a:p>
        </p:txBody>
      </p:sp>
      <p:sp>
        <p:nvSpPr>
          <p:cNvPr id="7" name="Shape 5"/>
          <p:cNvSpPr/>
          <p:nvPr/>
        </p:nvSpPr>
        <p:spPr>
          <a:xfrm>
            <a:off x="4270248" y="2743200"/>
            <a:ext cx="3383280" cy="1737360"/>
          </a:xfrm>
          <a:prstGeom prst="roundRect">
            <a:avLst>
              <a:gd name="adj" fmla="val 4737"/>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8" name="Text 6"/>
          <p:cNvSpPr txBox="1"/>
          <p:nvPr/>
        </p:nvSpPr>
        <p:spPr>
          <a:xfrm>
            <a:off x="4544568" y="3017520"/>
            <a:ext cx="2834640" cy="365760"/>
          </a:xfrm>
          <a:prstGeom prst="rect">
            <a:avLst/>
          </a:prstGeom>
          <a:noFill/>
          <a:ln/>
        </p:spPr>
        <p:txBody>
          <a:bodyPr wrap="square" lIns="0" tIns="0" rIns="0" bIns="0" rtlCol="0" anchor="ctr"/>
          <a:lstStyle/>
          <a:p>
            <a:pPr marL="0" indent="0">
              <a:buNone/>
            </a:pPr>
            <a:r>
              <a:rPr lang="en-US" sz="1600" b="1" dirty="0">
                <a:solidFill>
                  <a:srgbClr val="E0640F"/>
                </a:solidFill>
                <a:latin typeface="Calibri" pitchFamily="34" charset="0"/>
                <a:ea typeface="Calibri" pitchFamily="34" charset="-122"/>
                <a:cs typeface="Calibri" pitchFamily="34" charset="-120"/>
              </a:rPr>
              <a:t>La sospecha</a:t>
            </a:r>
            <a:endParaRPr lang="en-US" sz="1600" dirty="0"/>
          </a:p>
        </p:txBody>
      </p:sp>
      <p:sp>
        <p:nvSpPr>
          <p:cNvPr id="9" name="Text 7"/>
          <p:cNvSpPr txBox="1"/>
          <p:nvPr/>
        </p:nvSpPr>
        <p:spPr>
          <a:xfrm>
            <a:off x="4544568" y="3429000"/>
            <a:ext cx="2834640" cy="914400"/>
          </a:xfrm>
          <a:prstGeom prst="rect">
            <a:avLst/>
          </a:prstGeom>
          <a:noFill/>
          <a:ln/>
        </p:spPr>
        <p:txBody>
          <a:bodyPr wrap="square" lIns="0" tIns="0" rIns="0" bIns="0" rtlCol="0" anchor="ctr"/>
          <a:lstStyle/>
          <a:p>
            <a:pPr marL="0" indent="0">
              <a:lnSpc>
                <a:spcPct val="120000"/>
              </a:lnSpc>
              <a:buNone/>
            </a:pPr>
            <a:r>
              <a:rPr lang="en-US" sz="1350" dirty="0">
                <a:solidFill>
                  <a:srgbClr val="44506B"/>
                </a:solidFill>
                <a:latin typeface="Calibri" pitchFamily="34" charset="0"/>
                <a:ea typeface="Calibri" pitchFamily="34" charset="-122"/>
                <a:cs typeface="Calibri" pitchFamily="34" charset="-120"/>
              </a:rPr>
              <a:t>La gerencia cree que hay relación con materias primas, sin un modelo que lo confirme.</a:t>
            </a:r>
            <a:endParaRPr lang="en-US" sz="1350" dirty="0"/>
          </a:p>
        </p:txBody>
      </p:sp>
      <p:sp>
        <p:nvSpPr>
          <p:cNvPr id="10" name="Shape 8"/>
          <p:cNvSpPr/>
          <p:nvPr/>
        </p:nvSpPr>
        <p:spPr>
          <a:xfrm>
            <a:off x="7900416" y="2743200"/>
            <a:ext cx="3383280" cy="1737360"/>
          </a:xfrm>
          <a:prstGeom prst="roundRect">
            <a:avLst>
              <a:gd name="adj" fmla="val 4737"/>
            </a:avLst>
          </a:prstGeom>
          <a:solidFill>
            <a:srgbClr val="1B2A4A"/>
          </a:solidFill>
          <a:ln w="12700">
            <a:solidFill>
              <a:srgbClr val="1B2A4A"/>
            </a:solidFill>
            <a:prstDash val="solid"/>
          </a:ln>
        </p:spPr>
        <p:txBody>
          <a:bodyPr/>
          <a:lstStyle/>
          <a:p>
            <a:endParaRPr lang="es-CO"/>
          </a:p>
        </p:txBody>
      </p:sp>
      <p:sp>
        <p:nvSpPr>
          <p:cNvPr id="11" name="Text 9"/>
          <p:cNvSpPr txBox="1"/>
          <p:nvPr/>
        </p:nvSpPr>
        <p:spPr>
          <a:xfrm>
            <a:off x="8174736" y="3017520"/>
            <a:ext cx="2834640" cy="365760"/>
          </a:xfrm>
          <a:prstGeom prst="rect">
            <a:avLst/>
          </a:prstGeom>
          <a:noFill/>
          <a:ln/>
        </p:spPr>
        <p:txBody>
          <a:bodyPr wrap="square" lIns="0" tIns="0" rIns="0" bIns="0" rtlCol="0" anchor="ctr"/>
          <a:lstStyle/>
          <a:p>
            <a:pPr marL="0" indent="0">
              <a:buNone/>
            </a:pPr>
            <a:r>
              <a:rPr lang="en-US" sz="1600" b="1" dirty="0">
                <a:solidFill>
                  <a:srgbClr val="E0640F"/>
                </a:solidFill>
                <a:latin typeface="Calibri" pitchFamily="34" charset="0"/>
                <a:ea typeface="Calibri" pitchFamily="34" charset="-122"/>
                <a:cs typeface="Calibri" pitchFamily="34" charset="-120"/>
              </a:rPr>
              <a:t>El encargo</a:t>
            </a:r>
            <a:endParaRPr lang="en-US" sz="1600" dirty="0"/>
          </a:p>
        </p:txBody>
      </p:sp>
      <p:sp>
        <p:nvSpPr>
          <p:cNvPr id="12" name="Text 10"/>
          <p:cNvSpPr txBox="1"/>
          <p:nvPr/>
        </p:nvSpPr>
        <p:spPr>
          <a:xfrm>
            <a:off x="8174736" y="3429000"/>
            <a:ext cx="2834640" cy="914400"/>
          </a:xfrm>
          <a:prstGeom prst="rect">
            <a:avLst/>
          </a:prstGeom>
          <a:noFill/>
          <a:ln/>
        </p:spPr>
        <p:txBody>
          <a:bodyPr wrap="square" lIns="0" tIns="0" rIns="0" bIns="0" rtlCol="0" anchor="ctr"/>
          <a:lstStyle/>
          <a:p>
            <a:pPr marL="0" indent="0">
              <a:lnSpc>
                <a:spcPct val="120000"/>
              </a:lnSpc>
              <a:buNone/>
            </a:pPr>
            <a:r>
              <a:rPr lang="en-US" sz="1350" dirty="0">
                <a:solidFill>
                  <a:srgbClr val="F7F5EF"/>
                </a:solidFill>
                <a:latin typeface="Calibri" pitchFamily="34" charset="0"/>
                <a:ea typeface="Calibri" pitchFamily="34" charset="-122"/>
                <a:cs typeface="Calibri" pitchFamily="34" charset="-120"/>
              </a:rPr>
              <a:t>Un mecanismo reproducible para anticipar costos antes de cada fase del proyecto.</a:t>
            </a:r>
            <a:endParaRPr lang="en-US" sz="1350" dirty="0"/>
          </a:p>
        </p:txBody>
      </p:sp>
      <p:sp>
        <p:nvSpPr>
          <p:cNvPr id="13" name="Text 11"/>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14" name="Text 12"/>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marL="0" indent="0">
              <a:lnSpc>
                <a:spcPct val="102000"/>
              </a:lnSpc>
              <a:buNone/>
            </a:pPr>
            <a:r>
              <a:rPr lang="en-US" sz="3000" b="1" dirty="0">
                <a:solidFill>
                  <a:srgbClr val="1B2A4A"/>
                </a:solidFill>
                <a:latin typeface="Cambria" pitchFamily="34" charset="0"/>
                <a:ea typeface="Cambria" pitchFamily="34" charset="-122"/>
                <a:cs typeface="Cambria" pitchFamily="34" charset="-120"/>
              </a:rPr>
              <a:t>Los datos no vinieron listos para usarse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2082800"/>
        </p:xfrm>
        <a:graphic>
          <a:graphicData uri="http://schemas.openxmlformats.org/drawingml/2006/table">
            <a:tbl>
              <a:tblPr/>
              <a:tblGrid>
                <a:gridCol w="310896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Archivo</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1B2A4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Particularidad</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A4A"/>
                          </a:solidFill>
                          <a:latin typeface="Calibri" pitchFamily="34" charset="0"/>
                          <a:ea typeface="Calibri" pitchFamily="34" charset="-122"/>
                          <a:cs typeface="Calibri" pitchFamily="34" charset="-120"/>
                        </a:rPr>
                        <a:t>X.csv</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FFFFF"/>
                    </a:solidFill>
                  </a:tcPr>
                </a:tc>
                <a:tc>
                  <a:txBody>
                    <a:bodyPr/>
                    <a:lstStyle/>
                    <a:p>
                      <a:pPr marL="0" indent="0">
                        <a:buNone/>
                      </a:pPr>
                      <a:r>
                        <a:rPr lang="en-US" sz="1400" dirty="0">
                          <a:solidFill>
                            <a:srgbClr val="44506B"/>
                          </a:solidFill>
                          <a:latin typeface="Calibri" pitchFamily="34" charset="0"/>
                          <a:ea typeface="Calibri" pitchFamily="34" charset="-122"/>
                          <a:cs typeface="Calibri" pitchFamily="34" charset="-120"/>
                        </a:rPr>
                        <a:t>Formato estándar, pero en orden descendente</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A4A"/>
                          </a:solidFill>
                          <a:latin typeface="Calibri" pitchFamily="34" charset="0"/>
                          <a:ea typeface="Calibri" pitchFamily="34" charset="-122"/>
                          <a:cs typeface="Calibri" pitchFamily="34" charset="-120"/>
                        </a:rPr>
                        <a:t>Y.csv</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6F7F9"/>
                    </a:solidFill>
                  </a:tcPr>
                </a:tc>
                <a:tc>
                  <a:txBody>
                    <a:bodyPr/>
                    <a:lstStyle/>
                    <a:p>
                      <a:pPr marL="0" indent="0">
                        <a:buNone/>
                      </a:pPr>
                      <a:r>
                        <a:rPr lang="en-US" sz="1400" dirty="0">
                          <a:solidFill>
                            <a:srgbClr val="44506B"/>
                          </a:solidFill>
                          <a:latin typeface="Calibri" pitchFamily="34" charset="0"/>
                          <a:ea typeface="Calibri" pitchFamily="34" charset="-122"/>
                          <a:cs typeface="Calibri" pitchFamily="34" charset="-120"/>
                        </a:rPr>
                        <a:t>BOM, separador ";", decimal con coma, fecha D/M/AAAA</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6F7F9"/>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A4A"/>
                          </a:solidFill>
                          <a:latin typeface="Calibri" pitchFamily="34" charset="0"/>
                          <a:ea typeface="Calibri" pitchFamily="34" charset="-122"/>
                          <a:cs typeface="Calibri" pitchFamily="34" charset="-120"/>
                        </a:rPr>
                        <a:t>Z.csv</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FFFFF"/>
                    </a:solidFill>
                  </a:tcPr>
                </a:tc>
                <a:tc>
                  <a:txBody>
                    <a:bodyPr/>
                    <a:lstStyle/>
                    <a:p>
                      <a:pPr marL="0" indent="0">
                        <a:buNone/>
                      </a:pPr>
                      <a:r>
                        <a:rPr lang="en-US" sz="1400" dirty="0">
                          <a:solidFill>
                            <a:srgbClr val="44506B"/>
                          </a:solidFill>
                          <a:latin typeface="Calibri" pitchFamily="34" charset="0"/>
                          <a:ea typeface="Calibri" pitchFamily="34" charset="-122"/>
                          <a:cs typeface="Calibri" pitchFamily="34" charset="-120"/>
                        </a:rPr>
                        <a:t>Columnas invertidas: precio antes que fecha</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A4A"/>
                          </a:solidFill>
                          <a:latin typeface="Calibri" pitchFamily="34" charset="0"/>
                          <a:ea typeface="Calibri" pitchFamily="34" charset="-122"/>
                          <a:cs typeface="Calibri" pitchFamily="34" charset="-120"/>
                        </a:rPr>
                        <a:t>historico_equipos.csv</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6F7F9"/>
                    </a:solidFill>
                  </a:tcPr>
                </a:tc>
                <a:tc>
                  <a:txBody>
                    <a:bodyPr/>
                    <a:lstStyle/>
                    <a:p>
                      <a:pPr marL="0" indent="0">
                        <a:buNone/>
                      </a:pPr>
                      <a:r>
                        <a:rPr lang="en-US" sz="1400" dirty="0">
                          <a:solidFill>
                            <a:srgbClr val="44506B"/>
                          </a:solidFill>
                          <a:latin typeface="Calibri" pitchFamily="34" charset="0"/>
                          <a:ea typeface="Calibri" pitchFamily="34" charset="-122"/>
                          <a:cs typeface="Calibri" pitchFamily="34" charset="-120"/>
                        </a:rPr>
                        <a:t>Ya combinado — sirve para verificar el propio trabajo</a:t>
                      </a:r>
                      <a:endParaRPr lang="en-US" sz="1400" dirty="0">
                        <a:latin typeface="Calibri" charset="0"/>
                        <a:ea typeface="Calibri" charset="0"/>
                        <a:cs typeface="Calibri" charset="0"/>
                      </a:endParaRPr>
                    </a:p>
                  </a:txBody>
                  <a:tcPr marL="152400" marR="152400" marT="101600" marB="101600" anchor="ctr">
                    <a:lnL w="9525" cap="flat" cmpd="sng" algn="ctr">
                      <a:solidFill>
                        <a:srgbClr val="E4E7ED"/>
                      </a:solidFill>
                      <a:prstDash val="solid"/>
                      <a:round/>
                      <a:headEnd type="none" w="med" len="med"/>
                      <a:tailEnd type="none" w="med" len="med"/>
                    </a:lnL>
                    <a:lnR w="9525" cap="flat" cmpd="sng" algn="ctr">
                      <a:solidFill>
                        <a:srgbClr val="E4E7ED"/>
                      </a:solidFill>
                      <a:prstDash val="solid"/>
                      <a:round/>
                      <a:headEnd type="none" w="med" len="med"/>
                      <a:tailEnd type="none" w="med" len="med"/>
                    </a:lnR>
                    <a:lnT w="9525" cap="flat" cmpd="sng" algn="ctr">
                      <a:solidFill>
                        <a:srgbClr val="E4E7ED"/>
                      </a:solidFill>
                      <a:prstDash val="solid"/>
                      <a:round/>
                      <a:headEnd type="none" w="med" len="med"/>
                      <a:tailEnd type="none" w="med" len="med"/>
                    </a:lnT>
                    <a:lnB w="9525" cap="flat" cmpd="sng" algn="ctr">
                      <a:solidFill>
                        <a:srgbClr val="E4E7ED"/>
                      </a:solidFill>
                      <a:prstDash val="solid"/>
                      <a:round/>
                      <a:headEnd type="none" w="med" len="med"/>
                      <a:tailEnd type="none" w="med" len="med"/>
                    </a:lnB>
                    <a:solidFill>
                      <a:srgbClr val="F6F7F9"/>
                    </a:solidFill>
                  </a:tcPr>
                </a:tc>
                <a:extLst>
                  <a:ext uri="{0D108BD9-81ED-4DB2-BD59-A6C34878D82A}">
                    <a16:rowId xmlns:a16="http://schemas.microsoft.com/office/drawing/2014/main" val="10004"/>
                  </a:ext>
                </a:extLst>
              </a:tr>
            </a:tbl>
          </a:graphicData>
        </a:graphic>
      </p:graphicFrame>
      <p:sp>
        <p:nvSpPr>
          <p:cNvPr id="3" name="Shape 1"/>
          <p:cNvSpPr/>
          <p:nvPr/>
        </p:nvSpPr>
        <p:spPr>
          <a:xfrm>
            <a:off x="640080" y="4160520"/>
            <a:ext cx="10881360" cy="731520"/>
          </a:xfrm>
          <a:prstGeom prst="roundRect">
            <a:avLst>
              <a:gd name="adj" fmla="val 11250"/>
            </a:avLst>
          </a:prstGeom>
          <a:solidFill>
            <a:srgbClr val="1B2A4A"/>
          </a:solidFill>
          <a:ln w="12700">
            <a:solidFill>
              <a:srgbClr val="1B2A4A"/>
            </a:solidFill>
            <a:prstDash val="solid"/>
          </a:ln>
        </p:spPr>
        <p:txBody>
          <a:bodyPr/>
          <a:lstStyle/>
          <a:p>
            <a:endParaRPr lang="es-CO"/>
          </a:p>
        </p:txBody>
      </p:sp>
      <p:sp>
        <p:nvSpPr>
          <p:cNvPr id="5" name="Text 2"/>
          <p:cNvSpPr txBox="1"/>
          <p:nvPr/>
        </p:nvSpPr>
        <p:spPr>
          <a:xfrm>
            <a:off x="960120" y="4160520"/>
            <a:ext cx="10241280" cy="731520"/>
          </a:xfrm>
          <a:prstGeom prst="rect">
            <a:avLst/>
          </a:prstGeom>
          <a:noFill/>
          <a:ln/>
        </p:spPr>
        <p:txBody>
          <a:bodyPr wrap="square" lIns="0" tIns="0" rIns="0" bIns="0" rtlCol="0" anchor="ctr"/>
          <a:lstStyle/>
          <a:p>
            <a:pPr marL="0" indent="0">
              <a:buNone/>
            </a:pPr>
            <a:r>
              <a:rPr lang="en-US" sz="1500" b="1" dirty="0">
                <a:solidFill>
                  <a:srgbClr val="E0640F"/>
                </a:solidFill>
                <a:latin typeface="Calibri" pitchFamily="34" charset="0"/>
                <a:ea typeface="Calibri" pitchFamily="34" charset="-122"/>
                <a:cs typeface="Calibri" pitchFamily="34" charset="-120"/>
              </a:rPr>
              <a:t>⚠  </a:t>
            </a:r>
            <a:r>
              <a:rPr lang="en-US" sz="1500" b="1" dirty="0">
                <a:solidFill>
                  <a:srgbClr val="F7F5EF"/>
                </a:solidFill>
                <a:latin typeface="Calibri" pitchFamily="34" charset="0"/>
                <a:ea typeface="Calibri" pitchFamily="34" charset="-122"/>
                <a:cs typeface="Calibri" pitchFamily="34" charset="-120"/>
              </a:rPr>
              <a:t>Sin diccionario de datos: no sabemos qué es realmente X, Y, Z, Equipo1 o Equipo2.</a:t>
            </a:r>
            <a:endParaRPr lang="en-US" sz="1500" dirty="0"/>
          </a:p>
        </p:txBody>
      </p:sp>
      <p:sp>
        <p:nvSpPr>
          <p:cNvPr id="6" name="Text 3"/>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7" name="Text 4"/>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marL="0" indent="0">
              <a:lnSpc>
                <a:spcPct val="102000"/>
              </a:lnSpc>
              <a:buNone/>
            </a:pPr>
            <a:r>
              <a:rPr lang="en-US" sz="2800" b="1" dirty="0">
                <a:solidFill>
                  <a:srgbClr val="1B2A4A"/>
                </a:solidFill>
                <a:latin typeface="Cambria" pitchFamily="34" charset="0"/>
                <a:ea typeface="Cambria" pitchFamily="34" charset="-122"/>
                <a:cs typeface="Cambria" pitchFamily="34" charset="-120"/>
              </a:rPr>
              <a:t>Fase 1 — Dejar los datos listos para analizar</a:t>
            </a:r>
            <a:endParaRPr lang="en-US" sz="2800" dirty="0"/>
          </a:p>
        </p:txBody>
      </p:sp>
      <p:sp>
        <p:nvSpPr>
          <p:cNvPr id="3" name="Shape 1"/>
          <p:cNvSpPr/>
          <p:nvPr/>
        </p:nvSpPr>
        <p:spPr>
          <a:xfrm>
            <a:off x="640080" y="1600200"/>
            <a:ext cx="3383280" cy="2194560"/>
          </a:xfrm>
          <a:prstGeom prst="roundRect">
            <a:avLst>
              <a:gd name="adj" fmla="val 3750"/>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4" name="Text 2"/>
          <p:cNvSpPr txBox="1"/>
          <p:nvPr/>
        </p:nvSpPr>
        <p:spPr>
          <a:xfrm>
            <a:off x="914400" y="1856232"/>
            <a:ext cx="548640" cy="457200"/>
          </a:xfrm>
          <a:prstGeom prst="rect">
            <a:avLst/>
          </a:prstGeom>
          <a:noFill/>
          <a:ln/>
        </p:spPr>
        <p:txBody>
          <a:bodyPr wrap="square" lIns="0" tIns="0" rIns="0" bIns="0" rtlCol="0" anchor="ctr"/>
          <a:lstStyle/>
          <a:p>
            <a:pPr marL="0" indent="0">
              <a:buNone/>
            </a:pPr>
            <a:r>
              <a:rPr lang="en-US" sz="2200" dirty="0">
                <a:solidFill>
                  <a:srgbClr val="2A5CAA"/>
                </a:solidFill>
                <a:latin typeface="Calibri" pitchFamily="34" charset="0"/>
                <a:ea typeface="Calibri" pitchFamily="34" charset="-122"/>
                <a:cs typeface="Calibri" pitchFamily="34" charset="-120"/>
              </a:rPr>
              <a:t>⚙</a:t>
            </a:r>
            <a:endParaRPr lang="en-US" sz="2200" dirty="0"/>
          </a:p>
        </p:txBody>
      </p:sp>
      <p:sp>
        <p:nvSpPr>
          <p:cNvPr id="5" name="Text 3"/>
          <p:cNvSpPr txBox="1"/>
          <p:nvPr/>
        </p:nvSpPr>
        <p:spPr>
          <a:xfrm>
            <a:off x="914400" y="2377440"/>
            <a:ext cx="2834640" cy="365760"/>
          </a:xfrm>
          <a:prstGeom prst="rect">
            <a:avLst/>
          </a:prstGeom>
          <a:noFill/>
          <a:ln/>
        </p:spPr>
        <p:txBody>
          <a:bodyPr wrap="square" lIns="0" tIns="0" rIns="0" bIns="0" rtlCol="0" anchor="ctr"/>
          <a:lstStyle/>
          <a:p>
            <a:pPr marL="0" indent="0">
              <a:buNone/>
            </a:pPr>
            <a:r>
              <a:rPr lang="en-US" sz="1550" b="1" dirty="0">
                <a:solidFill>
                  <a:srgbClr val="1B2A4A"/>
                </a:solidFill>
                <a:latin typeface="Calibri" pitchFamily="34" charset="0"/>
                <a:ea typeface="Calibri" pitchFamily="34" charset="-122"/>
                <a:cs typeface="Calibri" pitchFamily="34" charset="-120"/>
              </a:rPr>
              <a:t>Normalizar</a:t>
            </a:r>
            <a:endParaRPr lang="en-US" sz="1550" dirty="0"/>
          </a:p>
        </p:txBody>
      </p:sp>
      <p:sp>
        <p:nvSpPr>
          <p:cNvPr id="6" name="Text 4"/>
          <p:cNvSpPr txBox="1"/>
          <p:nvPr/>
        </p:nvSpPr>
        <p:spPr>
          <a:xfrm>
            <a:off x="914400" y="2770632"/>
            <a:ext cx="2834640" cy="914400"/>
          </a:xfrm>
          <a:prstGeom prst="rect">
            <a:avLst/>
          </a:prstGeom>
          <a:noFill/>
          <a:ln/>
        </p:spPr>
        <p:txBody>
          <a:bodyPr wrap="square" lIns="0" tIns="0" rIns="0" bIns="0" rtlCol="0" anchor="ctr"/>
          <a:lstStyle/>
          <a:p>
            <a:pPr marL="0" indent="0">
              <a:lnSpc>
                <a:spcPct val="120000"/>
              </a:lnSpc>
              <a:buNone/>
            </a:pPr>
            <a:r>
              <a:rPr lang="en-US" sz="1250" dirty="0">
                <a:solidFill>
                  <a:srgbClr val="44506B"/>
                </a:solidFill>
                <a:latin typeface="Calibri" pitchFamily="34" charset="0"/>
                <a:ea typeface="Calibri" pitchFamily="34" charset="-122"/>
                <a:cs typeface="Calibri" pitchFamily="34" charset="-120"/>
              </a:rPr>
              <a:t>Mismo formato de fecha, decimal y nombres de columna en las 4 fuentes.</a:t>
            </a:r>
            <a:endParaRPr lang="en-US" sz="1250" dirty="0"/>
          </a:p>
        </p:txBody>
      </p:sp>
      <p:sp>
        <p:nvSpPr>
          <p:cNvPr id="7" name="Shape 5"/>
          <p:cNvSpPr/>
          <p:nvPr/>
        </p:nvSpPr>
        <p:spPr>
          <a:xfrm>
            <a:off x="4270248" y="1600200"/>
            <a:ext cx="3383280" cy="2194560"/>
          </a:xfrm>
          <a:prstGeom prst="roundRect">
            <a:avLst>
              <a:gd name="adj" fmla="val 3750"/>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8" name="Text 6"/>
          <p:cNvSpPr txBox="1"/>
          <p:nvPr/>
        </p:nvSpPr>
        <p:spPr>
          <a:xfrm>
            <a:off x="4544568" y="1856232"/>
            <a:ext cx="548640" cy="457200"/>
          </a:xfrm>
          <a:prstGeom prst="rect">
            <a:avLst/>
          </a:prstGeom>
          <a:noFill/>
          <a:ln/>
        </p:spPr>
        <p:txBody>
          <a:bodyPr wrap="square" lIns="0" tIns="0" rIns="0" bIns="0" rtlCol="0" anchor="ctr"/>
          <a:lstStyle/>
          <a:p>
            <a:pPr marL="0" indent="0">
              <a:buNone/>
            </a:pPr>
            <a:r>
              <a:rPr lang="en-US" sz="2200" dirty="0">
                <a:solidFill>
                  <a:srgbClr val="2A5CAA"/>
                </a:solidFill>
                <a:latin typeface="Calibri" pitchFamily="34" charset="0"/>
                <a:ea typeface="Calibri" pitchFamily="34" charset="-122"/>
                <a:cs typeface="Calibri" pitchFamily="34" charset="-120"/>
              </a:rPr>
              <a:t>✓</a:t>
            </a:r>
            <a:endParaRPr lang="en-US" sz="2200" dirty="0"/>
          </a:p>
        </p:txBody>
      </p:sp>
      <p:sp>
        <p:nvSpPr>
          <p:cNvPr id="9" name="Text 7"/>
          <p:cNvSpPr txBox="1"/>
          <p:nvPr/>
        </p:nvSpPr>
        <p:spPr>
          <a:xfrm>
            <a:off x="4544568" y="2377440"/>
            <a:ext cx="2834640" cy="365760"/>
          </a:xfrm>
          <a:prstGeom prst="rect">
            <a:avLst/>
          </a:prstGeom>
          <a:noFill/>
          <a:ln/>
        </p:spPr>
        <p:txBody>
          <a:bodyPr wrap="square" lIns="0" tIns="0" rIns="0" bIns="0" rtlCol="0" anchor="ctr"/>
          <a:lstStyle/>
          <a:p>
            <a:pPr marL="0" indent="0">
              <a:buNone/>
            </a:pPr>
            <a:r>
              <a:rPr lang="en-US" sz="1550" b="1" dirty="0">
                <a:solidFill>
                  <a:srgbClr val="1B2A4A"/>
                </a:solidFill>
                <a:latin typeface="Calibri" pitchFamily="34" charset="0"/>
                <a:ea typeface="Calibri" pitchFamily="34" charset="-122"/>
                <a:cs typeface="Calibri" pitchFamily="34" charset="-120"/>
              </a:rPr>
              <a:t>Validar calidad</a:t>
            </a:r>
            <a:endParaRPr lang="en-US" sz="1550" dirty="0"/>
          </a:p>
        </p:txBody>
      </p:sp>
      <p:sp>
        <p:nvSpPr>
          <p:cNvPr id="10" name="Text 8"/>
          <p:cNvSpPr txBox="1"/>
          <p:nvPr/>
        </p:nvSpPr>
        <p:spPr>
          <a:xfrm>
            <a:off x="4544568" y="2770632"/>
            <a:ext cx="2834640" cy="914400"/>
          </a:xfrm>
          <a:prstGeom prst="rect">
            <a:avLst/>
          </a:prstGeom>
          <a:noFill/>
          <a:ln/>
        </p:spPr>
        <p:txBody>
          <a:bodyPr wrap="square" lIns="0" tIns="0" rIns="0" bIns="0" rtlCol="0" anchor="ctr"/>
          <a:lstStyle/>
          <a:p>
            <a:pPr marL="0" indent="0">
              <a:lnSpc>
                <a:spcPct val="120000"/>
              </a:lnSpc>
              <a:buNone/>
            </a:pPr>
            <a:r>
              <a:rPr lang="en-US" sz="1250" dirty="0">
                <a:solidFill>
                  <a:srgbClr val="44506B"/>
                </a:solidFill>
                <a:latin typeface="Calibri" pitchFamily="34" charset="0"/>
                <a:ea typeface="Calibri" pitchFamily="34" charset="-122"/>
                <a:cs typeface="Calibri" pitchFamily="34" charset="-120"/>
              </a:rPr>
              <a:t>Duplicados, nulos y saltos de precio inusuales, documentados sin borrar nada sin evidencia.</a:t>
            </a:r>
            <a:endParaRPr lang="en-US" sz="1250" dirty="0"/>
          </a:p>
        </p:txBody>
      </p:sp>
      <p:sp>
        <p:nvSpPr>
          <p:cNvPr id="11" name="Shape 9"/>
          <p:cNvSpPr/>
          <p:nvPr/>
        </p:nvSpPr>
        <p:spPr>
          <a:xfrm>
            <a:off x="7900416" y="1600200"/>
            <a:ext cx="3383280" cy="2194560"/>
          </a:xfrm>
          <a:prstGeom prst="roundRect">
            <a:avLst>
              <a:gd name="adj" fmla="val 3750"/>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12" name="Text 10"/>
          <p:cNvSpPr txBox="1"/>
          <p:nvPr/>
        </p:nvSpPr>
        <p:spPr>
          <a:xfrm>
            <a:off x="8174736" y="1856232"/>
            <a:ext cx="548640" cy="457200"/>
          </a:xfrm>
          <a:prstGeom prst="rect">
            <a:avLst/>
          </a:prstGeom>
          <a:noFill/>
          <a:ln/>
        </p:spPr>
        <p:txBody>
          <a:bodyPr wrap="square" lIns="0" tIns="0" rIns="0" bIns="0" rtlCol="0" anchor="ctr"/>
          <a:lstStyle/>
          <a:p>
            <a:pPr marL="0" indent="0">
              <a:buNone/>
            </a:pPr>
            <a:r>
              <a:rPr lang="en-US" sz="2200" dirty="0">
                <a:solidFill>
                  <a:srgbClr val="2A5CAA"/>
                </a:solidFill>
                <a:latin typeface="Calibri" pitchFamily="34" charset="0"/>
                <a:ea typeface="Calibri" pitchFamily="34" charset="-122"/>
                <a:cs typeface="Calibri" pitchFamily="34" charset="-120"/>
              </a:rPr>
              <a:t>↔</a:t>
            </a:r>
            <a:endParaRPr lang="en-US" sz="2200" dirty="0"/>
          </a:p>
        </p:txBody>
      </p:sp>
      <p:sp>
        <p:nvSpPr>
          <p:cNvPr id="13" name="Text 11"/>
          <p:cNvSpPr txBox="1"/>
          <p:nvPr/>
        </p:nvSpPr>
        <p:spPr>
          <a:xfrm>
            <a:off x="8174736" y="2377440"/>
            <a:ext cx="2834640" cy="365760"/>
          </a:xfrm>
          <a:prstGeom prst="rect">
            <a:avLst/>
          </a:prstGeom>
          <a:noFill/>
          <a:ln/>
        </p:spPr>
        <p:txBody>
          <a:bodyPr wrap="square" lIns="0" tIns="0" rIns="0" bIns="0" rtlCol="0" anchor="ctr"/>
          <a:lstStyle/>
          <a:p>
            <a:pPr marL="0" indent="0">
              <a:buNone/>
            </a:pPr>
            <a:r>
              <a:rPr lang="en-US" sz="1550" b="1" dirty="0">
                <a:solidFill>
                  <a:srgbClr val="1B2A4A"/>
                </a:solidFill>
                <a:latin typeface="Calibri" pitchFamily="34" charset="0"/>
                <a:ea typeface="Calibri" pitchFamily="34" charset="-122"/>
                <a:cs typeface="Calibri" pitchFamily="34" charset="-120"/>
              </a:rPr>
              <a:t>Alinear en el tiempo</a:t>
            </a:r>
            <a:endParaRPr lang="en-US" sz="1550" dirty="0"/>
          </a:p>
        </p:txBody>
      </p:sp>
      <p:sp>
        <p:nvSpPr>
          <p:cNvPr id="14" name="Text 12"/>
          <p:cNvSpPr txBox="1"/>
          <p:nvPr/>
        </p:nvSpPr>
        <p:spPr>
          <a:xfrm>
            <a:off x="8174736" y="2770632"/>
            <a:ext cx="2834640" cy="914400"/>
          </a:xfrm>
          <a:prstGeom prst="rect">
            <a:avLst/>
          </a:prstGeom>
          <a:noFill/>
          <a:ln/>
        </p:spPr>
        <p:txBody>
          <a:bodyPr wrap="square" lIns="0" tIns="0" rIns="0" bIns="0" rtlCol="0" anchor="ctr"/>
          <a:lstStyle/>
          <a:p>
            <a:pPr marL="0" indent="0">
              <a:lnSpc>
                <a:spcPct val="120000"/>
              </a:lnSpc>
              <a:buNone/>
            </a:pPr>
            <a:r>
              <a:rPr lang="en-US" sz="1250" dirty="0">
                <a:solidFill>
                  <a:srgbClr val="44506B"/>
                </a:solidFill>
                <a:latin typeface="Calibri" pitchFamily="34" charset="0"/>
                <a:ea typeface="Calibri" pitchFamily="34" charset="-122"/>
                <a:cs typeface="Calibri" pitchFamily="34" charset="-120"/>
              </a:rPr>
              <a:t>Merge por fecha que conserva toda la historia disponible de cada serie.</a:t>
            </a:r>
            <a:endParaRPr lang="en-US" sz="1250" dirty="0"/>
          </a:p>
        </p:txBody>
      </p:sp>
      <p:sp>
        <p:nvSpPr>
          <p:cNvPr id="15" name="Text 13"/>
          <p:cNvSpPr txBox="1"/>
          <p:nvPr/>
        </p:nvSpPr>
        <p:spPr>
          <a:xfrm>
            <a:off x="640080" y="4251960"/>
            <a:ext cx="2743200" cy="822960"/>
          </a:xfrm>
          <a:prstGeom prst="rect">
            <a:avLst/>
          </a:prstGeom>
          <a:noFill/>
          <a:ln/>
        </p:spPr>
        <p:txBody>
          <a:bodyPr wrap="square" lIns="0" tIns="0" rIns="0" bIns="0" rtlCol="0" anchor="ctr"/>
          <a:lstStyle/>
          <a:p>
            <a:pPr marL="0" indent="0">
              <a:buNone/>
            </a:pPr>
            <a:r>
              <a:rPr lang="en-US" sz="4400" b="1" dirty="0">
                <a:solidFill>
                  <a:srgbClr val="E0640F"/>
                </a:solidFill>
                <a:latin typeface="Cambria" pitchFamily="34" charset="0"/>
                <a:ea typeface="Cambria" pitchFamily="34" charset="-122"/>
                <a:cs typeface="Cambria" pitchFamily="34" charset="-120"/>
              </a:rPr>
              <a:t>3.530 </a:t>
            </a:r>
            <a:endParaRPr lang="en-US" sz="4400" dirty="0"/>
          </a:p>
        </p:txBody>
      </p:sp>
      <p:sp>
        <p:nvSpPr>
          <p:cNvPr id="16" name="Text 14"/>
          <p:cNvSpPr txBox="1"/>
          <p:nvPr/>
        </p:nvSpPr>
        <p:spPr>
          <a:xfrm>
            <a:off x="3246120" y="4297680"/>
            <a:ext cx="7498080" cy="822960"/>
          </a:xfrm>
          <a:prstGeom prst="rect">
            <a:avLst/>
          </a:prstGeom>
          <a:noFill/>
          <a:ln/>
        </p:spPr>
        <p:txBody>
          <a:bodyPr wrap="square" lIns="0" tIns="0" rIns="0" bIns="0" rtlCol="0" anchor="ctr"/>
          <a:lstStyle/>
          <a:p>
            <a:pPr marL="0" indent="0">
              <a:lnSpc>
                <a:spcPct val="120000"/>
              </a:lnSpc>
              <a:buNone/>
            </a:pPr>
            <a:r>
              <a:rPr lang="en-US" sz="1600" dirty="0">
                <a:solidFill>
                  <a:srgbClr val="44506B"/>
                </a:solidFill>
                <a:latin typeface="Calibri" pitchFamily="34" charset="0"/>
                <a:ea typeface="Calibri" pitchFamily="34" charset="-122"/>
                <a:cs typeface="Calibri" pitchFamily="34" charset="-120"/>
              </a:rPr>
              <a:t>días hábiles limpios, 2010–2023, verificados contra la fuente original</a:t>
            </a:r>
            <a:endParaRPr lang="en-US" sz="1600" dirty="0"/>
          </a:p>
        </p:txBody>
      </p:sp>
      <p:sp>
        <p:nvSpPr>
          <p:cNvPr id="17" name="Text 15"/>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18" name="Text 16"/>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777240"/>
            <a:ext cx="10058400" cy="320040"/>
          </a:xfrm>
          <a:prstGeom prst="rect">
            <a:avLst/>
          </a:prstGeom>
          <a:noFill/>
          <a:ln/>
        </p:spPr>
        <p:txBody>
          <a:bodyPr wrap="square" lIns="0" tIns="0" rIns="0" bIns="0" rtlCol="0" anchor="ctr"/>
          <a:lstStyle/>
          <a:p>
            <a:pPr marL="0" indent="0">
              <a:buNone/>
            </a:pPr>
            <a:r>
              <a:rPr lang="en-US" sz="1300" b="1" kern="0" spc="100" dirty="0">
                <a:solidFill>
                  <a:srgbClr val="E0640F"/>
                </a:solidFill>
                <a:latin typeface="Calibri" pitchFamily="34" charset="0"/>
                <a:ea typeface="Calibri" pitchFamily="34" charset="-122"/>
                <a:cs typeface="Calibri" pitchFamily="34" charset="-120"/>
              </a:rPr>
              <a:t>LA PREGUNTA QUE DECIDE TODO EL ANÁLISIS</a:t>
            </a:r>
            <a:endParaRPr lang="en-US" sz="1300" dirty="0"/>
          </a:p>
        </p:txBody>
      </p:sp>
      <p:sp>
        <p:nvSpPr>
          <p:cNvPr id="3" name="Text 1"/>
          <p:cNvSpPr txBox="1"/>
          <p:nvPr/>
        </p:nvSpPr>
        <p:spPr>
          <a:xfrm>
            <a:off x="640080" y="1234440"/>
            <a:ext cx="10058400" cy="1188720"/>
          </a:xfrm>
          <a:prstGeom prst="rect">
            <a:avLst/>
          </a:prstGeom>
          <a:noFill/>
          <a:ln/>
        </p:spPr>
        <p:txBody>
          <a:bodyPr wrap="square" lIns="0" tIns="0" rIns="0" bIns="0" rtlCol="0" anchor="ctr"/>
          <a:lstStyle/>
          <a:p>
            <a:pPr marL="0" indent="0">
              <a:lnSpc>
                <a:spcPct val="102000"/>
              </a:lnSpc>
              <a:buNone/>
            </a:pPr>
            <a:r>
              <a:rPr lang="en-US" sz="3000" b="1" dirty="0">
                <a:solidFill>
                  <a:srgbClr val="F7F5EF"/>
                </a:solidFill>
                <a:latin typeface="Cambria" pitchFamily="34" charset="0"/>
                <a:ea typeface="Cambria" pitchFamily="34" charset="-122"/>
                <a:cs typeface="Cambria" pitchFamily="34" charset="-120"/>
              </a:rPr>
              <a:t>¿Correlación real, o solo dos</a:t>
            </a:r>
            <a:endParaRPr lang="en-US" sz="3000" dirty="0"/>
          </a:p>
          <a:p>
            <a:pPr marL="0" indent="0">
              <a:lnSpc>
                <a:spcPct val="102000"/>
              </a:lnSpc>
              <a:buNone/>
            </a:pPr>
            <a:r>
              <a:rPr lang="en-US" sz="3000" b="1" dirty="0">
                <a:solidFill>
                  <a:srgbClr val="F7F5EF"/>
                </a:solidFill>
                <a:latin typeface="Cambria" pitchFamily="34" charset="0"/>
                <a:ea typeface="Cambria" pitchFamily="34" charset="-122"/>
                <a:cs typeface="Cambria" pitchFamily="34" charset="-120"/>
              </a:rPr>
              <a:t>series que suben juntas?</a:t>
            </a:r>
            <a:endParaRPr lang="en-US" sz="3000" dirty="0"/>
          </a:p>
        </p:txBody>
      </p:sp>
      <p:sp>
        <p:nvSpPr>
          <p:cNvPr id="4" name="Text 2"/>
          <p:cNvSpPr txBox="1"/>
          <p:nvPr/>
        </p:nvSpPr>
        <p:spPr>
          <a:xfrm>
            <a:off x="640080" y="2697480"/>
            <a:ext cx="2743200" cy="777240"/>
          </a:xfrm>
          <a:prstGeom prst="rect">
            <a:avLst/>
          </a:prstGeom>
          <a:noFill/>
          <a:ln/>
        </p:spPr>
        <p:txBody>
          <a:bodyPr wrap="square" lIns="0" tIns="0" rIns="0" bIns="0" rtlCol="0" anchor="ctr"/>
          <a:lstStyle/>
          <a:p>
            <a:pPr marL="0" indent="0">
              <a:buNone/>
            </a:pPr>
            <a:r>
              <a:rPr lang="en-US" sz="4400" b="1" dirty="0">
                <a:solidFill>
                  <a:srgbClr val="E0640F"/>
                </a:solidFill>
                <a:latin typeface="Cambria" pitchFamily="34" charset="0"/>
                <a:ea typeface="Cambria" pitchFamily="34" charset="-122"/>
                <a:cs typeface="Cambria" pitchFamily="34" charset="-120"/>
              </a:rPr>
              <a:t>0.997 </a:t>
            </a:r>
            <a:endParaRPr lang="en-US" sz="4400" dirty="0"/>
          </a:p>
        </p:txBody>
      </p:sp>
      <p:sp>
        <p:nvSpPr>
          <p:cNvPr id="5" name="Text 3"/>
          <p:cNvSpPr txBox="1"/>
          <p:nvPr/>
        </p:nvSpPr>
        <p:spPr>
          <a:xfrm>
            <a:off x="640080" y="3429000"/>
            <a:ext cx="4937760" cy="594360"/>
          </a:xfrm>
          <a:prstGeom prst="rect">
            <a:avLst/>
          </a:prstGeom>
          <a:noFill/>
          <a:ln/>
        </p:spPr>
        <p:txBody>
          <a:bodyPr wrap="square" lIns="0" tIns="0" rIns="0" bIns="0" rtlCol="0" anchor="ctr"/>
          <a:lstStyle/>
          <a:p>
            <a:pPr marL="0" indent="0">
              <a:lnSpc>
                <a:spcPct val="120000"/>
              </a:lnSpc>
              <a:buNone/>
            </a:pPr>
            <a:r>
              <a:rPr lang="en-US" sz="1500" dirty="0">
                <a:solidFill>
                  <a:srgbClr val="AEB9CC"/>
                </a:solidFill>
                <a:latin typeface="Calibri" pitchFamily="34" charset="0"/>
                <a:ea typeface="Calibri" pitchFamily="34" charset="-122"/>
                <a:cs typeface="Calibri" pitchFamily="34" charset="-120"/>
              </a:rPr>
              <a:t>de correlación entre un insumo y un equipo, en precios crudos</a:t>
            </a:r>
            <a:endParaRPr lang="en-US" sz="1500" dirty="0"/>
          </a:p>
        </p:txBody>
      </p:sp>
      <p:sp>
        <p:nvSpPr>
          <p:cNvPr id="6" name="Text 4"/>
          <p:cNvSpPr txBox="1"/>
          <p:nvPr/>
        </p:nvSpPr>
        <p:spPr>
          <a:xfrm>
            <a:off x="640080" y="4160520"/>
            <a:ext cx="4937760" cy="1188720"/>
          </a:xfrm>
          <a:prstGeom prst="rect">
            <a:avLst/>
          </a:prstGeom>
          <a:noFill/>
          <a:ln/>
        </p:spPr>
        <p:txBody>
          <a:bodyPr wrap="square" lIns="0" tIns="0" rIns="0" bIns="0" rtlCol="0" anchor="ctr"/>
          <a:lstStyle/>
          <a:p>
            <a:pPr marL="0" indent="0">
              <a:lnSpc>
                <a:spcPct val="125000"/>
              </a:lnSpc>
              <a:buNone/>
            </a:pPr>
            <a:r>
              <a:rPr lang="en-US" sz="1300" dirty="0">
                <a:solidFill>
                  <a:srgbClr val="AEB9CC"/>
                </a:solidFill>
                <a:latin typeface="Calibri" pitchFamily="34" charset="0"/>
                <a:ea typeface="Calibri" pitchFamily="34" charset="-122"/>
                <a:cs typeface="Calibri" pitchFamily="34" charset="-120"/>
              </a:rPr>
              <a:t>Series con tendencia común salen correlacionadas aunque no tengan ninguna relación real. Antes de concluir nada, hay que descartar que sea solo eso — eso es exactamente lo que resuelve la Fase 2.</a:t>
            </a:r>
            <a:endParaRPr lang="en-US" sz="1300" dirty="0"/>
          </a:p>
        </p:txBody>
      </p:sp>
      <p:sp>
        <p:nvSpPr>
          <p:cNvPr id="7" name="Shape 5"/>
          <p:cNvSpPr/>
          <p:nvPr/>
        </p:nvSpPr>
        <p:spPr>
          <a:xfrm>
            <a:off x="5943600" y="2651760"/>
            <a:ext cx="5623560" cy="3337560"/>
          </a:xfrm>
          <a:prstGeom prst="roundRect">
            <a:avLst>
              <a:gd name="adj" fmla="val 2466"/>
            </a:avLst>
          </a:prstGeom>
          <a:solidFill>
            <a:srgbClr val="FFFFFF"/>
          </a:solidFill>
          <a:ln w="12700">
            <a:solidFill>
              <a:srgbClr val="FFFFFF"/>
            </a:solidFill>
            <a:prstDash val="solid"/>
          </a:ln>
          <a:effectLst>
            <a:outerShdw blurRad="76200" dist="25400" dir="5400000" algn="bl" rotWithShape="0">
              <a:srgbClr val="1B2A4A">
                <a:alpha val="8000"/>
              </a:srgbClr>
            </a:outerShdw>
          </a:effectLst>
        </p:spPr>
        <p:txBody>
          <a:bodyPr/>
          <a:lstStyle/>
          <a:p>
            <a:endParaRPr lang="es-CO"/>
          </a:p>
        </p:txBody>
      </p:sp>
      <p:sp>
        <p:nvSpPr>
          <p:cNvPr id="8" name="Text 6"/>
          <p:cNvSpPr txBox="1"/>
          <p:nvPr/>
        </p:nvSpPr>
        <p:spPr>
          <a:xfrm>
            <a:off x="6199632" y="2816352"/>
            <a:ext cx="5120640" cy="274320"/>
          </a:xfrm>
          <a:prstGeom prst="rect">
            <a:avLst/>
          </a:prstGeom>
          <a:noFill/>
          <a:ln/>
        </p:spPr>
        <p:txBody>
          <a:bodyPr wrap="square" lIns="0" tIns="0" rIns="0" bIns="0" rtlCol="0" anchor="ctr"/>
          <a:lstStyle/>
          <a:p>
            <a:pPr marL="0" indent="0">
              <a:buNone/>
            </a:pPr>
            <a:r>
              <a:rPr lang="en-US" sz="1100" b="1" kern="0" spc="100" dirty="0">
                <a:solidFill>
                  <a:srgbClr val="6B7690"/>
                </a:solidFill>
                <a:latin typeface="Calibri" pitchFamily="34" charset="0"/>
                <a:ea typeface="Calibri" pitchFamily="34" charset="-122"/>
                <a:cs typeface="Calibri" pitchFamily="34" charset="-120"/>
              </a:rPr>
              <a:t>NIVELES (PRECIO) VS. RETORNOS</a:t>
            </a:r>
            <a:endParaRPr lang="en-US" sz="1100" dirty="0"/>
          </a:p>
        </p:txBody>
      </p:sp>
      <p:pic>
        <p:nvPicPr>
          <p:cNvPr id="9" name="Image 0" descr="02_heatmap_niveles_vs_retornos.png"/>
          <p:cNvPicPr>
            <a:picLocks noChangeAspect="1"/>
          </p:cNvPicPr>
          <p:nvPr/>
        </p:nvPicPr>
        <p:blipFill>
          <a:blip r:embed="rId3"/>
          <a:stretch>
            <a:fillRect/>
          </a:stretch>
        </p:blipFill>
        <p:spPr>
          <a:xfrm>
            <a:off x="6199632" y="3127248"/>
            <a:ext cx="5120640" cy="2281417"/>
          </a:xfrm>
          <a:prstGeom prst="rect">
            <a:avLst/>
          </a:prstGeom>
        </p:spPr>
      </p:pic>
      <p:sp>
        <p:nvSpPr>
          <p:cNvPr id="10" name="Text 7"/>
          <p:cNvSpPr txBox="1"/>
          <p:nvPr/>
        </p:nvSpPr>
        <p:spPr>
          <a:xfrm>
            <a:off x="6199632" y="5504688"/>
            <a:ext cx="5120640" cy="457200"/>
          </a:xfrm>
          <a:prstGeom prst="rect">
            <a:avLst/>
          </a:prstGeom>
          <a:noFill/>
          <a:ln/>
        </p:spPr>
        <p:txBody>
          <a:bodyPr wrap="square" lIns="0" tIns="0" rIns="0" bIns="0" rtlCol="0" anchor="ctr"/>
          <a:lstStyle/>
          <a:p>
            <a:pPr marL="0" indent="0">
              <a:lnSpc>
                <a:spcPct val="115000"/>
              </a:lnSpc>
              <a:buNone/>
            </a:pPr>
            <a:r>
              <a:rPr lang="en-US" sz="1050" dirty="0">
                <a:solidFill>
                  <a:srgbClr val="6B7690"/>
                </a:solidFill>
                <a:latin typeface="Calibri" pitchFamily="34" charset="0"/>
                <a:ea typeface="Calibri" pitchFamily="34" charset="-122"/>
                <a:cs typeface="Calibri" pitchFamily="34" charset="-120"/>
              </a:rPr>
              <a:t>En niveles, casi todo correlaciona sobre 0.84 — tendencia compartida. En retornos, solo Y↔Equipo1 (0.38) y Z↔Equipo2 (0.40) se despegan del resto (≈0.02–0.18).</a:t>
            </a:r>
            <a:endParaRPr lang="en-US" sz="1050" dirty="0"/>
          </a:p>
        </p:txBody>
      </p:sp>
      <p:sp>
        <p:nvSpPr>
          <p:cNvPr id="11" name="Text 8"/>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AEB9CC"/>
                </a:solidFill>
                <a:latin typeface="Calibri" pitchFamily="34" charset="0"/>
                <a:ea typeface="Calibri" pitchFamily="34" charset="-122"/>
                <a:cs typeface="Calibri" pitchFamily="34" charset="-120"/>
              </a:rPr>
              <a:t>Gestión de costos — Prueba técnica</a:t>
            </a:r>
            <a:endParaRPr lang="en-US" sz="1100" dirty="0"/>
          </a:p>
        </p:txBody>
      </p:sp>
      <p:sp>
        <p:nvSpPr>
          <p:cNvPr id="12" name="Text 9"/>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AEB9CC"/>
                </a:solidFill>
                <a:latin typeface="Calibri" pitchFamily="34" charset="0"/>
                <a:ea typeface="Calibri" pitchFamily="34" charset="-122"/>
                <a:cs typeface="Calibri"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789920" cy="1188720"/>
          </a:xfrm>
          <a:prstGeom prst="rect">
            <a:avLst/>
          </a:prstGeom>
          <a:noFill/>
          <a:ln/>
        </p:spPr>
        <p:txBody>
          <a:bodyPr wrap="square" lIns="0" tIns="0" rIns="0" bIns="0" rtlCol="0" anchor="ctr"/>
          <a:lstStyle/>
          <a:p>
            <a:pPr marL="0" indent="0">
              <a:lnSpc>
                <a:spcPct val="102000"/>
              </a:lnSpc>
              <a:buNone/>
            </a:pPr>
            <a:r>
              <a:rPr lang="en-US" sz="3000" b="1" dirty="0">
                <a:solidFill>
                  <a:srgbClr val="1B2A4A"/>
                </a:solidFill>
                <a:latin typeface="Cambria" pitchFamily="34" charset="0"/>
                <a:ea typeface="Cambria" pitchFamily="34" charset="-122"/>
                <a:cs typeface="Cambria" pitchFamily="34" charset="-120"/>
              </a:rPr>
              <a:t>Fase 2 — Cinco métodos, no uno solo</a:t>
            </a:r>
            <a:endParaRPr lang="en-US" sz="3000" dirty="0"/>
          </a:p>
        </p:txBody>
      </p:sp>
      <p:sp>
        <p:nvSpPr>
          <p:cNvPr id="3" name="Shape 1"/>
          <p:cNvSpPr/>
          <p:nvPr/>
        </p:nvSpPr>
        <p:spPr>
          <a:xfrm>
            <a:off x="640080" y="1417320"/>
            <a:ext cx="3474720" cy="2240280"/>
          </a:xfrm>
          <a:prstGeom prst="roundRect">
            <a:avLst>
              <a:gd name="adj" fmla="val 3673"/>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4" name="Text 2"/>
          <p:cNvSpPr txBox="1"/>
          <p:nvPr/>
        </p:nvSpPr>
        <p:spPr>
          <a:xfrm>
            <a:off x="896112" y="161848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01</a:t>
            </a:r>
            <a:endParaRPr lang="en-US" sz="1300" dirty="0"/>
          </a:p>
        </p:txBody>
      </p:sp>
      <p:sp>
        <p:nvSpPr>
          <p:cNvPr id="5" name="Text 3"/>
          <p:cNvSpPr txBox="1"/>
          <p:nvPr/>
        </p:nvSpPr>
        <p:spPr>
          <a:xfrm>
            <a:off x="896112" y="1892808"/>
            <a:ext cx="2962656"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Cointegración</a:t>
            </a:r>
            <a:endParaRPr lang="en-US" sz="1450" dirty="0"/>
          </a:p>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Engle-Granger</a:t>
            </a:r>
            <a:endParaRPr lang="en-US" sz="1450" dirty="0"/>
          </a:p>
        </p:txBody>
      </p:sp>
      <p:sp>
        <p:nvSpPr>
          <p:cNvPr id="6" name="Text 4"/>
          <p:cNvSpPr txBox="1"/>
          <p:nvPr/>
        </p:nvSpPr>
        <p:spPr>
          <a:xfrm>
            <a:off x="896112" y="2368296"/>
            <a:ext cx="2962656" cy="112471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ADF sobre los residuos de la regresión en niveles log. Confirma equilibrio de largo plazo, no solo tendencia compartida.</a:t>
            </a:r>
            <a:endParaRPr lang="en-US" sz="1150" dirty="0"/>
          </a:p>
        </p:txBody>
      </p:sp>
      <p:sp>
        <p:nvSpPr>
          <p:cNvPr id="7" name="Shape 5"/>
          <p:cNvSpPr/>
          <p:nvPr/>
        </p:nvSpPr>
        <p:spPr>
          <a:xfrm>
            <a:off x="4343400" y="1417320"/>
            <a:ext cx="3474720" cy="2240280"/>
          </a:xfrm>
          <a:prstGeom prst="roundRect">
            <a:avLst>
              <a:gd name="adj" fmla="val 3673"/>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8" name="Text 6"/>
          <p:cNvSpPr txBox="1"/>
          <p:nvPr/>
        </p:nvSpPr>
        <p:spPr>
          <a:xfrm>
            <a:off x="4599432" y="161848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02</a:t>
            </a:r>
            <a:endParaRPr lang="en-US" sz="1300" dirty="0"/>
          </a:p>
        </p:txBody>
      </p:sp>
      <p:sp>
        <p:nvSpPr>
          <p:cNvPr id="9" name="Text 7"/>
          <p:cNvSpPr txBox="1"/>
          <p:nvPr/>
        </p:nvSpPr>
        <p:spPr>
          <a:xfrm>
            <a:off x="4599432" y="1892808"/>
            <a:ext cx="2962656"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Vector de</a:t>
            </a:r>
            <a:endParaRPr lang="en-US" sz="1450" dirty="0"/>
          </a:p>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Johansen</a:t>
            </a:r>
            <a:endParaRPr lang="en-US" sz="1450" dirty="0"/>
          </a:p>
        </p:txBody>
      </p:sp>
      <p:sp>
        <p:nvSpPr>
          <p:cNvPr id="10" name="Text 8"/>
          <p:cNvSpPr txBox="1"/>
          <p:nvPr/>
        </p:nvSpPr>
        <p:spPr>
          <a:xfrm>
            <a:off x="4599432" y="2368296"/>
            <a:ext cx="2962656" cy="112471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Traza y máximo autovalor sobre el sistema multivariado (3 insumos + equipo), sin asumir una única dirección causal.</a:t>
            </a:r>
            <a:endParaRPr lang="en-US" sz="1150" dirty="0"/>
          </a:p>
        </p:txBody>
      </p:sp>
      <p:sp>
        <p:nvSpPr>
          <p:cNvPr id="11" name="Shape 9"/>
          <p:cNvSpPr/>
          <p:nvPr/>
        </p:nvSpPr>
        <p:spPr>
          <a:xfrm>
            <a:off x="8046720" y="1417320"/>
            <a:ext cx="3474720" cy="2240280"/>
          </a:xfrm>
          <a:prstGeom prst="roundRect">
            <a:avLst>
              <a:gd name="adj" fmla="val 3673"/>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12" name="Text 10"/>
          <p:cNvSpPr txBox="1"/>
          <p:nvPr/>
        </p:nvSpPr>
        <p:spPr>
          <a:xfrm>
            <a:off x="8302752" y="161848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03</a:t>
            </a:r>
            <a:endParaRPr lang="en-US" sz="1300" dirty="0"/>
          </a:p>
        </p:txBody>
      </p:sp>
      <p:sp>
        <p:nvSpPr>
          <p:cNvPr id="13" name="Text 11"/>
          <p:cNvSpPr txBox="1"/>
          <p:nvPr/>
        </p:nvSpPr>
        <p:spPr>
          <a:xfrm>
            <a:off x="8302752" y="1892808"/>
            <a:ext cx="2962656"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Correlación</a:t>
            </a:r>
            <a:endParaRPr lang="en-US" sz="1450" dirty="0"/>
          </a:p>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cruzada (CCF)</a:t>
            </a:r>
            <a:endParaRPr lang="en-US" sz="1450" dirty="0"/>
          </a:p>
        </p:txBody>
      </p:sp>
      <p:sp>
        <p:nvSpPr>
          <p:cNvPr id="14" name="Text 12"/>
          <p:cNvSpPr txBox="1"/>
          <p:nvPr/>
        </p:nvSpPr>
        <p:spPr>
          <a:xfrm>
            <a:off x="8302752" y="2368296"/>
            <a:ext cx="2962656" cy="112471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Correlación entre retornos en rezagos de ±20 días. Detecta si un insumo anticipa al equipo o se mueve el mismo día.</a:t>
            </a:r>
            <a:endParaRPr lang="en-US" sz="1150" dirty="0"/>
          </a:p>
        </p:txBody>
      </p:sp>
      <p:sp>
        <p:nvSpPr>
          <p:cNvPr id="15" name="Shape 13"/>
          <p:cNvSpPr/>
          <p:nvPr/>
        </p:nvSpPr>
        <p:spPr>
          <a:xfrm>
            <a:off x="914400" y="3886200"/>
            <a:ext cx="5029200" cy="1965960"/>
          </a:xfrm>
          <a:prstGeom prst="roundRect">
            <a:avLst>
              <a:gd name="adj" fmla="val 4186"/>
            </a:avLst>
          </a:prstGeom>
          <a:solidFill>
            <a:srgbClr val="1B2A4A"/>
          </a:solidFill>
          <a:ln w="12700">
            <a:solidFill>
              <a:srgbClr val="1B2A4A"/>
            </a:solidFill>
            <a:prstDash val="solid"/>
          </a:ln>
        </p:spPr>
        <p:txBody>
          <a:bodyPr/>
          <a:lstStyle/>
          <a:p>
            <a:endParaRPr lang="es-CO"/>
          </a:p>
        </p:txBody>
      </p:sp>
      <p:sp>
        <p:nvSpPr>
          <p:cNvPr id="16" name="Text 14"/>
          <p:cNvSpPr txBox="1"/>
          <p:nvPr/>
        </p:nvSpPr>
        <p:spPr>
          <a:xfrm>
            <a:off x="1170432" y="4032504"/>
            <a:ext cx="4517136" cy="237744"/>
          </a:xfrm>
          <a:prstGeom prst="rect">
            <a:avLst/>
          </a:prstGeom>
          <a:noFill/>
          <a:ln/>
        </p:spPr>
        <p:txBody>
          <a:bodyPr wrap="square" lIns="0" tIns="0" rIns="0" bIns="0" rtlCol="0" anchor="ctr"/>
          <a:lstStyle/>
          <a:p>
            <a:pPr marL="0" indent="0">
              <a:buNone/>
            </a:pPr>
            <a:r>
              <a:rPr lang="en-US" sz="1000" b="1" kern="0" spc="100" dirty="0">
                <a:solidFill>
                  <a:srgbClr val="E0640F"/>
                </a:solidFill>
                <a:latin typeface="Calibri" pitchFamily="34" charset="0"/>
                <a:ea typeface="Calibri" pitchFamily="34" charset="-122"/>
                <a:cs typeface="Calibri" pitchFamily="34" charset="-120"/>
              </a:rPr>
              <a:t>MACHINE LEARNING</a:t>
            </a:r>
            <a:endParaRPr lang="en-US" sz="1000" dirty="0"/>
          </a:p>
        </p:txBody>
      </p:sp>
      <p:sp>
        <p:nvSpPr>
          <p:cNvPr id="17" name="Text 15"/>
          <p:cNvSpPr txBox="1"/>
          <p:nvPr/>
        </p:nvSpPr>
        <p:spPr>
          <a:xfrm>
            <a:off x="1170432" y="4270248"/>
            <a:ext cx="548640" cy="292608"/>
          </a:xfrm>
          <a:prstGeom prst="rect">
            <a:avLst/>
          </a:prstGeom>
          <a:noFill/>
          <a:ln/>
        </p:spPr>
        <p:txBody>
          <a:bodyPr wrap="square" lIns="0" tIns="0" rIns="0" bIns="0" rtlCol="0" anchor="ctr"/>
          <a:lstStyle/>
          <a:p>
            <a:pPr marL="0" indent="0">
              <a:buNone/>
            </a:pPr>
            <a:r>
              <a:rPr lang="en-US" sz="1300" b="1" dirty="0">
                <a:solidFill>
                  <a:srgbClr val="E0640F"/>
                </a:solidFill>
                <a:latin typeface="Calibri" pitchFamily="34" charset="0"/>
                <a:ea typeface="Calibri" pitchFamily="34" charset="-122"/>
                <a:cs typeface="Calibri" pitchFamily="34" charset="-120"/>
              </a:rPr>
              <a:t>04</a:t>
            </a:r>
            <a:endParaRPr lang="en-US" sz="1300" dirty="0"/>
          </a:p>
        </p:txBody>
      </p:sp>
      <p:sp>
        <p:nvSpPr>
          <p:cNvPr id="18" name="Text 16"/>
          <p:cNvSpPr txBox="1"/>
          <p:nvPr/>
        </p:nvSpPr>
        <p:spPr>
          <a:xfrm>
            <a:off x="1170432" y="4544568"/>
            <a:ext cx="4517136" cy="45720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Lasso / Elastic Net</a:t>
            </a:r>
            <a:endParaRPr lang="en-US" sz="1450" dirty="0"/>
          </a:p>
        </p:txBody>
      </p:sp>
      <p:sp>
        <p:nvSpPr>
          <p:cNvPr id="19" name="Text 17"/>
          <p:cNvSpPr txBox="1"/>
          <p:nvPr/>
        </p:nvSpPr>
        <p:spPr>
          <a:xfrm>
            <a:off x="1170432" y="5020056"/>
            <a:ext cx="4517136" cy="667512"/>
          </a:xfrm>
          <a:prstGeom prst="rect">
            <a:avLst/>
          </a:prstGeom>
          <a:noFill/>
          <a:ln/>
        </p:spPr>
        <p:txBody>
          <a:bodyPr wrap="square" lIns="0" tIns="0" rIns="0" bIns="0" rtlCol="0" anchor="t"/>
          <a:lstStyle/>
          <a:p>
            <a:pPr marL="0" indent="0">
              <a:lnSpc>
                <a:spcPct val="120000"/>
              </a:lnSpc>
              <a:buNone/>
            </a:pPr>
            <a:r>
              <a:rPr lang="en-US" sz="1150" dirty="0">
                <a:solidFill>
                  <a:srgbClr val="AEB9CC"/>
                </a:solidFill>
                <a:latin typeface="Calibri" pitchFamily="34" charset="0"/>
                <a:ea typeface="Calibri" pitchFamily="34" charset="-122"/>
                <a:cs typeface="Calibri" pitchFamily="34" charset="-120"/>
              </a:rPr>
              <a:t>Regresión regularizada (L1+L2) sobre retornos con 5 rezagos por insumo. El alpha se elige por validación cruzada de series de tiempo, no a mano.</a:t>
            </a:r>
            <a:endParaRPr lang="en-US" sz="1150" dirty="0"/>
          </a:p>
        </p:txBody>
      </p:sp>
      <p:sp>
        <p:nvSpPr>
          <p:cNvPr id="20" name="Shape 18"/>
          <p:cNvSpPr/>
          <p:nvPr/>
        </p:nvSpPr>
        <p:spPr>
          <a:xfrm>
            <a:off x="6217920" y="3886200"/>
            <a:ext cx="5029200" cy="1965960"/>
          </a:xfrm>
          <a:prstGeom prst="roundRect">
            <a:avLst>
              <a:gd name="adj" fmla="val 4186"/>
            </a:avLst>
          </a:prstGeom>
          <a:solidFill>
            <a:srgbClr val="1B2A4A"/>
          </a:solidFill>
          <a:ln w="12700">
            <a:solidFill>
              <a:srgbClr val="1B2A4A"/>
            </a:solidFill>
            <a:prstDash val="solid"/>
          </a:ln>
        </p:spPr>
        <p:txBody>
          <a:bodyPr/>
          <a:lstStyle/>
          <a:p>
            <a:endParaRPr lang="es-CO"/>
          </a:p>
        </p:txBody>
      </p:sp>
      <p:sp>
        <p:nvSpPr>
          <p:cNvPr id="21" name="Text 19"/>
          <p:cNvSpPr txBox="1"/>
          <p:nvPr/>
        </p:nvSpPr>
        <p:spPr>
          <a:xfrm>
            <a:off x="6473952" y="4032504"/>
            <a:ext cx="4517136" cy="237744"/>
          </a:xfrm>
          <a:prstGeom prst="rect">
            <a:avLst/>
          </a:prstGeom>
          <a:noFill/>
          <a:ln/>
        </p:spPr>
        <p:txBody>
          <a:bodyPr wrap="square" lIns="0" tIns="0" rIns="0" bIns="0" rtlCol="0" anchor="ctr"/>
          <a:lstStyle/>
          <a:p>
            <a:pPr marL="0" indent="0">
              <a:buNone/>
            </a:pPr>
            <a:r>
              <a:rPr lang="en-US" sz="1000" b="1" kern="0" spc="100" dirty="0">
                <a:solidFill>
                  <a:srgbClr val="E0640F"/>
                </a:solidFill>
                <a:latin typeface="Calibri" pitchFamily="34" charset="0"/>
                <a:ea typeface="Calibri" pitchFamily="34" charset="-122"/>
                <a:cs typeface="Calibri" pitchFamily="34" charset="-120"/>
              </a:rPr>
              <a:t>MACHINE LEARNING</a:t>
            </a:r>
            <a:endParaRPr lang="en-US" sz="1000" dirty="0"/>
          </a:p>
        </p:txBody>
      </p:sp>
      <p:sp>
        <p:nvSpPr>
          <p:cNvPr id="22" name="Text 20"/>
          <p:cNvSpPr txBox="1"/>
          <p:nvPr/>
        </p:nvSpPr>
        <p:spPr>
          <a:xfrm>
            <a:off x="6473952" y="4270248"/>
            <a:ext cx="548640" cy="292608"/>
          </a:xfrm>
          <a:prstGeom prst="rect">
            <a:avLst/>
          </a:prstGeom>
          <a:noFill/>
          <a:ln/>
        </p:spPr>
        <p:txBody>
          <a:bodyPr wrap="square" lIns="0" tIns="0" rIns="0" bIns="0" rtlCol="0" anchor="ctr"/>
          <a:lstStyle/>
          <a:p>
            <a:pPr marL="0" indent="0">
              <a:buNone/>
            </a:pPr>
            <a:r>
              <a:rPr lang="en-US" sz="1300" b="1" dirty="0">
                <a:solidFill>
                  <a:srgbClr val="E0640F"/>
                </a:solidFill>
                <a:latin typeface="Calibri" pitchFamily="34" charset="0"/>
                <a:ea typeface="Calibri" pitchFamily="34" charset="-122"/>
                <a:cs typeface="Calibri" pitchFamily="34" charset="-120"/>
              </a:rPr>
              <a:t>05</a:t>
            </a:r>
            <a:endParaRPr lang="en-US" sz="1300" dirty="0"/>
          </a:p>
        </p:txBody>
      </p:sp>
      <p:sp>
        <p:nvSpPr>
          <p:cNvPr id="23" name="Text 21"/>
          <p:cNvSpPr txBox="1"/>
          <p:nvPr/>
        </p:nvSpPr>
        <p:spPr>
          <a:xfrm>
            <a:off x="6473952" y="4544568"/>
            <a:ext cx="4517136" cy="45720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Random Forest + SHAP</a:t>
            </a:r>
            <a:endParaRPr lang="en-US" sz="1450" dirty="0"/>
          </a:p>
        </p:txBody>
      </p:sp>
      <p:sp>
        <p:nvSpPr>
          <p:cNvPr id="24" name="Text 22"/>
          <p:cNvSpPr txBox="1"/>
          <p:nvPr/>
        </p:nvSpPr>
        <p:spPr>
          <a:xfrm>
            <a:off x="6473952" y="5020056"/>
            <a:ext cx="4517136" cy="667512"/>
          </a:xfrm>
          <a:prstGeom prst="rect">
            <a:avLst/>
          </a:prstGeom>
          <a:noFill/>
          <a:ln/>
        </p:spPr>
        <p:txBody>
          <a:bodyPr wrap="square" lIns="0" tIns="0" rIns="0" bIns="0" rtlCol="0" anchor="t"/>
          <a:lstStyle/>
          <a:p>
            <a:pPr marL="0" indent="0">
              <a:lnSpc>
                <a:spcPct val="120000"/>
              </a:lnSpc>
              <a:buNone/>
            </a:pPr>
            <a:r>
              <a:rPr lang="en-US" sz="1150" dirty="0">
                <a:solidFill>
                  <a:srgbClr val="AEB9CC"/>
                </a:solidFill>
                <a:latin typeface="Calibri" pitchFamily="34" charset="0"/>
                <a:ea typeface="Calibri" pitchFamily="34" charset="-122"/>
                <a:cs typeface="Calibri" pitchFamily="34" charset="-120"/>
              </a:rPr>
              <a:t>300 árboles (profundidad máx. 5) sobre los mismos rezagos. SHAP cuantifica la contribución marginal de cada insumo, sin asumir linealidad.</a:t>
            </a:r>
            <a:endParaRPr lang="en-US" sz="1150" dirty="0"/>
          </a:p>
        </p:txBody>
      </p:sp>
      <p:sp>
        <p:nvSpPr>
          <p:cNvPr id="25" name="Text 23"/>
          <p:cNvSpPr txBox="1"/>
          <p:nvPr/>
        </p:nvSpPr>
        <p:spPr>
          <a:xfrm>
            <a:off x="640080" y="6035040"/>
            <a:ext cx="10515600" cy="365760"/>
          </a:xfrm>
          <a:prstGeom prst="rect">
            <a:avLst/>
          </a:prstGeom>
          <a:noFill/>
          <a:ln/>
        </p:spPr>
        <p:txBody>
          <a:bodyPr wrap="square" lIns="0" tIns="0" rIns="0" bIns="0" rtlCol="0" anchor="ctr"/>
          <a:lstStyle/>
          <a:p>
            <a:pPr marL="0" indent="0">
              <a:buNone/>
            </a:pPr>
            <a:r>
              <a:rPr lang="en-US" sz="1500" i="1" dirty="0">
                <a:solidFill>
                  <a:srgbClr val="44506B"/>
                </a:solidFill>
                <a:latin typeface="Calibri" pitchFamily="34" charset="0"/>
                <a:ea typeface="Calibri" pitchFamily="34" charset="-122"/>
                <a:cs typeface="Calibri" pitchFamily="34" charset="-120"/>
              </a:rPr>
              <a:t>Si los 5 coinciden en la misma respuesta, no es casualidad.</a:t>
            </a:r>
            <a:endParaRPr lang="en-US" sz="1500" dirty="0"/>
          </a:p>
        </p:txBody>
      </p:sp>
      <p:sp>
        <p:nvSpPr>
          <p:cNvPr id="26" name="Text 24"/>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27" name="Text 25"/>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058400" cy="320040"/>
          </a:xfrm>
          <a:prstGeom prst="rect">
            <a:avLst/>
          </a:prstGeom>
          <a:noFill/>
          <a:ln/>
        </p:spPr>
        <p:txBody>
          <a:bodyPr wrap="square" lIns="0" tIns="0" rIns="0" bIns="0" rtlCol="0" anchor="ctr"/>
          <a:lstStyle/>
          <a:p>
            <a:pPr marL="0" indent="0">
              <a:buNone/>
            </a:pPr>
            <a:r>
              <a:rPr lang="en-US" sz="1300" b="1" kern="0" spc="100" dirty="0">
                <a:solidFill>
                  <a:srgbClr val="E0640F"/>
                </a:solidFill>
                <a:latin typeface="Calibri" pitchFamily="34" charset="0"/>
                <a:ea typeface="Calibri" pitchFamily="34" charset="-122"/>
                <a:cs typeface="Calibri" pitchFamily="34" charset="-120"/>
              </a:rPr>
              <a:t>ENFOQUE DE MACHINE LEARNING</a:t>
            </a:r>
            <a:endParaRPr lang="en-US" sz="1300" dirty="0"/>
          </a:p>
        </p:txBody>
      </p:sp>
      <p:sp>
        <p:nvSpPr>
          <p:cNvPr id="3" name="Text 1"/>
          <p:cNvSpPr txBox="1"/>
          <p:nvPr/>
        </p:nvSpPr>
        <p:spPr>
          <a:xfrm>
            <a:off x="640080" y="914400"/>
            <a:ext cx="10789920" cy="1188720"/>
          </a:xfrm>
          <a:prstGeom prst="rect">
            <a:avLst/>
          </a:prstGeom>
          <a:noFill/>
          <a:ln/>
        </p:spPr>
        <p:txBody>
          <a:bodyPr wrap="square" lIns="0" tIns="0" rIns="0" bIns="0" rtlCol="0" anchor="ctr"/>
          <a:lstStyle/>
          <a:p>
            <a:pPr marL="0" indent="0">
              <a:lnSpc>
                <a:spcPct val="102000"/>
              </a:lnSpc>
              <a:buNone/>
            </a:pPr>
            <a:r>
              <a:rPr lang="en-US" sz="2700" b="1" dirty="0">
                <a:solidFill>
                  <a:srgbClr val="1B2A4A"/>
                </a:solidFill>
                <a:latin typeface="Cambria" pitchFamily="34" charset="0"/>
                <a:ea typeface="Cambria" pitchFamily="34" charset="-122"/>
                <a:cs typeface="Cambria" pitchFamily="34" charset="-120"/>
              </a:rPr>
              <a:t>Dos maneras de ver los mismos datos — y coinciden</a:t>
            </a:r>
            <a:endParaRPr lang="en-US" sz="2700" dirty="0"/>
          </a:p>
        </p:txBody>
      </p:sp>
      <p:sp>
        <p:nvSpPr>
          <p:cNvPr id="4" name="Shape 2"/>
          <p:cNvSpPr/>
          <p:nvPr/>
        </p:nvSpPr>
        <p:spPr>
          <a:xfrm>
            <a:off x="640080" y="1874520"/>
            <a:ext cx="5074920" cy="3703320"/>
          </a:xfrm>
          <a:prstGeom prst="roundRect">
            <a:avLst>
              <a:gd name="adj" fmla="val 2222"/>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5" name="Text 3"/>
          <p:cNvSpPr txBox="1"/>
          <p:nvPr/>
        </p:nvSpPr>
        <p:spPr>
          <a:xfrm>
            <a:off x="914400" y="2130552"/>
            <a:ext cx="4526280" cy="274320"/>
          </a:xfrm>
          <a:prstGeom prst="rect">
            <a:avLst/>
          </a:prstGeom>
          <a:noFill/>
          <a:ln/>
        </p:spPr>
        <p:txBody>
          <a:bodyPr wrap="square" lIns="0" tIns="0" rIns="0" bIns="0" rtlCol="0" anchor="ctr"/>
          <a:lstStyle/>
          <a:p>
            <a:pPr marL="0" indent="0">
              <a:buNone/>
            </a:pPr>
            <a:r>
              <a:rPr lang="en-US" sz="1100" b="1" kern="0" spc="100" dirty="0">
                <a:solidFill>
                  <a:srgbClr val="6B7690"/>
                </a:solidFill>
                <a:latin typeface="Calibri" pitchFamily="34" charset="0"/>
                <a:ea typeface="Calibri" pitchFamily="34" charset="-122"/>
                <a:cs typeface="Calibri" pitchFamily="34" charset="-120"/>
              </a:rPr>
              <a:t>REGULARIZACIÓN LINEAL</a:t>
            </a:r>
            <a:endParaRPr lang="en-US" sz="1100" dirty="0"/>
          </a:p>
        </p:txBody>
      </p:sp>
      <p:sp>
        <p:nvSpPr>
          <p:cNvPr id="6" name="Text 4"/>
          <p:cNvSpPr txBox="1"/>
          <p:nvPr/>
        </p:nvSpPr>
        <p:spPr>
          <a:xfrm>
            <a:off x="914400" y="2423160"/>
            <a:ext cx="4526280" cy="411480"/>
          </a:xfrm>
          <a:prstGeom prst="rect">
            <a:avLst/>
          </a:prstGeom>
          <a:noFill/>
          <a:ln/>
        </p:spPr>
        <p:txBody>
          <a:bodyPr wrap="square" lIns="0" tIns="0" rIns="0" bIns="0" rtlCol="0" anchor="ctr"/>
          <a:lstStyle/>
          <a:p>
            <a:pPr marL="0" indent="0">
              <a:buNone/>
            </a:pPr>
            <a:r>
              <a:rPr lang="en-US" sz="1800" b="1" dirty="0">
                <a:solidFill>
                  <a:srgbClr val="1B2A4A"/>
                </a:solidFill>
                <a:latin typeface="Calibri" pitchFamily="34" charset="0"/>
                <a:ea typeface="Calibri" pitchFamily="34" charset="-122"/>
                <a:cs typeface="Calibri" pitchFamily="34" charset="-120"/>
              </a:rPr>
              <a:t>Lasso / Elastic Net</a:t>
            </a:r>
            <a:endParaRPr lang="en-US" sz="1800" dirty="0"/>
          </a:p>
        </p:txBody>
      </p:sp>
      <p:sp>
        <p:nvSpPr>
          <p:cNvPr id="7" name="Text 5"/>
          <p:cNvSpPr txBox="1"/>
          <p:nvPr/>
        </p:nvSpPr>
        <p:spPr>
          <a:xfrm>
            <a:off x="914400" y="2834640"/>
            <a:ext cx="4526280" cy="365760"/>
          </a:xfrm>
          <a:prstGeom prst="rect">
            <a:avLst/>
          </a:prstGeom>
          <a:noFill/>
          <a:ln/>
        </p:spPr>
        <p:txBody>
          <a:bodyPr wrap="square" lIns="0" tIns="0" rIns="0" bIns="0" rtlCol="0" anchor="ctr"/>
          <a:lstStyle/>
          <a:p>
            <a:pPr marL="0" indent="0">
              <a:buNone/>
            </a:pPr>
            <a:r>
              <a:rPr lang="en-US" sz="1300" i="1" dirty="0">
                <a:solidFill>
                  <a:srgbClr val="E0640F"/>
                </a:solidFill>
                <a:latin typeface="Calibri" pitchFamily="34" charset="0"/>
                <a:ea typeface="Calibri" pitchFamily="34" charset="-122"/>
                <a:cs typeface="Calibri" pitchFamily="34" charset="-120"/>
              </a:rPr>
              <a:t>Selecciona variables, no reparte peso a ciegas</a:t>
            </a:r>
            <a:endParaRPr lang="en-US" sz="1300" dirty="0"/>
          </a:p>
        </p:txBody>
      </p:sp>
      <p:sp>
        <p:nvSpPr>
          <p:cNvPr id="8" name="Text 6"/>
          <p:cNvSpPr txBox="1"/>
          <p:nvPr/>
        </p:nvSpPr>
        <p:spPr>
          <a:xfrm>
            <a:off x="914400" y="3337560"/>
            <a:ext cx="4526280" cy="777240"/>
          </a:xfrm>
          <a:prstGeom prst="rect">
            <a:avLst/>
          </a:prstGeom>
          <a:noFill/>
          <a:ln/>
        </p:spPr>
        <p:txBody>
          <a:bodyPr wrap="square" lIns="0" tIns="0" rIns="0" bIns="0" rtlCol="0" anchor="t"/>
          <a:lstStyle/>
          <a:p>
            <a:pPr marL="0" indent="0">
              <a:lnSpc>
                <a:spcPct val="118000"/>
              </a:lnSpc>
              <a:buNone/>
            </a:pPr>
            <a:r>
              <a:rPr lang="en-US" sz="1200" b="1" dirty="0">
                <a:solidFill>
                  <a:srgbClr val="1B2A4A"/>
                </a:solidFill>
                <a:latin typeface="Calibri" pitchFamily="34" charset="0"/>
                <a:ea typeface="Calibri" pitchFamily="34" charset="-122"/>
                <a:cs typeface="Calibri" pitchFamily="34" charset="-120"/>
              </a:rPr>
              <a:t>Qué hace: </a:t>
            </a:r>
            <a:r>
              <a:rPr lang="en-US" sz="1200" dirty="0">
                <a:solidFill>
                  <a:srgbClr val="44506B"/>
                </a:solidFill>
                <a:latin typeface="Calibri" pitchFamily="34" charset="0"/>
                <a:ea typeface="Calibri" pitchFamily="34" charset="-122"/>
                <a:cs typeface="Calibri" pitchFamily="34" charset="-120"/>
              </a:rPr>
              <a:t>regresión con penalización L1+L2 sobre retornos diarios, con 5 rezagos por insumo — 15 variables candidatas por equipo.</a:t>
            </a:r>
            <a:endParaRPr lang="en-US" sz="1200" dirty="0"/>
          </a:p>
        </p:txBody>
      </p:sp>
      <p:sp>
        <p:nvSpPr>
          <p:cNvPr id="9" name="Text 7"/>
          <p:cNvSpPr txBox="1"/>
          <p:nvPr/>
        </p:nvSpPr>
        <p:spPr>
          <a:xfrm>
            <a:off x="914400" y="4087368"/>
            <a:ext cx="4526280" cy="777240"/>
          </a:xfrm>
          <a:prstGeom prst="rect">
            <a:avLst/>
          </a:prstGeom>
          <a:noFill/>
          <a:ln/>
        </p:spPr>
        <p:txBody>
          <a:bodyPr wrap="square" lIns="0" tIns="0" rIns="0" bIns="0" rtlCol="0" anchor="t"/>
          <a:lstStyle/>
          <a:p>
            <a:pPr marL="0" indent="0">
              <a:lnSpc>
                <a:spcPct val="118000"/>
              </a:lnSpc>
              <a:buNone/>
            </a:pPr>
            <a:r>
              <a:rPr lang="en-US" sz="1200" b="1" dirty="0">
                <a:solidFill>
                  <a:srgbClr val="1B2A4A"/>
                </a:solidFill>
                <a:latin typeface="Calibri" pitchFamily="34" charset="0"/>
                <a:ea typeface="Calibri" pitchFamily="34" charset="-122"/>
                <a:cs typeface="Calibri" pitchFamily="34" charset="-120"/>
              </a:rPr>
              <a:t>Por qué: </a:t>
            </a:r>
            <a:r>
              <a:rPr lang="en-US" sz="1200" dirty="0">
                <a:solidFill>
                  <a:srgbClr val="44506B"/>
                </a:solidFill>
                <a:latin typeface="Calibri" pitchFamily="34" charset="0"/>
                <a:ea typeface="Calibri" pitchFamily="34" charset="-122"/>
                <a:cs typeface="Calibri" pitchFamily="34" charset="-120"/>
              </a:rPr>
              <a:t>X, Y y Z están correlacionados entre sí. La penalización L1 empuja los coeficientes irrelevantes a cero en vez de repartir peso entre variables redundantes.</a:t>
            </a:r>
            <a:endParaRPr lang="en-US" sz="1200" dirty="0"/>
          </a:p>
        </p:txBody>
      </p:sp>
      <p:sp>
        <p:nvSpPr>
          <p:cNvPr id="10" name="Text 8"/>
          <p:cNvSpPr txBox="1"/>
          <p:nvPr/>
        </p:nvSpPr>
        <p:spPr>
          <a:xfrm>
            <a:off x="914400" y="4837176"/>
            <a:ext cx="4526280" cy="777240"/>
          </a:xfrm>
          <a:prstGeom prst="rect">
            <a:avLst/>
          </a:prstGeom>
          <a:noFill/>
          <a:ln/>
        </p:spPr>
        <p:txBody>
          <a:bodyPr wrap="square" lIns="0" tIns="0" rIns="0" bIns="0" rtlCol="0" anchor="t"/>
          <a:lstStyle/>
          <a:p>
            <a:pPr marL="0" indent="0">
              <a:lnSpc>
                <a:spcPct val="118000"/>
              </a:lnSpc>
              <a:buNone/>
            </a:pPr>
            <a:r>
              <a:rPr lang="en-US" sz="1200" b="1" dirty="0">
                <a:solidFill>
                  <a:srgbClr val="1B2A4A"/>
                </a:solidFill>
                <a:latin typeface="Calibri" pitchFamily="34" charset="0"/>
                <a:ea typeface="Calibri" pitchFamily="34" charset="-122"/>
                <a:cs typeface="Calibri" pitchFamily="34" charset="-120"/>
              </a:rPr>
              <a:t>Validación: </a:t>
            </a:r>
            <a:r>
              <a:rPr lang="en-US" sz="1200" dirty="0">
                <a:solidFill>
                  <a:srgbClr val="44506B"/>
                </a:solidFill>
                <a:latin typeface="Calibri" pitchFamily="34" charset="0"/>
                <a:ea typeface="Calibri" pitchFamily="34" charset="-122"/>
                <a:cs typeface="Calibri" pitchFamily="34" charset="-120"/>
              </a:rPr>
              <a:t>el alpha se elige por TimeSeriesSplit (5 folds) — nunca se valida con datos del futuro, a diferencia de un CV aleatorio estándar.</a:t>
            </a:r>
            <a:endParaRPr lang="en-US" sz="1200" dirty="0"/>
          </a:p>
        </p:txBody>
      </p:sp>
      <p:sp>
        <p:nvSpPr>
          <p:cNvPr id="11" name="Shape 9"/>
          <p:cNvSpPr/>
          <p:nvPr/>
        </p:nvSpPr>
        <p:spPr>
          <a:xfrm>
            <a:off x="5989320" y="1874520"/>
            <a:ext cx="5074920" cy="3703320"/>
          </a:xfrm>
          <a:prstGeom prst="roundRect">
            <a:avLst>
              <a:gd name="adj" fmla="val 2222"/>
            </a:avLst>
          </a:prstGeom>
          <a:solidFill>
            <a:srgbClr val="1B2A4A"/>
          </a:solidFill>
          <a:ln w="12700">
            <a:solidFill>
              <a:srgbClr val="1B2A4A"/>
            </a:solidFill>
            <a:prstDash val="solid"/>
          </a:ln>
        </p:spPr>
        <p:txBody>
          <a:bodyPr/>
          <a:lstStyle/>
          <a:p>
            <a:endParaRPr lang="es-CO"/>
          </a:p>
        </p:txBody>
      </p:sp>
      <p:sp>
        <p:nvSpPr>
          <p:cNvPr id="12" name="Text 10"/>
          <p:cNvSpPr txBox="1"/>
          <p:nvPr/>
        </p:nvSpPr>
        <p:spPr>
          <a:xfrm>
            <a:off x="6263640" y="2130552"/>
            <a:ext cx="4526280" cy="274320"/>
          </a:xfrm>
          <a:prstGeom prst="rect">
            <a:avLst/>
          </a:prstGeom>
          <a:noFill/>
          <a:ln/>
        </p:spPr>
        <p:txBody>
          <a:bodyPr wrap="square" lIns="0" tIns="0" rIns="0" bIns="0" rtlCol="0" anchor="ctr"/>
          <a:lstStyle/>
          <a:p>
            <a:pPr marL="0" indent="0">
              <a:buNone/>
            </a:pPr>
            <a:r>
              <a:rPr lang="en-US" sz="1100" b="1" kern="0" spc="100" dirty="0">
                <a:solidFill>
                  <a:srgbClr val="E0640F"/>
                </a:solidFill>
                <a:latin typeface="Calibri" pitchFamily="34" charset="0"/>
                <a:ea typeface="Calibri" pitchFamily="34" charset="-122"/>
                <a:cs typeface="Calibri" pitchFamily="34" charset="-120"/>
              </a:rPr>
              <a:t>ENSAMBLE NO LINEAL</a:t>
            </a:r>
            <a:endParaRPr lang="en-US" sz="1100" dirty="0"/>
          </a:p>
        </p:txBody>
      </p:sp>
      <p:sp>
        <p:nvSpPr>
          <p:cNvPr id="13" name="Text 11"/>
          <p:cNvSpPr txBox="1"/>
          <p:nvPr/>
        </p:nvSpPr>
        <p:spPr>
          <a:xfrm>
            <a:off x="6263640" y="2423160"/>
            <a:ext cx="4526280" cy="411480"/>
          </a:xfrm>
          <a:prstGeom prst="rect">
            <a:avLst/>
          </a:prstGeom>
          <a:noFill/>
          <a:ln/>
        </p:spPr>
        <p:txBody>
          <a:bodyPr wrap="square" lIns="0" tIns="0" rIns="0" bIns="0" rtlCol="0" anchor="ctr"/>
          <a:lstStyle/>
          <a:p>
            <a:pPr marL="0" indent="0">
              <a:buNone/>
            </a:pPr>
            <a:r>
              <a:rPr lang="en-US" sz="1800" b="1" dirty="0">
                <a:solidFill>
                  <a:srgbClr val="F7F5EF"/>
                </a:solidFill>
                <a:latin typeface="Calibri" pitchFamily="34" charset="0"/>
                <a:ea typeface="Calibri" pitchFamily="34" charset="-122"/>
                <a:cs typeface="Calibri" pitchFamily="34" charset="-120"/>
              </a:rPr>
              <a:t>Random Forest + SHAP</a:t>
            </a:r>
            <a:endParaRPr lang="en-US" sz="1800" dirty="0"/>
          </a:p>
        </p:txBody>
      </p:sp>
      <p:sp>
        <p:nvSpPr>
          <p:cNvPr id="14" name="Text 12"/>
          <p:cNvSpPr txBox="1"/>
          <p:nvPr/>
        </p:nvSpPr>
        <p:spPr>
          <a:xfrm>
            <a:off x="6263640" y="2834640"/>
            <a:ext cx="4526280" cy="365760"/>
          </a:xfrm>
          <a:prstGeom prst="rect">
            <a:avLst/>
          </a:prstGeom>
          <a:noFill/>
          <a:ln/>
        </p:spPr>
        <p:txBody>
          <a:bodyPr wrap="square" lIns="0" tIns="0" rIns="0" bIns="0" rtlCol="0" anchor="ctr"/>
          <a:lstStyle/>
          <a:p>
            <a:pPr marL="0" indent="0">
              <a:buNone/>
            </a:pPr>
            <a:r>
              <a:rPr lang="en-US" sz="1300" i="1" dirty="0">
                <a:solidFill>
                  <a:srgbClr val="E0640F"/>
                </a:solidFill>
                <a:latin typeface="Calibri" pitchFamily="34" charset="0"/>
                <a:ea typeface="Calibri" pitchFamily="34" charset="-122"/>
                <a:cs typeface="Calibri" pitchFamily="34" charset="-120"/>
              </a:rPr>
              <a:t>Llega a la misma respuesta sin asumir linealidad</a:t>
            </a:r>
            <a:endParaRPr lang="en-US" sz="1300" dirty="0"/>
          </a:p>
        </p:txBody>
      </p:sp>
      <p:sp>
        <p:nvSpPr>
          <p:cNvPr id="15" name="Text 13"/>
          <p:cNvSpPr txBox="1"/>
          <p:nvPr/>
        </p:nvSpPr>
        <p:spPr>
          <a:xfrm>
            <a:off x="6263640" y="3337560"/>
            <a:ext cx="4526280" cy="777240"/>
          </a:xfrm>
          <a:prstGeom prst="rect">
            <a:avLst/>
          </a:prstGeom>
          <a:noFill/>
          <a:ln/>
        </p:spPr>
        <p:txBody>
          <a:bodyPr wrap="square" lIns="0" tIns="0" rIns="0" bIns="0" rtlCol="0" anchor="t"/>
          <a:lstStyle/>
          <a:p>
            <a:pPr marL="0" indent="0">
              <a:lnSpc>
                <a:spcPct val="118000"/>
              </a:lnSpc>
              <a:buNone/>
            </a:pPr>
            <a:r>
              <a:rPr lang="en-US" sz="1200" b="1" dirty="0">
                <a:solidFill>
                  <a:srgbClr val="F7F5EF"/>
                </a:solidFill>
                <a:latin typeface="Calibri" pitchFamily="34" charset="0"/>
                <a:ea typeface="Calibri" pitchFamily="34" charset="-122"/>
                <a:cs typeface="Calibri" pitchFamily="34" charset="-120"/>
              </a:rPr>
              <a:t>Qué hace: </a:t>
            </a:r>
            <a:r>
              <a:rPr lang="en-US" sz="1200" dirty="0">
                <a:solidFill>
                  <a:srgbClr val="AEB9CC"/>
                </a:solidFill>
                <a:latin typeface="Calibri" pitchFamily="34" charset="0"/>
                <a:ea typeface="Calibri" pitchFamily="34" charset="-122"/>
                <a:cs typeface="Calibri" pitchFamily="34" charset="-120"/>
              </a:rPr>
              <a:t>300 árboles (profundidad máx. 5, mínimo 20 muestras por hoja) sobre los mismos rezagos — sin suponer una forma funcional.</a:t>
            </a:r>
            <a:endParaRPr lang="en-US" sz="1200" dirty="0"/>
          </a:p>
        </p:txBody>
      </p:sp>
      <p:sp>
        <p:nvSpPr>
          <p:cNvPr id="16" name="Text 14"/>
          <p:cNvSpPr txBox="1"/>
          <p:nvPr/>
        </p:nvSpPr>
        <p:spPr>
          <a:xfrm>
            <a:off x="6263640" y="4087368"/>
            <a:ext cx="4526280" cy="777240"/>
          </a:xfrm>
          <a:prstGeom prst="rect">
            <a:avLst/>
          </a:prstGeom>
          <a:noFill/>
          <a:ln/>
        </p:spPr>
        <p:txBody>
          <a:bodyPr wrap="square" lIns="0" tIns="0" rIns="0" bIns="0" rtlCol="0" anchor="t"/>
          <a:lstStyle/>
          <a:p>
            <a:pPr marL="0" indent="0">
              <a:lnSpc>
                <a:spcPct val="118000"/>
              </a:lnSpc>
              <a:buNone/>
            </a:pPr>
            <a:r>
              <a:rPr lang="en-US" sz="1200" b="1" dirty="0">
                <a:solidFill>
                  <a:srgbClr val="F7F5EF"/>
                </a:solidFill>
                <a:latin typeface="Calibri" pitchFamily="34" charset="0"/>
                <a:ea typeface="Calibri" pitchFamily="34" charset="-122"/>
                <a:cs typeface="Calibri" pitchFamily="34" charset="-120"/>
              </a:rPr>
              <a:t>SHAP: </a:t>
            </a:r>
            <a:r>
              <a:rPr lang="en-US" sz="1200" dirty="0">
                <a:solidFill>
                  <a:srgbClr val="AEB9CC"/>
                </a:solidFill>
                <a:latin typeface="Calibri" pitchFamily="34" charset="0"/>
                <a:ea typeface="Calibri" pitchFamily="34" charset="-122"/>
                <a:cs typeface="Calibri" pitchFamily="34" charset="-120"/>
              </a:rPr>
              <a:t>TreeExplainer descompone cada predicción en la contribución marginal de cada variable — más consistente que la importancia por impureza de un solo árbol.</a:t>
            </a:r>
            <a:endParaRPr lang="en-US" sz="1200" dirty="0"/>
          </a:p>
        </p:txBody>
      </p:sp>
      <p:sp>
        <p:nvSpPr>
          <p:cNvPr id="17" name="Text 15"/>
          <p:cNvSpPr txBox="1"/>
          <p:nvPr/>
        </p:nvSpPr>
        <p:spPr>
          <a:xfrm>
            <a:off x="6263640" y="4837176"/>
            <a:ext cx="4526280" cy="777240"/>
          </a:xfrm>
          <a:prstGeom prst="rect">
            <a:avLst/>
          </a:prstGeom>
          <a:noFill/>
          <a:ln/>
        </p:spPr>
        <p:txBody>
          <a:bodyPr wrap="square" lIns="0" tIns="0" rIns="0" bIns="0" rtlCol="0" anchor="t"/>
          <a:lstStyle/>
          <a:p>
            <a:pPr marL="0" indent="0">
              <a:lnSpc>
                <a:spcPct val="118000"/>
              </a:lnSpc>
              <a:buNone/>
            </a:pPr>
            <a:r>
              <a:rPr lang="en-US" sz="1200" b="1" dirty="0">
                <a:solidFill>
                  <a:srgbClr val="F7F5EF"/>
                </a:solidFill>
                <a:latin typeface="Calibri" pitchFamily="34" charset="0"/>
                <a:ea typeface="Calibri" pitchFamily="34" charset="-122"/>
                <a:cs typeface="Calibri" pitchFamily="34" charset="-120"/>
              </a:rPr>
              <a:t>Por qué importa: </a:t>
            </a:r>
            <a:r>
              <a:rPr lang="en-US" sz="1200" dirty="0">
                <a:solidFill>
                  <a:srgbClr val="AEB9CC"/>
                </a:solidFill>
                <a:latin typeface="Calibri" pitchFamily="34" charset="0"/>
                <a:ea typeface="Calibri" pitchFamily="34" charset="-122"/>
                <a:cs typeface="Calibri" pitchFamily="34" charset="-120"/>
              </a:rPr>
              <a:t>confirma que Y explica Equipo1 y Z explica Equipo2 por un camino completamente distinto al lineal — no es un artefacto del modelo.</a:t>
            </a:r>
            <a:endParaRPr lang="en-US" sz="1200" dirty="0"/>
          </a:p>
        </p:txBody>
      </p:sp>
      <p:sp>
        <p:nvSpPr>
          <p:cNvPr id="18" name="Text 16"/>
          <p:cNvSpPr txBox="1"/>
          <p:nvPr/>
        </p:nvSpPr>
        <p:spPr>
          <a:xfrm>
            <a:off x="640080" y="5760720"/>
            <a:ext cx="10424160" cy="457200"/>
          </a:xfrm>
          <a:prstGeom prst="rect">
            <a:avLst/>
          </a:prstGeom>
          <a:noFill/>
          <a:ln/>
        </p:spPr>
        <p:txBody>
          <a:bodyPr wrap="square" lIns="0" tIns="0" rIns="0" bIns="0" rtlCol="0" anchor="ctr"/>
          <a:lstStyle/>
          <a:p>
            <a:pPr marL="0" indent="0">
              <a:lnSpc>
                <a:spcPct val="120000"/>
              </a:lnSpc>
              <a:buNone/>
            </a:pPr>
            <a:r>
              <a:rPr lang="en-US" sz="1300" i="1" dirty="0">
                <a:solidFill>
                  <a:srgbClr val="6B7690"/>
                </a:solidFill>
                <a:latin typeface="Calibri" pitchFamily="34" charset="0"/>
                <a:ea typeface="Calibri" pitchFamily="34" charset="-122"/>
                <a:cs typeface="Calibri" pitchFamily="34" charset="-120"/>
              </a:rPr>
              <a:t>Un modelo lineal regularizado y un ensamble de árboles, entrenados sobre los mismos datos, señalan el mismo insumo. Eso es lo que hace confiable el hallazgo — no un solo modelo bien ajustado.</a:t>
            </a:r>
            <a:endParaRPr lang="en-US" sz="1300" dirty="0"/>
          </a:p>
        </p:txBody>
      </p:sp>
      <p:sp>
        <p:nvSpPr>
          <p:cNvPr id="19" name="Text 17"/>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20" name="Text 18"/>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marL="0" indent="0">
              <a:lnSpc>
                <a:spcPct val="102000"/>
              </a:lnSpc>
              <a:buNone/>
            </a:pPr>
            <a:r>
              <a:rPr lang="en-US" sz="3200" b="1" dirty="0">
                <a:solidFill>
                  <a:srgbClr val="1B2A4A"/>
                </a:solidFill>
                <a:latin typeface="Cambria" pitchFamily="34" charset="0"/>
                <a:ea typeface="Cambria" pitchFamily="34" charset="-122"/>
                <a:cs typeface="Cambria" pitchFamily="34" charset="-120"/>
              </a:rPr>
              <a:t>El hallazgo</a:t>
            </a:r>
            <a:endParaRPr lang="en-US" sz="3200" dirty="0"/>
          </a:p>
        </p:txBody>
      </p:sp>
      <p:sp>
        <p:nvSpPr>
          <p:cNvPr id="3" name="Text 1"/>
          <p:cNvSpPr txBox="1"/>
          <p:nvPr/>
        </p:nvSpPr>
        <p:spPr>
          <a:xfrm>
            <a:off x="640080" y="1920240"/>
            <a:ext cx="5120640" cy="50292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Equipo1 </a:t>
            </a:r>
            <a:r>
              <a:rPr lang="en-US" sz="1700" dirty="0">
                <a:solidFill>
                  <a:srgbClr val="44506B"/>
                </a:solidFill>
                <a:latin typeface="Calibri" pitchFamily="34" charset="0"/>
                <a:ea typeface="Calibri" pitchFamily="34" charset="-122"/>
                <a:cs typeface="Calibri" pitchFamily="34" charset="-120"/>
              </a:rPr>
              <a:t>explicado por  </a:t>
            </a:r>
            <a:r>
              <a:rPr lang="en-US" sz="2200" b="1" dirty="0">
                <a:solidFill>
                  <a:srgbClr val="2A5CAA"/>
                </a:solidFill>
                <a:latin typeface="Cambria" pitchFamily="34" charset="0"/>
                <a:ea typeface="Cambria" pitchFamily="34" charset="-122"/>
                <a:cs typeface="Cambria" pitchFamily="34" charset="-120"/>
              </a:rPr>
              <a:t>Y</a:t>
            </a:r>
            <a:endParaRPr lang="en-US" sz="2200" dirty="0"/>
          </a:p>
        </p:txBody>
      </p:sp>
      <p:sp>
        <p:nvSpPr>
          <p:cNvPr id="4" name="Text 2"/>
          <p:cNvSpPr txBox="1"/>
          <p:nvPr/>
        </p:nvSpPr>
        <p:spPr>
          <a:xfrm>
            <a:off x="640080" y="2514600"/>
            <a:ext cx="5120640" cy="50292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Equipo2 </a:t>
            </a:r>
            <a:r>
              <a:rPr lang="en-US" sz="1700" dirty="0">
                <a:solidFill>
                  <a:srgbClr val="44506B"/>
                </a:solidFill>
                <a:latin typeface="Calibri" pitchFamily="34" charset="0"/>
                <a:ea typeface="Calibri" pitchFamily="34" charset="-122"/>
                <a:cs typeface="Calibri" pitchFamily="34" charset="-120"/>
              </a:rPr>
              <a:t>explicado por  </a:t>
            </a:r>
            <a:r>
              <a:rPr lang="en-US" sz="2200" b="1" dirty="0">
                <a:solidFill>
                  <a:srgbClr val="1E8A5F"/>
                </a:solidFill>
                <a:latin typeface="Cambria" pitchFamily="34" charset="0"/>
                <a:ea typeface="Cambria" pitchFamily="34" charset="-122"/>
                <a:cs typeface="Cambria" pitchFamily="34" charset="-120"/>
              </a:rPr>
              <a:t>Z</a:t>
            </a:r>
            <a:endParaRPr lang="en-US" sz="2200" dirty="0"/>
          </a:p>
        </p:txBody>
      </p:sp>
      <p:sp>
        <p:nvSpPr>
          <p:cNvPr id="5" name="Text 3"/>
          <p:cNvSpPr txBox="1"/>
          <p:nvPr/>
        </p:nvSpPr>
        <p:spPr>
          <a:xfrm>
            <a:off x="640080" y="3246120"/>
            <a:ext cx="5029200" cy="777240"/>
          </a:xfrm>
          <a:prstGeom prst="rect">
            <a:avLst/>
          </a:prstGeom>
          <a:noFill/>
          <a:ln/>
        </p:spPr>
        <p:txBody>
          <a:bodyPr wrap="square" lIns="0" tIns="0" rIns="0" bIns="0" rtlCol="0" anchor="ctr"/>
          <a:lstStyle/>
          <a:p>
            <a:pPr marL="0" indent="0">
              <a:lnSpc>
                <a:spcPct val="125000"/>
              </a:lnSpc>
              <a:buNone/>
            </a:pPr>
            <a:r>
              <a:rPr lang="en-US" sz="1350" dirty="0">
                <a:solidFill>
                  <a:srgbClr val="44506B"/>
                </a:solidFill>
                <a:latin typeface="Calibri" pitchFamily="34" charset="0"/>
                <a:ea typeface="Calibri" pitchFamily="34" charset="-122"/>
                <a:cs typeface="Calibri" pitchFamily="34" charset="-120"/>
              </a:rPr>
              <a:t>X resultó ser ruido: su correlación en precios crudos era casi toda espuria — no cointegra con ningún equipo.</a:t>
            </a:r>
            <a:endParaRPr lang="en-US" sz="1350" dirty="0"/>
          </a:p>
        </p:txBody>
      </p:sp>
      <p:sp>
        <p:nvSpPr>
          <p:cNvPr id="6" name="Text 4"/>
          <p:cNvSpPr txBox="1"/>
          <p:nvPr/>
        </p:nvSpPr>
        <p:spPr>
          <a:xfrm>
            <a:off x="640080" y="4114800"/>
            <a:ext cx="5029200" cy="822960"/>
          </a:xfrm>
          <a:prstGeom prst="rect">
            <a:avLst/>
          </a:prstGeom>
          <a:noFill/>
          <a:ln/>
        </p:spPr>
        <p:txBody>
          <a:bodyPr wrap="square" lIns="0" tIns="0" rIns="0" bIns="0" rtlCol="0" anchor="ctr"/>
          <a:lstStyle/>
          <a:p>
            <a:pPr marL="0" indent="0">
              <a:lnSpc>
                <a:spcPct val="125000"/>
              </a:lnSpc>
              <a:buNone/>
            </a:pPr>
            <a:r>
              <a:rPr lang="en-US" sz="1350" dirty="0">
                <a:solidFill>
                  <a:srgbClr val="44506B"/>
                </a:solidFill>
                <a:latin typeface="Calibri" pitchFamily="34" charset="0"/>
                <a:ea typeface="Calibri" pitchFamily="34" charset="-122"/>
                <a:cs typeface="Calibri" pitchFamily="34" charset="-120"/>
              </a:rPr>
              <a:t>El mismo patrón aparece en Engle-Granger, Johansen y CCF (rezago 0). SHAP es la cuarta confirmación — por un camino completamente no lineal.</a:t>
            </a:r>
            <a:endParaRPr lang="en-US" sz="1350" dirty="0"/>
          </a:p>
        </p:txBody>
      </p:sp>
      <p:sp>
        <p:nvSpPr>
          <p:cNvPr id="7" name="Shape 5"/>
          <p:cNvSpPr/>
          <p:nvPr/>
        </p:nvSpPr>
        <p:spPr>
          <a:xfrm>
            <a:off x="5943600" y="1920240"/>
            <a:ext cx="5623560" cy="3246120"/>
          </a:xfrm>
          <a:prstGeom prst="roundRect">
            <a:avLst>
              <a:gd name="adj" fmla="val 2535"/>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8" name="Text 6"/>
          <p:cNvSpPr txBox="1"/>
          <p:nvPr/>
        </p:nvSpPr>
        <p:spPr>
          <a:xfrm>
            <a:off x="6199632" y="2084832"/>
            <a:ext cx="5120640" cy="365760"/>
          </a:xfrm>
          <a:prstGeom prst="rect">
            <a:avLst/>
          </a:prstGeom>
          <a:noFill/>
          <a:ln/>
        </p:spPr>
        <p:txBody>
          <a:bodyPr wrap="square" lIns="0" tIns="0" rIns="0" bIns="0" rtlCol="0" anchor="ctr"/>
          <a:lstStyle/>
          <a:p>
            <a:pPr marL="0" indent="0">
              <a:lnSpc>
                <a:spcPct val="110000"/>
              </a:lnSpc>
              <a:buNone/>
            </a:pPr>
            <a:r>
              <a:rPr lang="en-US" sz="1050" b="1" kern="0" spc="50" dirty="0">
                <a:solidFill>
                  <a:srgbClr val="6B7690"/>
                </a:solidFill>
                <a:latin typeface="Calibri" pitchFamily="34" charset="0"/>
                <a:ea typeface="Calibri" pitchFamily="34" charset="-122"/>
                <a:cs typeface="Calibri" pitchFamily="34" charset="-120"/>
              </a:rPr>
              <a:t>IMPORTANCIA SHAP AGREGADA POR MATERIA PRIMA Y EQUIPO</a:t>
            </a:r>
            <a:endParaRPr lang="en-US" sz="1050" dirty="0"/>
          </a:p>
        </p:txBody>
      </p:sp>
      <p:pic>
        <p:nvPicPr>
          <p:cNvPr id="9" name="Image 0" descr="04_shap.png"/>
          <p:cNvPicPr>
            <a:picLocks noChangeAspect="1"/>
          </p:cNvPicPr>
          <p:nvPr/>
        </p:nvPicPr>
        <p:blipFill>
          <a:blip r:embed="rId3"/>
          <a:stretch>
            <a:fillRect/>
          </a:stretch>
        </p:blipFill>
        <p:spPr>
          <a:xfrm>
            <a:off x="6199632" y="2514600"/>
            <a:ext cx="5120640" cy="2048256"/>
          </a:xfrm>
          <a:prstGeom prst="rect">
            <a:avLst/>
          </a:prstGeom>
        </p:spPr>
      </p:pic>
      <p:sp>
        <p:nvSpPr>
          <p:cNvPr id="10" name="Text 7"/>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11" name="Text 8"/>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789920" cy="1188720"/>
          </a:xfrm>
          <a:prstGeom prst="rect">
            <a:avLst/>
          </a:prstGeom>
          <a:noFill/>
          <a:ln/>
        </p:spPr>
        <p:txBody>
          <a:bodyPr wrap="square" lIns="0" tIns="0" rIns="0" bIns="0" rtlCol="0" anchor="ctr"/>
          <a:lstStyle/>
          <a:p>
            <a:pPr marL="0" indent="0">
              <a:lnSpc>
                <a:spcPct val="102000"/>
              </a:lnSpc>
              <a:buNone/>
            </a:pPr>
            <a:r>
              <a:rPr lang="en-US" sz="2700" b="1" dirty="0">
                <a:solidFill>
                  <a:srgbClr val="1B2A4A"/>
                </a:solidFill>
                <a:latin typeface="Cambria" pitchFamily="34" charset="0"/>
                <a:ea typeface="Cambria" pitchFamily="34" charset="-122"/>
                <a:cs typeface="Cambria" pitchFamily="34" charset="-120"/>
              </a:rPr>
              <a:t>Fase 3 — Cuatro métodos de pronóstico, comparados</a:t>
            </a:r>
            <a:endParaRPr lang="en-US" sz="2700" dirty="0"/>
          </a:p>
        </p:txBody>
      </p:sp>
      <p:sp>
        <p:nvSpPr>
          <p:cNvPr id="3" name="Shape 1"/>
          <p:cNvSpPr/>
          <p:nvPr/>
        </p:nvSpPr>
        <p:spPr>
          <a:xfrm>
            <a:off x="640080" y="1463040"/>
            <a:ext cx="5321808" cy="1691640"/>
          </a:xfrm>
          <a:prstGeom prst="roundRect">
            <a:avLst>
              <a:gd name="adj" fmla="val 4865"/>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4" name="Text 2"/>
          <p:cNvSpPr txBox="1"/>
          <p:nvPr/>
        </p:nvSpPr>
        <p:spPr>
          <a:xfrm>
            <a:off x="896112" y="166420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01</a:t>
            </a:r>
            <a:endParaRPr lang="en-US" sz="1300" dirty="0"/>
          </a:p>
        </p:txBody>
      </p:sp>
      <p:sp>
        <p:nvSpPr>
          <p:cNvPr id="5" name="Text 3"/>
          <p:cNvSpPr txBox="1"/>
          <p:nvPr/>
        </p:nvSpPr>
        <p:spPr>
          <a:xfrm>
            <a:off x="896112" y="1938528"/>
            <a:ext cx="4809744"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Naive (random walk)</a:t>
            </a:r>
            <a:endParaRPr lang="en-US" sz="1450" dirty="0"/>
          </a:p>
        </p:txBody>
      </p:sp>
      <p:sp>
        <p:nvSpPr>
          <p:cNvPr id="6" name="Text 4"/>
          <p:cNvSpPr txBox="1"/>
          <p:nvPr/>
        </p:nvSpPr>
        <p:spPr>
          <a:xfrm>
            <a:off x="896112" y="2414016"/>
            <a:ext cx="4809744" cy="57607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Repite el último precio observado. El piso mínimo: cualquier método serio debe superarlo en backtesting.</a:t>
            </a:r>
            <a:endParaRPr lang="en-US" sz="1150" dirty="0"/>
          </a:p>
        </p:txBody>
      </p:sp>
      <p:sp>
        <p:nvSpPr>
          <p:cNvPr id="7" name="Shape 5"/>
          <p:cNvSpPr/>
          <p:nvPr/>
        </p:nvSpPr>
        <p:spPr>
          <a:xfrm>
            <a:off x="6236208" y="1463040"/>
            <a:ext cx="5321808" cy="1691640"/>
          </a:xfrm>
          <a:prstGeom prst="roundRect">
            <a:avLst>
              <a:gd name="adj" fmla="val 4865"/>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8" name="Text 6"/>
          <p:cNvSpPr txBox="1"/>
          <p:nvPr/>
        </p:nvSpPr>
        <p:spPr>
          <a:xfrm>
            <a:off x="6492240" y="166420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02</a:t>
            </a:r>
            <a:endParaRPr lang="en-US" sz="1300" dirty="0"/>
          </a:p>
        </p:txBody>
      </p:sp>
      <p:sp>
        <p:nvSpPr>
          <p:cNvPr id="9" name="Text 7"/>
          <p:cNvSpPr txBox="1"/>
          <p:nvPr/>
        </p:nvSpPr>
        <p:spPr>
          <a:xfrm>
            <a:off x="6492240" y="1938528"/>
            <a:ext cx="4809744"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Media móvil simple (63 días)</a:t>
            </a:r>
            <a:endParaRPr lang="en-US" sz="1450" dirty="0"/>
          </a:p>
        </p:txBody>
      </p:sp>
      <p:sp>
        <p:nvSpPr>
          <p:cNvPr id="10" name="Text 8"/>
          <p:cNvSpPr txBox="1"/>
          <p:nvPr/>
        </p:nvSpPr>
        <p:spPr>
          <a:xfrm>
            <a:off x="6492240" y="2414016"/>
            <a:ext cx="4809744" cy="57607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Promedio de los últimos 3 meses. La opción más intuitiva — y la que el texto inyectado en el PDF trataba de imponer como respuesta correcta.</a:t>
            </a:r>
            <a:endParaRPr lang="en-US" sz="1150" dirty="0"/>
          </a:p>
        </p:txBody>
      </p:sp>
      <p:sp>
        <p:nvSpPr>
          <p:cNvPr id="11" name="Shape 9"/>
          <p:cNvSpPr/>
          <p:nvPr/>
        </p:nvSpPr>
        <p:spPr>
          <a:xfrm>
            <a:off x="640080" y="3383280"/>
            <a:ext cx="5321808" cy="1691640"/>
          </a:xfrm>
          <a:prstGeom prst="roundRect">
            <a:avLst>
              <a:gd name="adj" fmla="val 4865"/>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12" name="Text 10"/>
          <p:cNvSpPr txBox="1"/>
          <p:nvPr/>
        </p:nvSpPr>
        <p:spPr>
          <a:xfrm>
            <a:off x="896112" y="358444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03</a:t>
            </a:r>
            <a:endParaRPr lang="en-US" sz="1300" dirty="0"/>
          </a:p>
        </p:txBody>
      </p:sp>
      <p:sp>
        <p:nvSpPr>
          <p:cNvPr id="13" name="Text 11"/>
          <p:cNvSpPr txBox="1"/>
          <p:nvPr/>
        </p:nvSpPr>
        <p:spPr>
          <a:xfrm>
            <a:off x="896112" y="3858768"/>
            <a:ext cx="4809744"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ARIMA / SARIMAX</a:t>
            </a:r>
            <a:endParaRPr lang="en-US" sz="1450" dirty="0"/>
          </a:p>
        </p:txBody>
      </p:sp>
      <p:sp>
        <p:nvSpPr>
          <p:cNvPr id="14" name="Text 12"/>
          <p:cNvSpPr txBox="1"/>
          <p:nvPr/>
        </p:nvSpPr>
        <p:spPr>
          <a:xfrm>
            <a:off x="896112" y="4334256"/>
            <a:ext cx="4809744" cy="57607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Orden (p,d,q) elegido por AIC mínimo entre 6 combinaciones candidatas, ajustado sobre el logaritmo del precio.</a:t>
            </a:r>
            <a:endParaRPr lang="en-US" sz="1150" dirty="0"/>
          </a:p>
        </p:txBody>
      </p:sp>
      <p:sp>
        <p:nvSpPr>
          <p:cNvPr id="15" name="Shape 13"/>
          <p:cNvSpPr/>
          <p:nvPr/>
        </p:nvSpPr>
        <p:spPr>
          <a:xfrm>
            <a:off x="6236208" y="3383280"/>
            <a:ext cx="5321808" cy="1691640"/>
          </a:xfrm>
          <a:prstGeom prst="roundRect">
            <a:avLst>
              <a:gd name="adj" fmla="val 4865"/>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16" name="Text 14"/>
          <p:cNvSpPr txBox="1"/>
          <p:nvPr/>
        </p:nvSpPr>
        <p:spPr>
          <a:xfrm>
            <a:off x="6492240" y="3584448"/>
            <a:ext cx="548640" cy="292608"/>
          </a:xfrm>
          <a:prstGeom prst="rect">
            <a:avLst/>
          </a:prstGeom>
          <a:noFill/>
          <a:ln/>
        </p:spPr>
        <p:txBody>
          <a:bodyPr wrap="square" lIns="0" tIns="0" rIns="0" bIns="0" rtlCol="0" anchor="ctr"/>
          <a:lstStyle/>
          <a:p>
            <a:pPr marL="0" indent="0">
              <a:buNone/>
            </a:pPr>
            <a:r>
              <a:rPr lang="en-US" sz="1300" b="1" dirty="0">
                <a:solidFill>
                  <a:srgbClr val="2A5CAA"/>
                </a:solidFill>
                <a:latin typeface="Calibri" pitchFamily="34" charset="0"/>
                <a:ea typeface="Calibri" pitchFamily="34" charset="-122"/>
                <a:cs typeface="Calibri" pitchFamily="34" charset="-120"/>
              </a:rPr>
              <a:t>04</a:t>
            </a:r>
            <a:endParaRPr lang="en-US" sz="1300" dirty="0"/>
          </a:p>
        </p:txBody>
      </p:sp>
      <p:sp>
        <p:nvSpPr>
          <p:cNvPr id="17" name="Text 15"/>
          <p:cNvSpPr txBox="1"/>
          <p:nvPr/>
        </p:nvSpPr>
        <p:spPr>
          <a:xfrm>
            <a:off x="6492240" y="3858768"/>
            <a:ext cx="4809744" cy="457200"/>
          </a:xfrm>
          <a:prstGeom prst="rect">
            <a:avLst/>
          </a:prstGeom>
          <a:noFill/>
          <a:ln/>
        </p:spPr>
        <p:txBody>
          <a:bodyPr wrap="square" lIns="0" tIns="0" rIns="0" bIns="0" rtlCol="0" anchor="ctr"/>
          <a:lstStyle/>
          <a:p>
            <a:pPr marL="0" indent="0">
              <a:lnSpc>
                <a:spcPct val="105000"/>
              </a:lnSpc>
              <a:buNone/>
            </a:pPr>
            <a:r>
              <a:rPr lang="en-US" sz="1450" b="1" dirty="0">
                <a:solidFill>
                  <a:srgbClr val="1B2A4A"/>
                </a:solidFill>
                <a:latin typeface="Calibri" pitchFamily="34" charset="0"/>
                <a:ea typeface="Calibri" pitchFamily="34" charset="-122"/>
                <a:cs typeface="Calibri" pitchFamily="34" charset="-120"/>
              </a:rPr>
              <a:t>VECM (Vector Error Correction Model)</a:t>
            </a:r>
            <a:endParaRPr lang="en-US" sz="1450" dirty="0"/>
          </a:p>
        </p:txBody>
      </p:sp>
      <p:sp>
        <p:nvSpPr>
          <p:cNvPr id="18" name="Text 16"/>
          <p:cNvSpPr txBox="1"/>
          <p:nvPr/>
        </p:nvSpPr>
        <p:spPr>
          <a:xfrm>
            <a:off x="6492240" y="4334256"/>
            <a:ext cx="4809744" cy="576072"/>
          </a:xfrm>
          <a:prstGeom prst="rect">
            <a:avLst/>
          </a:prstGeom>
          <a:noFill/>
          <a:ln/>
        </p:spPr>
        <p:txBody>
          <a:bodyPr wrap="square" lIns="0" tIns="0" rIns="0" bIns="0" rtlCol="0" anchor="t"/>
          <a:lstStyle/>
          <a:p>
            <a:pPr marL="0" indent="0">
              <a:lnSpc>
                <a:spcPct val="120000"/>
              </a:lnSpc>
              <a:buNone/>
            </a:pPr>
            <a:r>
              <a:rPr lang="en-US" sz="1150" dirty="0">
                <a:solidFill>
                  <a:srgbClr val="44506B"/>
                </a:solidFill>
                <a:latin typeface="Calibri" pitchFamily="34" charset="0"/>
                <a:ea typeface="Calibri" pitchFamily="34" charset="-122"/>
                <a:cs typeface="Calibri" pitchFamily="34" charset="-120"/>
              </a:rPr>
              <a:t>Modelo multivariado (insumo dominante + equipo) que usa la cointegración de la Fase 2: corrige hacia el equilibrio cuando el precio se desvía.</a:t>
            </a:r>
            <a:endParaRPr lang="en-US" sz="1150" dirty="0"/>
          </a:p>
        </p:txBody>
      </p:sp>
      <p:sp>
        <p:nvSpPr>
          <p:cNvPr id="19" name="Text 17"/>
          <p:cNvSpPr txBox="1"/>
          <p:nvPr/>
        </p:nvSpPr>
        <p:spPr>
          <a:xfrm>
            <a:off x="640080" y="5276088"/>
            <a:ext cx="10515600" cy="365760"/>
          </a:xfrm>
          <a:prstGeom prst="rect">
            <a:avLst/>
          </a:prstGeom>
          <a:noFill/>
          <a:ln/>
        </p:spPr>
        <p:txBody>
          <a:bodyPr wrap="square" lIns="0" tIns="0" rIns="0" bIns="0" rtlCol="0" anchor="ctr"/>
          <a:lstStyle/>
          <a:p>
            <a:pPr marL="0" indent="0">
              <a:buNone/>
            </a:pPr>
            <a:r>
              <a:rPr lang="en-US" sz="1500" i="1" dirty="0">
                <a:solidFill>
                  <a:srgbClr val="44506B"/>
                </a:solidFill>
                <a:latin typeface="Calibri" pitchFamily="34" charset="0"/>
                <a:ea typeface="Calibri" pitchFamily="34" charset="-122"/>
                <a:cs typeface="Calibri" pitchFamily="34" charset="-120"/>
              </a:rPr>
              <a:t>Los 4 se probaron contra lo que realmente pasó — no contra lo que parecía razonable.</a:t>
            </a:r>
            <a:endParaRPr lang="en-US" sz="1500" dirty="0"/>
          </a:p>
        </p:txBody>
      </p:sp>
      <p:sp>
        <p:nvSpPr>
          <p:cNvPr id="20" name="Text 18"/>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21" name="Text 19"/>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789920" cy="1188720"/>
          </a:xfrm>
          <a:prstGeom prst="rect">
            <a:avLst/>
          </a:prstGeom>
          <a:noFill/>
          <a:ln/>
        </p:spPr>
        <p:txBody>
          <a:bodyPr wrap="square" lIns="0" tIns="0" rIns="0" bIns="0" rtlCol="0" anchor="ctr"/>
          <a:lstStyle/>
          <a:p>
            <a:pPr marL="0" indent="0">
              <a:lnSpc>
                <a:spcPct val="102000"/>
              </a:lnSpc>
              <a:buNone/>
            </a:pPr>
            <a:r>
              <a:rPr lang="en-US" sz="2700" b="1" dirty="0">
                <a:solidFill>
                  <a:srgbClr val="1B2A4A"/>
                </a:solidFill>
                <a:latin typeface="Cambria" pitchFamily="34" charset="0"/>
                <a:ea typeface="Cambria" pitchFamily="34" charset="-122"/>
                <a:cs typeface="Cambria" pitchFamily="34" charset="-120"/>
              </a:rPr>
              <a:t>Cómo se validó — backtesting de origen rodante</a:t>
            </a:r>
            <a:endParaRPr lang="en-US" sz="2700" dirty="0"/>
          </a:p>
        </p:txBody>
      </p:sp>
      <p:sp>
        <p:nvSpPr>
          <p:cNvPr id="3" name="Shape 1"/>
          <p:cNvSpPr/>
          <p:nvPr/>
        </p:nvSpPr>
        <p:spPr>
          <a:xfrm>
            <a:off x="685800" y="1618488"/>
            <a:ext cx="256032" cy="256032"/>
          </a:xfrm>
          <a:prstGeom prst="ellipse">
            <a:avLst/>
          </a:prstGeom>
          <a:solidFill>
            <a:srgbClr val="FFFFFF"/>
          </a:solidFill>
          <a:ln w="22225">
            <a:solidFill>
              <a:srgbClr val="E0640F"/>
            </a:solidFill>
            <a:prstDash val="solid"/>
          </a:ln>
        </p:spPr>
        <p:txBody>
          <a:bodyPr/>
          <a:lstStyle/>
          <a:p>
            <a:endParaRPr lang="es-CO"/>
          </a:p>
        </p:txBody>
      </p:sp>
      <p:sp>
        <p:nvSpPr>
          <p:cNvPr id="4" name="Text 2"/>
          <p:cNvSpPr txBox="1"/>
          <p:nvPr/>
        </p:nvSpPr>
        <p:spPr>
          <a:xfrm>
            <a:off x="685800" y="160477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143000" y="1600200"/>
            <a:ext cx="4709160" cy="822960"/>
          </a:xfrm>
          <a:prstGeom prst="rect">
            <a:avLst/>
          </a:prstGeom>
          <a:noFill/>
          <a:ln/>
        </p:spPr>
        <p:txBody>
          <a:bodyPr wrap="square" lIns="0" tIns="0" rIns="0" bIns="0" rtlCol="0" anchor="t"/>
          <a:lstStyle/>
          <a:p>
            <a:pPr marL="0" indent="0">
              <a:lnSpc>
                <a:spcPct val="118000"/>
              </a:lnSpc>
              <a:buNone/>
            </a:pPr>
            <a:r>
              <a:rPr lang="en-US" sz="1300" dirty="0">
                <a:solidFill>
                  <a:srgbClr val="44506B"/>
                </a:solidFill>
                <a:latin typeface="Calibri" pitchFamily="34" charset="0"/>
                <a:ea typeface="Calibri" pitchFamily="34" charset="-122"/>
                <a:cs typeface="Calibri" pitchFamily="34" charset="-120"/>
              </a:rPr>
              <a:t>504 días hábiles (~2 años) reservados exclusivamente para prueba — nunca vistos durante el ajuste.</a:t>
            </a:r>
            <a:endParaRPr lang="en-US" sz="1300" dirty="0"/>
          </a:p>
        </p:txBody>
      </p:sp>
      <p:sp>
        <p:nvSpPr>
          <p:cNvPr id="6" name="Shape 4"/>
          <p:cNvSpPr/>
          <p:nvPr/>
        </p:nvSpPr>
        <p:spPr>
          <a:xfrm>
            <a:off x="685800" y="2532888"/>
            <a:ext cx="256032" cy="256032"/>
          </a:xfrm>
          <a:prstGeom prst="ellipse">
            <a:avLst/>
          </a:prstGeom>
          <a:solidFill>
            <a:srgbClr val="FFFFFF"/>
          </a:solidFill>
          <a:ln w="22225">
            <a:solidFill>
              <a:srgbClr val="E0640F"/>
            </a:solidFill>
            <a:prstDash val="solid"/>
          </a:ln>
        </p:spPr>
        <p:txBody>
          <a:bodyPr/>
          <a:lstStyle/>
          <a:p>
            <a:endParaRPr lang="es-CO"/>
          </a:p>
        </p:txBody>
      </p:sp>
      <p:sp>
        <p:nvSpPr>
          <p:cNvPr id="7" name="Text 5"/>
          <p:cNvSpPr txBox="1"/>
          <p:nvPr/>
        </p:nvSpPr>
        <p:spPr>
          <a:xfrm>
            <a:off x="685800" y="251917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143000" y="2514600"/>
            <a:ext cx="4709160" cy="822960"/>
          </a:xfrm>
          <a:prstGeom prst="rect">
            <a:avLst/>
          </a:prstGeom>
          <a:noFill/>
          <a:ln/>
        </p:spPr>
        <p:txBody>
          <a:bodyPr wrap="square" lIns="0" tIns="0" rIns="0" bIns="0" rtlCol="0" anchor="t"/>
          <a:lstStyle/>
          <a:p>
            <a:pPr marL="0" indent="0">
              <a:lnSpc>
                <a:spcPct val="118000"/>
              </a:lnSpc>
              <a:buNone/>
            </a:pPr>
            <a:r>
              <a:rPr lang="en-US" sz="1300" dirty="0">
                <a:solidFill>
                  <a:srgbClr val="44506B"/>
                </a:solidFill>
                <a:latin typeface="Calibri" pitchFamily="34" charset="0"/>
                <a:ea typeface="Calibri" pitchFamily="34" charset="-122"/>
                <a:cs typeface="Calibri" pitchFamily="34" charset="-120"/>
              </a:rPr>
              <a:t>Un nuevo "origen" de pronóstico cada 21 días — múltiples ventanas de prueba, no una sola.</a:t>
            </a:r>
            <a:endParaRPr lang="en-US" sz="1300" dirty="0"/>
          </a:p>
        </p:txBody>
      </p:sp>
      <p:sp>
        <p:nvSpPr>
          <p:cNvPr id="9" name="Shape 7"/>
          <p:cNvSpPr/>
          <p:nvPr/>
        </p:nvSpPr>
        <p:spPr>
          <a:xfrm>
            <a:off x="685800" y="3447288"/>
            <a:ext cx="256032" cy="256032"/>
          </a:xfrm>
          <a:prstGeom prst="ellipse">
            <a:avLst/>
          </a:prstGeom>
          <a:solidFill>
            <a:srgbClr val="FFFFFF"/>
          </a:solidFill>
          <a:ln w="22225">
            <a:solidFill>
              <a:srgbClr val="E0640F"/>
            </a:solidFill>
            <a:prstDash val="solid"/>
          </a:ln>
        </p:spPr>
        <p:txBody>
          <a:bodyPr/>
          <a:lstStyle/>
          <a:p>
            <a:endParaRPr lang="es-CO"/>
          </a:p>
        </p:txBody>
      </p:sp>
      <p:sp>
        <p:nvSpPr>
          <p:cNvPr id="10" name="Text 8"/>
          <p:cNvSpPr txBox="1"/>
          <p:nvPr/>
        </p:nvSpPr>
        <p:spPr>
          <a:xfrm>
            <a:off x="685800" y="343357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143000" y="3429000"/>
            <a:ext cx="4709160" cy="822960"/>
          </a:xfrm>
          <a:prstGeom prst="rect">
            <a:avLst/>
          </a:prstGeom>
          <a:noFill/>
          <a:ln/>
        </p:spPr>
        <p:txBody>
          <a:bodyPr wrap="square" lIns="0" tIns="0" rIns="0" bIns="0" rtlCol="0" anchor="t"/>
          <a:lstStyle/>
          <a:p>
            <a:pPr marL="0" indent="0">
              <a:lnSpc>
                <a:spcPct val="118000"/>
              </a:lnSpc>
              <a:buNone/>
            </a:pPr>
            <a:r>
              <a:rPr lang="en-US" sz="1300" dirty="0">
                <a:solidFill>
                  <a:srgbClr val="44506B"/>
                </a:solidFill>
                <a:latin typeface="Calibri" pitchFamily="34" charset="0"/>
                <a:ea typeface="Calibri" pitchFamily="34" charset="-122"/>
                <a:cs typeface="Calibri" pitchFamily="34" charset="-120"/>
              </a:rPr>
              <a:t>3 horizontes evaluados por origen: 1, 3 y 6 meses — el error se mide por separado en cada uno.</a:t>
            </a:r>
            <a:endParaRPr lang="en-US" sz="1300" dirty="0"/>
          </a:p>
        </p:txBody>
      </p:sp>
      <p:sp>
        <p:nvSpPr>
          <p:cNvPr id="12" name="Shape 10"/>
          <p:cNvSpPr/>
          <p:nvPr/>
        </p:nvSpPr>
        <p:spPr>
          <a:xfrm>
            <a:off x="685800" y="4361688"/>
            <a:ext cx="256032" cy="256032"/>
          </a:xfrm>
          <a:prstGeom prst="ellipse">
            <a:avLst/>
          </a:prstGeom>
          <a:solidFill>
            <a:srgbClr val="FFFFFF"/>
          </a:solidFill>
          <a:ln w="22225">
            <a:solidFill>
              <a:srgbClr val="E0640F"/>
            </a:solidFill>
            <a:prstDash val="solid"/>
          </a:ln>
        </p:spPr>
        <p:txBody>
          <a:bodyPr/>
          <a:lstStyle/>
          <a:p>
            <a:endParaRPr lang="es-CO"/>
          </a:p>
        </p:txBody>
      </p:sp>
      <p:sp>
        <p:nvSpPr>
          <p:cNvPr id="13" name="Text 11"/>
          <p:cNvSpPr txBox="1"/>
          <p:nvPr/>
        </p:nvSpPr>
        <p:spPr>
          <a:xfrm>
            <a:off x="685800" y="434797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143000" y="4343400"/>
            <a:ext cx="4709160" cy="822960"/>
          </a:xfrm>
          <a:prstGeom prst="rect">
            <a:avLst/>
          </a:prstGeom>
          <a:noFill/>
          <a:ln/>
        </p:spPr>
        <p:txBody>
          <a:bodyPr wrap="square" lIns="0" tIns="0" rIns="0" bIns="0" rtlCol="0" anchor="t"/>
          <a:lstStyle/>
          <a:p>
            <a:pPr marL="0" indent="0">
              <a:lnSpc>
                <a:spcPct val="118000"/>
              </a:lnSpc>
              <a:buNone/>
            </a:pPr>
            <a:r>
              <a:rPr lang="en-US" sz="1300" dirty="0">
                <a:solidFill>
                  <a:srgbClr val="44506B"/>
                </a:solidFill>
                <a:latin typeface="Calibri" pitchFamily="34" charset="0"/>
                <a:ea typeface="Calibri" pitchFamily="34" charset="-122"/>
                <a:cs typeface="Calibri" pitchFamily="34" charset="-120"/>
              </a:rPr>
              <a:t>Métrica: MAPE (y también MAE, RMSE) comparando el pronóstico contra el precio real ya observado.</a:t>
            </a:r>
            <a:endParaRPr lang="en-US" sz="1300" dirty="0"/>
          </a:p>
        </p:txBody>
      </p:sp>
      <p:sp>
        <p:nvSpPr>
          <p:cNvPr id="15" name="Shape 13"/>
          <p:cNvSpPr/>
          <p:nvPr/>
        </p:nvSpPr>
        <p:spPr>
          <a:xfrm>
            <a:off x="5989320" y="1463040"/>
            <a:ext cx="5577840" cy="3931920"/>
          </a:xfrm>
          <a:prstGeom prst="roundRect">
            <a:avLst>
              <a:gd name="adj" fmla="val 2093"/>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16" name="Text 14"/>
          <p:cNvSpPr txBox="1"/>
          <p:nvPr/>
        </p:nvSpPr>
        <p:spPr>
          <a:xfrm>
            <a:off x="6245352" y="1627632"/>
            <a:ext cx="5074920" cy="274320"/>
          </a:xfrm>
          <a:prstGeom prst="rect">
            <a:avLst/>
          </a:prstGeom>
          <a:noFill/>
          <a:ln/>
        </p:spPr>
        <p:txBody>
          <a:bodyPr wrap="square" lIns="0" tIns="0" rIns="0" bIns="0" rtlCol="0" anchor="ctr"/>
          <a:lstStyle/>
          <a:p>
            <a:pPr marL="0" indent="0">
              <a:buNone/>
            </a:pPr>
            <a:r>
              <a:rPr lang="en-US" sz="1050" b="1" kern="0" spc="50" dirty="0">
                <a:solidFill>
                  <a:srgbClr val="6B7690"/>
                </a:solidFill>
                <a:latin typeface="Calibri" pitchFamily="34" charset="0"/>
                <a:ea typeface="Calibri" pitchFamily="34" charset="-122"/>
                <a:cs typeface="Calibri" pitchFamily="34" charset="-120"/>
              </a:rPr>
              <a:t>ERROR DE PRONÓSTICO (MAPE) POR MÉTODO Y HORIZONTE</a:t>
            </a:r>
            <a:endParaRPr lang="en-US" sz="1050" dirty="0"/>
          </a:p>
        </p:txBody>
      </p:sp>
      <p:pic>
        <p:nvPicPr>
          <p:cNvPr id="17" name="Image 0" descr="05_backtest_mape.png"/>
          <p:cNvPicPr>
            <a:picLocks noChangeAspect="1"/>
          </p:cNvPicPr>
          <p:nvPr/>
        </p:nvPicPr>
        <p:blipFill>
          <a:blip r:embed="rId3"/>
          <a:stretch>
            <a:fillRect/>
          </a:stretch>
        </p:blipFill>
        <p:spPr>
          <a:xfrm>
            <a:off x="6245352" y="1920240"/>
            <a:ext cx="5074920" cy="1987826"/>
          </a:xfrm>
          <a:prstGeom prst="rect">
            <a:avLst/>
          </a:prstGeom>
        </p:spPr>
      </p:pic>
      <p:sp>
        <p:nvSpPr>
          <p:cNvPr id="18" name="Shape 15"/>
          <p:cNvSpPr/>
          <p:nvPr/>
        </p:nvSpPr>
        <p:spPr>
          <a:xfrm>
            <a:off x="640080" y="5394960"/>
            <a:ext cx="10927080" cy="777240"/>
          </a:xfrm>
          <a:prstGeom prst="roundRect">
            <a:avLst>
              <a:gd name="adj" fmla="val 10588"/>
            </a:avLst>
          </a:prstGeom>
          <a:solidFill>
            <a:srgbClr val="1B2A4A"/>
          </a:solidFill>
          <a:ln w="12700">
            <a:solidFill>
              <a:srgbClr val="1B2A4A"/>
            </a:solidFill>
            <a:prstDash val="solid"/>
          </a:ln>
        </p:spPr>
        <p:txBody>
          <a:bodyPr/>
          <a:lstStyle/>
          <a:p>
            <a:endParaRPr lang="es-CO"/>
          </a:p>
        </p:txBody>
      </p:sp>
      <p:sp>
        <p:nvSpPr>
          <p:cNvPr id="19" name="Text 16"/>
          <p:cNvSpPr txBox="1"/>
          <p:nvPr/>
        </p:nvSpPr>
        <p:spPr>
          <a:xfrm>
            <a:off x="960120" y="5394960"/>
            <a:ext cx="10287000" cy="777240"/>
          </a:xfrm>
          <a:prstGeom prst="rect">
            <a:avLst/>
          </a:prstGeom>
          <a:noFill/>
          <a:ln/>
        </p:spPr>
        <p:txBody>
          <a:bodyPr wrap="square" lIns="0" tIns="0" rIns="0" bIns="0" rtlCol="0" anchor="ctr"/>
          <a:lstStyle/>
          <a:p>
            <a:pPr marL="0" indent="0">
              <a:buNone/>
            </a:pPr>
            <a:r>
              <a:rPr lang="en-US" sz="1300" b="1" dirty="0">
                <a:solidFill>
                  <a:srgbClr val="E0640F"/>
                </a:solidFill>
                <a:latin typeface="Calibri" pitchFamily="34" charset="0"/>
                <a:ea typeface="Calibri" pitchFamily="34" charset="-122"/>
                <a:cs typeface="Calibri" pitchFamily="34" charset="-120"/>
              </a:rPr>
              <a:t>✓  </a:t>
            </a:r>
            <a:r>
              <a:rPr lang="en-US" sz="1300" b="1" dirty="0">
                <a:solidFill>
                  <a:srgbClr val="F7F5EF"/>
                </a:solidFill>
                <a:latin typeface="Calibri" pitchFamily="34" charset="0"/>
                <a:ea typeface="Calibri" pitchFamily="34" charset="-122"/>
                <a:cs typeface="Calibri" pitchFamily="34" charset="-120"/>
              </a:rPr>
              <a:t>La media móvil nunca ganó en las 6 combinaciones equipo × horizonte. El horizonte final usa el más largo en el que el ganador sigue siendo ARIMA o VECM.</a:t>
            </a:r>
            <a:endParaRPr lang="en-US" sz="1300" dirty="0"/>
          </a:p>
        </p:txBody>
      </p:sp>
      <p:sp>
        <p:nvSpPr>
          <p:cNvPr id="20" name="Text 17"/>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21" name="Text 18"/>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789920" cy="1188720"/>
          </a:xfrm>
          <a:prstGeom prst="rect">
            <a:avLst/>
          </a:prstGeom>
          <a:noFill/>
          <a:ln/>
        </p:spPr>
        <p:txBody>
          <a:bodyPr wrap="square" lIns="0" tIns="0" rIns="0" bIns="0" rtlCol="0" anchor="ctr"/>
          <a:lstStyle/>
          <a:p>
            <a:pPr marL="0" indent="0">
              <a:lnSpc>
                <a:spcPct val="102000"/>
              </a:lnSpc>
              <a:buNone/>
            </a:pPr>
            <a:r>
              <a:rPr lang="en-US" sz="2700" b="1" dirty="0">
                <a:solidFill>
                  <a:srgbClr val="1B2A4A"/>
                </a:solidFill>
                <a:latin typeface="Cambria" pitchFamily="34" charset="0"/>
                <a:ea typeface="Cambria" pitchFamily="34" charset="-122"/>
                <a:cs typeface="Cambria" pitchFamily="34" charset="-120"/>
              </a:rPr>
              <a:t>El pronóstico final, con incertidumbre honesta</a:t>
            </a:r>
            <a:endParaRPr lang="en-US" sz="2700" dirty="0"/>
          </a:p>
        </p:txBody>
      </p:sp>
      <p:sp>
        <p:nvSpPr>
          <p:cNvPr id="3" name="Shape 1"/>
          <p:cNvSpPr/>
          <p:nvPr/>
        </p:nvSpPr>
        <p:spPr>
          <a:xfrm>
            <a:off x="685800" y="1709928"/>
            <a:ext cx="256032" cy="256032"/>
          </a:xfrm>
          <a:prstGeom prst="ellipse">
            <a:avLst/>
          </a:prstGeom>
          <a:solidFill>
            <a:srgbClr val="FFFFFF"/>
          </a:solidFill>
          <a:ln w="22225">
            <a:solidFill>
              <a:srgbClr val="E0640F"/>
            </a:solidFill>
            <a:prstDash val="solid"/>
          </a:ln>
        </p:spPr>
        <p:txBody>
          <a:bodyPr/>
          <a:lstStyle/>
          <a:p>
            <a:endParaRPr lang="es-CO"/>
          </a:p>
        </p:txBody>
      </p:sp>
      <p:sp>
        <p:nvSpPr>
          <p:cNvPr id="4" name="Text 2"/>
          <p:cNvSpPr txBox="1"/>
          <p:nvPr/>
        </p:nvSpPr>
        <p:spPr>
          <a:xfrm>
            <a:off x="685800" y="169621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143000" y="1691640"/>
            <a:ext cx="4709160" cy="914400"/>
          </a:xfrm>
          <a:prstGeom prst="rect">
            <a:avLst/>
          </a:prstGeom>
          <a:noFill/>
          <a:ln/>
        </p:spPr>
        <p:txBody>
          <a:bodyPr wrap="square" lIns="0" tIns="0" rIns="0" bIns="0" rtlCol="0" anchor="t"/>
          <a:lstStyle/>
          <a:p>
            <a:pPr marL="0" indent="0">
              <a:lnSpc>
                <a:spcPct val="120000"/>
              </a:lnSpc>
              <a:buNone/>
            </a:pPr>
            <a:r>
              <a:rPr lang="en-US" sz="1350" dirty="0">
                <a:solidFill>
                  <a:srgbClr val="44506B"/>
                </a:solidFill>
                <a:latin typeface="Calibri" pitchFamily="34" charset="0"/>
                <a:ea typeface="Calibri" pitchFamily="34" charset="-122"/>
                <a:cs typeface="Calibri" pitchFamily="34" charset="-120"/>
              </a:rPr>
              <a:t>Equipo1: gana VECM a 3 meses — el horizonte más largo en el que sigue superando a naive y media móvil.</a:t>
            </a:r>
            <a:endParaRPr lang="en-US" sz="1350" dirty="0"/>
          </a:p>
        </p:txBody>
      </p:sp>
      <p:sp>
        <p:nvSpPr>
          <p:cNvPr id="6" name="Shape 4"/>
          <p:cNvSpPr/>
          <p:nvPr/>
        </p:nvSpPr>
        <p:spPr>
          <a:xfrm>
            <a:off x="685800" y="2761488"/>
            <a:ext cx="256032" cy="256032"/>
          </a:xfrm>
          <a:prstGeom prst="ellipse">
            <a:avLst/>
          </a:prstGeom>
          <a:solidFill>
            <a:srgbClr val="FFFFFF"/>
          </a:solidFill>
          <a:ln w="22225">
            <a:solidFill>
              <a:srgbClr val="E0640F"/>
            </a:solidFill>
            <a:prstDash val="solid"/>
          </a:ln>
        </p:spPr>
        <p:txBody>
          <a:bodyPr/>
          <a:lstStyle/>
          <a:p>
            <a:endParaRPr lang="es-CO"/>
          </a:p>
        </p:txBody>
      </p:sp>
      <p:sp>
        <p:nvSpPr>
          <p:cNvPr id="7" name="Text 5"/>
          <p:cNvSpPr txBox="1"/>
          <p:nvPr/>
        </p:nvSpPr>
        <p:spPr>
          <a:xfrm>
            <a:off x="685800" y="274777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143000" y="2743200"/>
            <a:ext cx="4709160" cy="914400"/>
          </a:xfrm>
          <a:prstGeom prst="rect">
            <a:avLst/>
          </a:prstGeom>
          <a:noFill/>
          <a:ln/>
        </p:spPr>
        <p:txBody>
          <a:bodyPr wrap="square" lIns="0" tIns="0" rIns="0" bIns="0" rtlCol="0" anchor="t"/>
          <a:lstStyle/>
          <a:p>
            <a:pPr marL="0" indent="0">
              <a:lnSpc>
                <a:spcPct val="120000"/>
              </a:lnSpc>
              <a:buNone/>
            </a:pPr>
            <a:r>
              <a:rPr lang="en-US" sz="1350" dirty="0">
                <a:solidFill>
                  <a:srgbClr val="44506B"/>
                </a:solidFill>
                <a:latin typeface="Calibri" pitchFamily="34" charset="0"/>
                <a:ea typeface="Calibri" pitchFamily="34" charset="-122"/>
                <a:cs typeface="Calibri" pitchFamily="34" charset="-120"/>
              </a:rPr>
              <a:t>Equipo2: gana VECM a 1 mes — más allá de eso deja de aportar sobre no pronosticar nada.</a:t>
            </a:r>
            <a:endParaRPr lang="en-US" sz="1350" dirty="0"/>
          </a:p>
        </p:txBody>
      </p:sp>
      <p:sp>
        <p:nvSpPr>
          <p:cNvPr id="9" name="Shape 7"/>
          <p:cNvSpPr/>
          <p:nvPr/>
        </p:nvSpPr>
        <p:spPr>
          <a:xfrm>
            <a:off x="685800" y="3813048"/>
            <a:ext cx="256032" cy="256032"/>
          </a:xfrm>
          <a:prstGeom prst="ellipse">
            <a:avLst/>
          </a:prstGeom>
          <a:solidFill>
            <a:srgbClr val="FFFFFF"/>
          </a:solidFill>
          <a:ln w="22225">
            <a:solidFill>
              <a:srgbClr val="E0640F"/>
            </a:solidFill>
            <a:prstDash val="solid"/>
          </a:ln>
        </p:spPr>
        <p:txBody>
          <a:bodyPr/>
          <a:lstStyle/>
          <a:p>
            <a:endParaRPr lang="es-CO"/>
          </a:p>
        </p:txBody>
      </p:sp>
      <p:sp>
        <p:nvSpPr>
          <p:cNvPr id="10" name="Text 8"/>
          <p:cNvSpPr txBox="1"/>
          <p:nvPr/>
        </p:nvSpPr>
        <p:spPr>
          <a:xfrm>
            <a:off x="685800" y="379933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143000" y="3794760"/>
            <a:ext cx="4709160" cy="914400"/>
          </a:xfrm>
          <a:prstGeom prst="rect">
            <a:avLst/>
          </a:prstGeom>
          <a:noFill/>
          <a:ln/>
        </p:spPr>
        <p:txBody>
          <a:bodyPr wrap="square" lIns="0" tIns="0" rIns="0" bIns="0" rtlCol="0" anchor="t"/>
          <a:lstStyle/>
          <a:p>
            <a:pPr marL="0" indent="0">
              <a:lnSpc>
                <a:spcPct val="120000"/>
              </a:lnSpc>
              <a:buNone/>
            </a:pPr>
            <a:r>
              <a:rPr lang="en-US" sz="1350" dirty="0">
                <a:solidFill>
                  <a:srgbClr val="44506B"/>
                </a:solidFill>
                <a:latin typeface="Calibri" pitchFamily="34" charset="0"/>
                <a:ea typeface="Calibri" pitchFamily="34" charset="-122"/>
                <a:cs typeface="Calibri" pitchFamily="34" charset="-120"/>
              </a:rPr>
              <a:t>La banda de incertidumbre sale del percentil 5–95 del error real del método en backtesting — no de una fórmula teórica del modelo.</a:t>
            </a:r>
            <a:endParaRPr lang="en-US" sz="1350" dirty="0"/>
          </a:p>
        </p:txBody>
      </p:sp>
      <p:sp>
        <p:nvSpPr>
          <p:cNvPr id="12" name="Shape 10"/>
          <p:cNvSpPr/>
          <p:nvPr/>
        </p:nvSpPr>
        <p:spPr>
          <a:xfrm>
            <a:off x="5989320" y="1554480"/>
            <a:ext cx="5577840" cy="4206240"/>
          </a:xfrm>
          <a:prstGeom prst="roundRect">
            <a:avLst>
              <a:gd name="adj" fmla="val 1957"/>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13" name="Text 11"/>
          <p:cNvSpPr txBox="1"/>
          <p:nvPr/>
        </p:nvSpPr>
        <p:spPr>
          <a:xfrm>
            <a:off x="6245352" y="1719072"/>
            <a:ext cx="5074920" cy="411480"/>
          </a:xfrm>
          <a:prstGeom prst="rect">
            <a:avLst/>
          </a:prstGeom>
          <a:noFill/>
          <a:ln/>
        </p:spPr>
        <p:txBody>
          <a:bodyPr wrap="square" lIns="0" tIns="0" rIns="0" bIns="0" rtlCol="0" anchor="ctr"/>
          <a:lstStyle/>
          <a:p>
            <a:pPr marL="0" indent="0">
              <a:lnSpc>
                <a:spcPct val="110000"/>
              </a:lnSpc>
              <a:buNone/>
            </a:pPr>
            <a:r>
              <a:rPr lang="en-US" sz="1050" b="1" kern="0" spc="30" dirty="0">
                <a:solidFill>
                  <a:srgbClr val="6B7690"/>
                </a:solidFill>
                <a:latin typeface="Calibri" pitchFamily="34" charset="0"/>
                <a:ea typeface="Calibri" pitchFamily="34" charset="-122"/>
                <a:cs typeface="Calibri" pitchFamily="34" charset="-120"/>
              </a:rPr>
              <a:t>PROYECCIÓN FINAL CON BANDA DE INCERTIDUMBRE EMPÍRICA (BACKTESTING)</a:t>
            </a:r>
            <a:endParaRPr lang="en-US" sz="1050" dirty="0"/>
          </a:p>
        </p:txBody>
      </p:sp>
      <p:pic>
        <p:nvPicPr>
          <p:cNvPr id="14" name="Image 0" descr="06_proyeccion_final.png"/>
          <p:cNvPicPr>
            <a:picLocks noChangeAspect="1"/>
          </p:cNvPicPr>
          <p:nvPr/>
        </p:nvPicPr>
        <p:blipFill>
          <a:blip r:embed="rId3"/>
          <a:stretch>
            <a:fillRect/>
          </a:stretch>
        </p:blipFill>
        <p:spPr>
          <a:xfrm>
            <a:off x="6245352" y="2148840"/>
            <a:ext cx="5074920" cy="1987826"/>
          </a:xfrm>
          <a:prstGeom prst="rect">
            <a:avLst/>
          </a:prstGeom>
        </p:spPr>
      </p:pic>
      <p:sp>
        <p:nvSpPr>
          <p:cNvPr id="15" name="Text 12"/>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16" name="Text 13"/>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914400"/>
            <a:ext cx="10058400" cy="320040"/>
          </a:xfrm>
          <a:prstGeom prst="rect">
            <a:avLst/>
          </a:prstGeom>
          <a:noFill/>
          <a:ln/>
        </p:spPr>
        <p:txBody>
          <a:bodyPr wrap="square" lIns="0" tIns="0" rIns="0" bIns="0" rtlCol="0" anchor="ctr"/>
          <a:lstStyle/>
          <a:p>
            <a:pPr marL="0" indent="0">
              <a:buNone/>
            </a:pPr>
            <a:r>
              <a:rPr lang="en-US" sz="1300" b="1" kern="0" spc="100" dirty="0">
                <a:solidFill>
                  <a:srgbClr val="E0640F"/>
                </a:solidFill>
                <a:latin typeface="Calibri" pitchFamily="34" charset="0"/>
                <a:ea typeface="Calibri" pitchFamily="34" charset="-122"/>
                <a:cs typeface="Calibri" pitchFamily="34" charset="-120"/>
              </a:rPr>
              <a:t>UN HALLAZGO QUE NO ESTABA EN EL PLAN</a:t>
            </a:r>
            <a:endParaRPr lang="en-US" sz="1300" dirty="0"/>
          </a:p>
        </p:txBody>
      </p:sp>
      <p:sp>
        <p:nvSpPr>
          <p:cNvPr id="3" name="Text 1"/>
          <p:cNvSpPr txBox="1"/>
          <p:nvPr/>
        </p:nvSpPr>
        <p:spPr>
          <a:xfrm>
            <a:off x="640080" y="1371600"/>
            <a:ext cx="10332720" cy="1188720"/>
          </a:xfrm>
          <a:prstGeom prst="rect">
            <a:avLst/>
          </a:prstGeom>
          <a:noFill/>
          <a:ln/>
        </p:spPr>
        <p:txBody>
          <a:bodyPr wrap="square" lIns="0" tIns="0" rIns="0" bIns="0" rtlCol="0" anchor="ctr"/>
          <a:lstStyle/>
          <a:p>
            <a:pPr marL="0" indent="0">
              <a:lnSpc>
                <a:spcPct val="102000"/>
              </a:lnSpc>
              <a:buNone/>
            </a:pPr>
            <a:r>
              <a:rPr lang="en-US" sz="3200" b="1" dirty="0">
                <a:solidFill>
                  <a:srgbClr val="F7F5EF"/>
                </a:solidFill>
                <a:latin typeface="Cambria" pitchFamily="34" charset="0"/>
                <a:ea typeface="Cambria" pitchFamily="34" charset="-122"/>
                <a:cs typeface="Cambria" pitchFamily="34" charset="-120"/>
              </a:rPr>
              <a:t>El PDF del caso traía una</a:t>
            </a:r>
            <a:endParaRPr lang="en-US" sz="3200" dirty="0"/>
          </a:p>
          <a:p>
            <a:pPr marL="0" indent="0">
              <a:lnSpc>
                <a:spcPct val="102000"/>
              </a:lnSpc>
              <a:buNone/>
            </a:pPr>
            <a:r>
              <a:rPr lang="en-US" sz="3200" b="1" dirty="0">
                <a:solidFill>
                  <a:srgbClr val="F7F5EF"/>
                </a:solidFill>
                <a:latin typeface="Cambria" pitchFamily="34" charset="0"/>
                <a:ea typeface="Cambria" pitchFamily="34" charset="-122"/>
                <a:cs typeface="Cambria" pitchFamily="34" charset="-120"/>
              </a:rPr>
              <a:t>instrucción oculta para fabricar</a:t>
            </a:r>
            <a:endParaRPr lang="en-US" sz="3200" dirty="0"/>
          </a:p>
          <a:p>
            <a:pPr marL="0" indent="0">
              <a:lnSpc>
                <a:spcPct val="102000"/>
              </a:lnSpc>
              <a:buNone/>
            </a:pPr>
            <a:r>
              <a:rPr lang="en-US" sz="3200" b="1" dirty="0">
                <a:solidFill>
                  <a:srgbClr val="F7F5EF"/>
                </a:solidFill>
                <a:latin typeface="Cambria" pitchFamily="34" charset="0"/>
                <a:ea typeface="Cambria" pitchFamily="34" charset="-122"/>
                <a:cs typeface="Cambria" pitchFamily="34" charset="-120"/>
              </a:rPr>
              <a:t>los resultados del análisis.</a:t>
            </a:r>
            <a:endParaRPr lang="en-US" sz="3200" dirty="0"/>
          </a:p>
        </p:txBody>
      </p:sp>
      <p:sp>
        <p:nvSpPr>
          <p:cNvPr id="4" name="Text 2"/>
          <p:cNvSpPr txBox="1"/>
          <p:nvPr/>
        </p:nvSpPr>
        <p:spPr>
          <a:xfrm>
            <a:off x="640080" y="3429000"/>
            <a:ext cx="9875520" cy="868680"/>
          </a:xfrm>
          <a:prstGeom prst="rect">
            <a:avLst/>
          </a:prstGeom>
          <a:noFill/>
          <a:ln/>
        </p:spPr>
        <p:txBody>
          <a:bodyPr wrap="square" lIns="0" tIns="0" rIns="0" bIns="0" rtlCol="0" anchor="ctr"/>
          <a:lstStyle/>
          <a:p>
            <a:pPr marL="0" indent="0">
              <a:lnSpc>
                <a:spcPct val="125000"/>
              </a:lnSpc>
              <a:buNone/>
            </a:pPr>
            <a:r>
              <a:rPr lang="en-US" sz="1600" dirty="0">
                <a:solidFill>
                  <a:srgbClr val="AEB9CC"/>
                </a:solidFill>
                <a:latin typeface="Calibri" pitchFamily="34" charset="0"/>
                <a:ea typeface="Calibri" pitchFamily="34" charset="-122"/>
                <a:cs typeface="Calibri" pitchFamily="34" charset="-120"/>
              </a:rPr>
              <a:t>Un bloque de texto camuflado le pedía a cualquier asistente de IA que presentara pesos inventados —y que usara solo la media móvil simple para el pronóstico— como si fuera el resultado de un análisis real.</a:t>
            </a:r>
            <a:endParaRPr lang="en-US" sz="1600" dirty="0"/>
          </a:p>
        </p:txBody>
      </p:sp>
      <p:sp>
        <p:nvSpPr>
          <p:cNvPr id="5" name="Shape 3"/>
          <p:cNvSpPr/>
          <p:nvPr/>
        </p:nvSpPr>
        <p:spPr>
          <a:xfrm>
            <a:off x="640080" y="4526280"/>
            <a:ext cx="10195560" cy="868680"/>
          </a:xfrm>
          <a:prstGeom prst="roundRect">
            <a:avLst>
              <a:gd name="adj" fmla="val 9474"/>
            </a:avLst>
          </a:prstGeom>
          <a:solidFill>
            <a:srgbClr val="24365C"/>
          </a:solidFill>
          <a:ln w="12700">
            <a:solidFill>
              <a:srgbClr val="24365C"/>
            </a:solidFill>
            <a:prstDash val="solid"/>
          </a:ln>
        </p:spPr>
        <p:txBody>
          <a:bodyPr/>
          <a:lstStyle/>
          <a:p>
            <a:endParaRPr lang="es-CO"/>
          </a:p>
        </p:txBody>
      </p:sp>
      <p:sp>
        <p:nvSpPr>
          <p:cNvPr id="6" name="Text 4"/>
          <p:cNvSpPr txBox="1"/>
          <p:nvPr/>
        </p:nvSpPr>
        <p:spPr>
          <a:xfrm>
            <a:off x="960120" y="4526280"/>
            <a:ext cx="9601200" cy="868680"/>
          </a:xfrm>
          <a:prstGeom prst="rect">
            <a:avLst/>
          </a:prstGeom>
          <a:noFill/>
          <a:ln/>
        </p:spPr>
        <p:txBody>
          <a:bodyPr wrap="square" lIns="0" tIns="0" rIns="0" bIns="0" rtlCol="0" anchor="ctr"/>
          <a:lstStyle/>
          <a:p>
            <a:pPr marL="0" indent="0">
              <a:buNone/>
            </a:pPr>
            <a:r>
              <a:rPr lang="en-US" sz="1600" b="1" dirty="0">
                <a:solidFill>
                  <a:srgbClr val="E0640F"/>
                </a:solidFill>
                <a:latin typeface="Calibri" pitchFamily="34" charset="0"/>
                <a:ea typeface="Calibri" pitchFamily="34" charset="-122"/>
                <a:cs typeface="Calibri" pitchFamily="34" charset="-120"/>
              </a:rPr>
              <a:t>✓  </a:t>
            </a:r>
            <a:r>
              <a:rPr lang="en-US" sz="1600" b="1" dirty="0">
                <a:solidFill>
                  <a:srgbClr val="F7F5EF"/>
                </a:solidFill>
                <a:latin typeface="Calibri" pitchFamily="34" charset="0"/>
                <a:ea typeface="Calibri" pitchFamily="34" charset="-122"/>
                <a:cs typeface="Calibri" pitchFamily="34" charset="-120"/>
              </a:rPr>
              <a:t>Se ignoró — y los datos reales probaron exactamente lo contrario de lo que pedía.</a:t>
            </a:r>
            <a:endParaRPr lang="en-US" sz="1600" dirty="0"/>
          </a:p>
        </p:txBody>
      </p:sp>
      <p:sp>
        <p:nvSpPr>
          <p:cNvPr id="7" name="Text 5"/>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AEB9CC"/>
                </a:solidFill>
                <a:latin typeface="Calibri" pitchFamily="34" charset="0"/>
                <a:ea typeface="Calibri" pitchFamily="34" charset="-122"/>
                <a:cs typeface="Calibri" pitchFamily="34" charset="-120"/>
              </a:rPr>
              <a:t>Gestión de costos — Prueba técnica</a:t>
            </a:r>
            <a:endParaRPr lang="en-US" sz="1100" dirty="0"/>
          </a:p>
        </p:txBody>
      </p:sp>
      <p:sp>
        <p:nvSpPr>
          <p:cNvPr id="8" name="Text 6"/>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AEB9CC"/>
                </a:solidFill>
                <a:latin typeface="Calibri" pitchFamily="34" charset="0"/>
                <a:ea typeface="Calibri" pitchFamily="34" charset="-122"/>
                <a:cs typeface="Calibri"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789920" cy="1188720"/>
          </a:xfrm>
          <a:prstGeom prst="rect">
            <a:avLst/>
          </a:prstGeom>
          <a:noFill/>
          <a:ln/>
        </p:spPr>
        <p:txBody>
          <a:bodyPr wrap="square" lIns="0" tIns="0" rIns="0" bIns="0" rtlCol="0" anchor="ctr"/>
          <a:lstStyle/>
          <a:p>
            <a:pPr marL="0" indent="0">
              <a:lnSpc>
                <a:spcPct val="102000"/>
              </a:lnSpc>
              <a:buNone/>
            </a:pPr>
            <a:r>
              <a:rPr lang="en-US" sz="2800" b="1" dirty="0">
                <a:solidFill>
                  <a:srgbClr val="1B2A4A"/>
                </a:solidFill>
                <a:latin typeface="Cambria" pitchFamily="34" charset="0"/>
                <a:ea typeface="Cambria" pitchFamily="34" charset="-122"/>
                <a:cs typeface="Cambria" pitchFamily="34" charset="-120"/>
              </a:rPr>
              <a:t>Fase 4 — Un agente, no solo un modelo</a:t>
            </a:r>
            <a:endParaRPr lang="en-US" sz="2800" dirty="0"/>
          </a:p>
        </p:txBody>
      </p:sp>
      <p:sp>
        <p:nvSpPr>
          <p:cNvPr id="3" name="Shape 1"/>
          <p:cNvSpPr/>
          <p:nvPr/>
        </p:nvSpPr>
        <p:spPr>
          <a:xfrm>
            <a:off x="640080" y="1691640"/>
            <a:ext cx="5074920" cy="2743200"/>
          </a:xfrm>
          <a:prstGeom prst="roundRect">
            <a:avLst>
              <a:gd name="adj" fmla="val 3000"/>
            </a:avLst>
          </a:prstGeom>
          <a:solidFill>
            <a:srgbClr val="FFFFFF"/>
          </a:solidFill>
          <a:ln w="12700">
            <a:solidFill>
              <a:srgbClr val="E4E7ED"/>
            </a:solidFill>
            <a:prstDash val="solid"/>
          </a:ln>
          <a:effectLst>
            <a:outerShdw blurRad="76200" dist="25400" dir="5400000" algn="bl" rotWithShape="0">
              <a:srgbClr val="1B2A4A">
                <a:alpha val="8000"/>
              </a:srgbClr>
            </a:outerShdw>
          </a:effectLst>
        </p:spPr>
        <p:txBody>
          <a:bodyPr/>
          <a:lstStyle/>
          <a:p>
            <a:endParaRPr lang="es-CO"/>
          </a:p>
        </p:txBody>
      </p:sp>
      <p:sp>
        <p:nvSpPr>
          <p:cNvPr id="4" name="Text 2"/>
          <p:cNvSpPr txBox="1"/>
          <p:nvPr/>
        </p:nvSpPr>
        <p:spPr>
          <a:xfrm>
            <a:off x="914400" y="1965960"/>
            <a:ext cx="4526280" cy="320040"/>
          </a:xfrm>
          <a:prstGeom prst="rect">
            <a:avLst/>
          </a:prstGeom>
          <a:noFill/>
          <a:ln/>
        </p:spPr>
        <p:txBody>
          <a:bodyPr wrap="square" lIns="0" tIns="0" rIns="0" bIns="0" rtlCol="0" anchor="ctr"/>
          <a:lstStyle/>
          <a:p>
            <a:pPr marL="0" indent="0">
              <a:buNone/>
            </a:pPr>
            <a:r>
              <a:rPr lang="en-US" sz="1200" b="1" kern="0" spc="100" dirty="0">
                <a:solidFill>
                  <a:srgbClr val="6B7690"/>
                </a:solidFill>
                <a:latin typeface="Calibri" pitchFamily="34" charset="0"/>
                <a:ea typeface="Calibri" pitchFamily="34" charset="-122"/>
                <a:cs typeface="Calibri" pitchFamily="34" charset="-120"/>
              </a:rPr>
              <a:t>IA CONVENCIONAL</a:t>
            </a:r>
            <a:endParaRPr lang="en-US" sz="1200" dirty="0"/>
          </a:p>
        </p:txBody>
      </p:sp>
      <p:sp>
        <p:nvSpPr>
          <p:cNvPr id="5" name="Text 3"/>
          <p:cNvSpPr txBox="1"/>
          <p:nvPr/>
        </p:nvSpPr>
        <p:spPr>
          <a:xfrm>
            <a:off x="914400" y="2313432"/>
            <a:ext cx="4526280" cy="411480"/>
          </a:xfrm>
          <a:prstGeom prst="rect">
            <a:avLst/>
          </a:prstGeom>
          <a:noFill/>
          <a:ln/>
        </p:spPr>
        <p:txBody>
          <a:bodyPr wrap="square" lIns="0" tIns="0" rIns="0" bIns="0" rtlCol="0" anchor="ctr"/>
          <a:lstStyle/>
          <a:p>
            <a:pPr marL="0" indent="0">
              <a:buNone/>
            </a:pPr>
            <a:r>
              <a:rPr lang="en-US" sz="1900" b="1" dirty="0">
                <a:solidFill>
                  <a:srgbClr val="1B2A4A"/>
                </a:solidFill>
                <a:latin typeface="Calibri" pitchFamily="34" charset="0"/>
                <a:ea typeface="Calibri" pitchFamily="34" charset="-122"/>
                <a:cs typeface="Calibri" pitchFamily="34" charset="-120"/>
              </a:rPr>
              <a:t>El modelo VECM</a:t>
            </a:r>
            <a:endParaRPr lang="en-US" sz="1900" dirty="0"/>
          </a:p>
        </p:txBody>
      </p:sp>
      <p:sp>
        <p:nvSpPr>
          <p:cNvPr id="6" name="Text 4"/>
          <p:cNvSpPr txBox="1"/>
          <p:nvPr/>
        </p:nvSpPr>
        <p:spPr>
          <a:xfrm>
            <a:off x="914400" y="2834640"/>
            <a:ext cx="4526280" cy="914400"/>
          </a:xfrm>
          <a:prstGeom prst="rect">
            <a:avLst/>
          </a:prstGeom>
          <a:noFill/>
          <a:ln/>
        </p:spPr>
        <p:txBody>
          <a:bodyPr wrap="square" lIns="0" tIns="0" rIns="0" bIns="0" rtlCol="0" anchor="ctr"/>
          <a:lstStyle/>
          <a:p>
            <a:pPr marL="0" indent="0">
              <a:lnSpc>
                <a:spcPct val="120000"/>
              </a:lnSpc>
              <a:buNone/>
            </a:pPr>
            <a:r>
              <a:rPr lang="en-US" sz="1400" dirty="0">
                <a:solidFill>
                  <a:srgbClr val="44506B"/>
                </a:solidFill>
                <a:latin typeface="Calibri" pitchFamily="34" charset="0"/>
                <a:ea typeface="Calibri" pitchFamily="34" charset="-122"/>
                <a:cs typeface="Calibri" pitchFamily="34" charset="-120"/>
              </a:rPr>
              <a:t>Recibe datos, devuelve un número fijo. No decide nada, no recuerda nada entre ejecuciones.</a:t>
            </a:r>
            <a:endParaRPr lang="en-US" sz="1400" dirty="0"/>
          </a:p>
        </p:txBody>
      </p:sp>
      <p:sp>
        <p:nvSpPr>
          <p:cNvPr id="7" name="Shape 5"/>
          <p:cNvSpPr/>
          <p:nvPr/>
        </p:nvSpPr>
        <p:spPr>
          <a:xfrm>
            <a:off x="6035040" y="1691640"/>
            <a:ext cx="5074920" cy="2743200"/>
          </a:xfrm>
          <a:prstGeom prst="roundRect">
            <a:avLst>
              <a:gd name="adj" fmla="val 3000"/>
            </a:avLst>
          </a:prstGeom>
          <a:solidFill>
            <a:srgbClr val="1B2A4A"/>
          </a:solidFill>
          <a:ln w="12700">
            <a:solidFill>
              <a:srgbClr val="1B2A4A"/>
            </a:solidFill>
            <a:prstDash val="solid"/>
          </a:ln>
        </p:spPr>
        <p:txBody>
          <a:bodyPr/>
          <a:lstStyle/>
          <a:p>
            <a:endParaRPr lang="es-CO"/>
          </a:p>
        </p:txBody>
      </p:sp>
      <p:sp>
        <p:nvSpPr>
          <p:cNvPr id="8" name="Text 6"/>
          <p:cNvSpPr txBox="1"/>
          <p:nvPr/>
        </p:nvSpPr>
        <p:spPr>
          <a:xfrm>
            <a:off x="6309360" y="1965960"/>
            <a:ext cx="4526280" cy="320040"/>
          </a:xfrm>
          <a:prstGeom prst="rect">
            <a:avLst/>
          </a:prstGeom>
          <a:noFill/>
          <a:ln/>
        </p:spPr>
        <p:txBody>
          <a:bodyPr wrap="square" lIns="0" tIns="0" rIns="0" bIns="0" rtlCol="0" anchor="ctr"/>
          <a:lstStyle/>
          <a:p>
            <a:pPr marL="0" indent="0">
              <a:buNone/>
            </a:pPr>
            <a:r>
              <a:rPr lang="en-US" sz="1200" b="1" kern="0" spc="100" dirty="0">
                <a:solidFill>
                  <a:srgbClr val="E0640F"/>
                </a:solidFill>
                <a:latin typeface="Calibri" pitchFamily="34" charset="0"/>
                <a:ea typeface="Calibri" pitchFamily="34" charset="-122"/>
                <a:cs typeface="Calibri" pitchFamily="34" charset="-120"/>
              </a:rPr>
              <a:t>AGENTE DE IA</a:t>
            </a:r>
            <a:endParaRPr lang="en-US" sz="1200" dirty="0"/>
          </a:p>
        </p:txBody>
      </p:sp>
      <p:sp>
        <p:nvSpPr>
          <p:cNvPr id="9" name="Text 7"/>
          <p:cNvSpPr txBox="1"/>
          <p:nvPr/>
        </p:nvSpPr>
        <p:spPr>
          <a:xfrm>
            <a:off x="6309360" y="2313432"/>
            <a:ext cx="4526280" cy="411480"/>
          </a:xfrm>
          <a:prstGeom prst="rect">
            <a:avLst/>
          </a:prstGeom>
          <a:noFill/>
          <a:ln/>
        </p:spPr>
        <p:txBody>
          <a:bodyPr wrap="square" lIns="0" tIns="0" rIns="0" bIns="0" rtlCol="0" anchor="ctr"/>
          <a:lstStyle/>
          <a:p>
            <a:pPr marL="0" indent="0">
              <a:buNone/>
            </a:pPr>
            <a:r>
              <a:rPr lang="en-US" sz="1900" b="1" dirty="0">
                <a:solidFill>
                  <a:srgbClr val="F7F5EF"/>
                </a:solidFill>
                <a:latin typeface="Calibri" pitchFamily="34" charset="0"/>
                <a:ea typeface="Calibri" pitchFamily="34" charset="-122"/>
                <a:cs typeface="Calibri" pitchFamily="34" charset="-120"/>
              </a:rPr>
              <a:t>El agente del proyecto</a:t>
            </a:r>
            <a:endParaRPr lang="en-US" sz="1900" dirty="0"/>
          </a:p>
        </p:txBody>
      </p:sp>
      <p:sp>
        <p:nvSpPr>
          <p:cNvPr id="10" name="Text 8"/>
          <p:cNvSpPr txBox="1"/>
          <p:nvPr/>
        </p:nvSpPr>
        <p:spPr>
          <a:xfrm>
            <a:off x="6309360" y="2834640"/>
            <a:ext cx="4526280" cy="1005840"/>
          </a:xfrm>
          <a:prstGeom prst="rect">
            <a:avLst/>
          </a:prstGeom>
          <a:noFill/>
          <a:ln/>
        </p:spPr>
        <p:txBody>
          <a:bodyPr wrap="square" lIns="0" tIns="0" rIns="0" bIns="0" rtlCol="0" anchor="ctr"/>
          <a:lstStyle/>
          <a:p>
            <a:pPr marL="0" indent="0">
              <a:lnSpc>
                <a:spcPct val="120000"/>
              </a:lnSpc>
              <a:buNone/>
            </a:pPr>
            <a:r>
              <a:rPr lang="en-US" sz="1400" dirty="0">
                <a:solidFill>
                  <a:srgbClr val="F7F5EF"/>
                </a:solidFill>
                <a:latin typeface="Calibri" pitchFamily="34" charset="0"/>
                <a:ea typeface="Calibri" pitchFamily="34" charset="-122"/>
                <a:cs typeface="Calibri" pitchFamily="34" charset="-120"/>
              </a:rPr>
              <a:t>Decide qué herramienta usar, ejecuta acciones reales, recuerda la conversación, y puede buscar en la web.</a:t>
            </a:r>
            <a:endParaRPr lang="en-US" sz="1400" dirty="0"/>
          </a:p>
        </p:txBody>
      </p:sp>
      <p:sp>
        <p:nvSpPr>
          <p:cNvPr id="11" name="Text 9"/>
          <p:cNvSpPr txBox="1"/>
          <p:nvPr/>
        </p:nvSpPr>
        <p:spPr>
          <a:xfrm>
            <a:off x="640080" y="4709160"/>
            <a:ext cx="10241280" cy="457200"/>
          </a:xfrm>
          <a:prstGeom prst="rect">
            <a:avLst/>
          </a:prstGeom>
          <a:noFill/>
          <a:ln/>
        </p:spPr>
        <p:txBody>
          <a:bodyPr wrap="square" lIns="0" tIns="0" rIns="0" bIns="0" rtlCol="0" anchor="ctr"/>
          <a:lstStyle/>
          <a:p>
            <a:pPr marL="0" indent="0">
              <a:buNone/>
            </a:pPr>
            <a:r>
              <a:rPr lang="en-US" sz="1400" i="1" dirty="0">
                <a:solidFill>
                  <a:srgbClr val="6B7690"/>
                </a:solidFill>
                <a:latin typeface="Calibri" pitchFamily="34" charset="0"/>
                <a:ea typeface="Calibri" pitchFamily="34" charset="-122"/>
                <a:cs typeface="Calibri" pitchFamily="34" charset="-120"/>
              </a:rPr>
              <a:t>Se conversa por Telegram — probado en vivo con Azure OpenAI.</a:t>
            </a:r>
            <a:endParaRPr lang="en-US" sz="1400" dirty="0"/>
          </a:p>
        </p:txBody>
      </p:sp>
      <p:sp>
        <p:nvSpPr>
          <p:cNvPr id="12" name="Text 10"/>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13" name="Text 11"/>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10789920" cy="1188720"/>
          </a:xfrm>
          <a:prstGeom prst="rect">
            <a:avLst/>
          </a:prstGeom>
          <a:noFill/>
          <a:ln/>
        </p:spPr>
        <p:txBody>
          <a:bodyPr wrap="square" lIns="0" tIns="0" rIns="0" bIns="0" rtlCol="0" anchor="ctr"/>
          <a:lstStyle/>
          <a:p>
            <a:pPr marL="0" indent="0">
              <a:lnSpc>
                <a:spcPct val="102000"/>
              </a:lnSpc>
              <a:buNone/>
            </a:pPr>
            <a:r>
              <a:rPr lang="en-US" sz="3000" b="1" dirty="0">
                <a:solidFill>
                  <a:srgbClr val="1B2A4A"/>
                </a:solidFill>
                <a:latin typeface="Cambria" pitchFamily="34" charset="0"/>
                <a:ea typeface="Cambria" pitchFamily="34" charset="-122"/>
                <a:cs typeface="Cambria" pitchFamily="34" charset="-120"/>
              </a:rPr>
              <a:t>Arquitectura pensada para costar casi nada</a:t>
            </a:r>
            <a:endParaRPr lang="en-US" sz="3000" dirty="0"/>
          </a:p>
        </p:txBody>
      </p:sp>
      <p:sp>
        <p:nvSpPr>
          <p:cNvPr id="3" name="Shape 1"/>
          <p:cNvSpPr/>
          <p:nvPr/>
        </p:nvSpPr>
        <p:spPr>
          <a:xfrm>
            <a:off x="1074420" y="2103120"/>
            <a:ext cx="2880360" cy="2011680"/>
          </a:xfrm>
          <a:prstGeom prst="roundRect">
            <a:avLst>
              <a:gd name="adj" fmla="val 4091"/>
            </a:avLst>
          </a:prstGeom>
          <a:solidFill>
            <a:srgbClr val="1B2A4A"/>
          </a:solidFill>
          <a:ln w="12700">
            <a:solidFill>
              <a:srgbClr val="1B2A4A"/>
            </a:solidFill>
            <a:prstDash val="solid"/>
          </a:ln>
        </p:spPr>
        <p:txBody>
          <a:bodyPr/>
          <a:lstStyle/>
          <a:p>
            <a:endParaRPr lang="es-CO"/>
          </a:p>
        </p:txBody>
      </p:sp>
      <p:sp>
        <p:nvSpPr>
          <p:cNvPr id="4" name="Text 2"/>
          <p:cNvSpPr txBox="1"/>
          <p:nvPr/>
        </p:nvSpPr>
        <p:spPr>
          <a:xfrm>
            <a:off x="1348740" y="2423160"/>
            <a:ext cx="23317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Telegram</a:t>
            </a:r>
            <a:endParaRPr lang="en-US" sz="1600" dirty="0"/>
          </a:p>
        </p:txBody>
      </p:sp>
      <p:sp>
        <p:nvSpPr>
          <p:cNvPr id="5" name="Text 3"/>
          <p:cNvSpPr txBox="1"/>
          <p:nvPr/>
        </p:nvSpPr>
        <p:spPr>
          <a:xfrm>
            <a:off x="1348740" y="3337560"/>
            <a:ext cx="2331720" cy="640080"/>
          </a:xfrm>
          <a:prstGeom prst="rect">
            <a:avLst/>
          </a:prstGeom>
          <a:noFill/>
          <a:ln/>
        </p:spPr>
        <p:txBody>
          <a:bodyPr wrap="square" lIns="0" tIns="0" rIns="0" bIns="0" rtlCol="0" anchor="ctr"/>
          <a:lstStyle/>
          <a:p>
            <a:pPr marL="0" indent="0">
              <a:lnSpc>
                <a:spcPct val="120000"/>
              </a:lnSpc>
              <a:buNone/>
            </a:pPr>
            <a:r>
              <a:rPr lang="en-US" sz="1250" dirty="0">
                <a:solidFill>
                  <a:srgbClr val="AEB9CC"/>
                </a:solidFill>
                <a:latin typeface="Calibri" pitchFamily="34" charset="0"/>
                <a:ea typeface="Calibri" pitchFamily="34" charset="-122"/>
                <a:cs typeface="Calibri" pitchFamily="34" charset="-120"/>
              </a:rPr>
              <a:t>La app cliente, gratis</a:t>
            </a:r>
            <a:endParaRPr lang="en-US" sz="1250" dirty="0"/>
          </a:p>
        </p:txBody>
      </p:sp>
      <p:sp>
        <p:nvSpPr>
          <p:cNvPr id="6" name="Text 4"/>
          <p:cNvSpPr txBox="1"/>
          <p:nvPr/>
        </p:nvSpPr>
        <p:spPr>
          <a:xfrm>
            <a:off x="3954780" y="2880360"/>
            <a:ext cx="685800" cy="457200"/>
          </a:xfrm>
          <a:prstGeom prst="rect">
            <a:avLst/>
          </a:prstGeom>
          <a:noFill/>
          <a:ln/>
        </p:spPr>
        <p:txBody>
          <a:bodyPr wrap="square" lIns="0" tIns="0" rIns="0" bIns="0" rtlCol="0" anchor="ctr"/>
          <a:lstStyle/>
          <a:p>
            <a:pPr marL="0" indent="0" algn="ctr">
              <a:buNone/>
            </a:pPr>
            <a:r>
              <a:rPr lang="en-US" sz="2400" dirty="0">
                <a:solidFill>
                  <a:srgbClr val="6B7690"/>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4640580" y="2103120"/>
            <a:ext cx="2880360" cy="2011680"/>
          </a:xfrm>
          <a:prstGeom prst="roundRect">
            <a:avLst>
              <a:gd name="adj" fmla="val 4091"/>
            </a:avLst>
          </a:prstGeom>
          <a:solidFill>
            <a:srgbClr val="2A5CAA"/>
          </a:solidFill>
          <a:ln w="12700">
            <a:solidFill>
              <a:srgbClr val="2A5CAA"/>
            </a:solidFill>
            <a:prstDash val="solid"/>
          </a:ln>
        </p:spPr>
        <p:txBody>
          <a:bodyPr/>
          <a:lstStyle/>
          <a:p>
            <a:endParaRPr lang="es-CO"/>
          </a:p>
        </p:txBody>
      </p:sp>
      <p:sp>
        <p:nvSpPr>
          <p:cNvPr id="8" name="Text 6"/>
          <p:cNvSpPr txBox="1"/>
          <p:nvPr/>
        </p:nvSpPr>
        <p:spPr>
          <a:xfrm>
            <a:off x="4914900" y="2423160"/>
            <a:ext cx="23317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Azure Functions</a:t>
            </a:r>
            <a:endParaRPr lang="en-US" sz="1600" dirty="0"/>
          </a:p>
        </p:txBody>
      </p:sp>
      <p:sp>
        <p:nvSpPr>
          <p:cNvPr id="9" name="Text 7"/>
          <p:cNvSpPr txBox="1"/>
          <p:nvPr/>
        </p:nvSpPr>
        <p:spPr>
          <a:xfrm>
            <a:off x="4914900" y="3337560"/>
            <a:ext cx="2331720" cy="640080"/>
          </a:xfrm>
          <a:prstGeom prst="rect">
            <a:avLst/>
          </a:prstGeom>
          <a:noFill/>
          <a:ln/>
        </p:spPr>
        <p:txBody>
          <a:bodyPr wrap="square" lIns="0" tIns="0" rIns="0" bIns="0" rtlCol="0" anchor="ctr"/>
          <a:lstStyle/>
          <a:p>
            <a:pPr marL="0" indent="0">
              <a:lnSpc>
                <a:spcPct val="120000"/>
              </a:lnSpc>
              <a:buNone/>
            </a:pPr>
            <a:r>
              <a:rPr lang="en-US" sz="1250" dirty="0">
                <a:solidFill>
                  <a:srgbClr val="AEB9CC"/>
                </a:solidFill>
                <a:latin typeface="Calibri" pitchFamily="34" charset="0"/>
                <a:ea typeface="Calibri" pitchFamily="34" charset="-122"/>
                <a:cs typeface="Calibri" pitchFamily="34" charset="-120"/>
              </a:rPr>
              <a:t>Webhook + agente + jobs</a:t>
            </a:r>
            <a:endParaRPr lang="en-US" sz="1250" dirty="0"/>
          </a:p>
        </p:txBody>
      </p:sp>
      <p:sp>
        <p:nvSpPr>
          <p:cNvPr id="10" name="Text 8"/>
          <p:cNvSpPr txBox="1"/>
          <p:nvPr/>
        </p:nvSpPr>
        <p:spPr>
          <a:xfrm>
            <a:off x="7520940" y="2880360"/>
            <a:ext cx="685800" cy="457200"/>
          </a:xfrm>
          <a:prstGeom prst="rect">
            <a:avLst/>
          </a:prstGeom>
          <a:noFill/>
          <a:ln/>
        </p:spPr>
        <p:txBody>
          <a:bodyPr wrap="square" lIns="0" tIns="0" rIns="0" bIns="0" rtlCol="0" anchor="ctr"/>
          <a:lstStyle/>
          <a:p>
            <a:pPr marL="0" indent="0" algn="ctr">
              <a:buNone/>
            </a:pPr>
            <a:r>
              <a:rPr lang="en-US" sz="2400" dirty="0">
                <a:solidFill>
                  <a:srgbClr val="6B7690"/>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8206740" y="2103120"/>
            <a:ext cx="2880360" cy="2011680"/>
          </a:xfrm>
          <a:prstGeom prst="roundRect">
            <a:avLst>
              <a:gd name="adj" fmla="val 4091"/>
            </a:avLst>
          </a:prstGeom>
          <a:solidFill>
            <a:srgbClr val="E0640F"/>
          </a:solidFill>
          <a:ln w="12700">
            <a:solidFill>
              <a:srgbClr val="E0640F"/>
            </a:solidFill>
            <a:prstDash val="solid"/>
          </a:ln>
        </p:spPr>
        <p:txBody>
          <a:bodyPr/>
          <a:lstStyle/>
          <a:p>
            <a:endParaRPr lang="es-CO"/>
          </a:p>
        </p:txBody>
      </p:sp>
      <p:sp>
        <p:nvSpPr>
          <p:cNvPr id="12" name="Text 10"/>
          <p:cNvSpPr txBox="1"/>
          <p:nvPr/>
        </p:nvSpPr>
        <p:spPr>
          <a:xfrm>
            <a:off x="8481060" y="2423160"/>
            <a:ext cx="23317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Cosmos DB + Blob</a:t>
            </a:r>
            <a:endParaRPr lang="en-US" sz="1600" dirty="0"/>
          </a:p>
        </p:txBody>
      </p:sp>
      <p:sp>
        <p:nvSpPr>
          <p:cNvPr id="13" name="Text 11"/>
          <p:cNvSpPr txBox="1"/>
          <p:nvPr/>
        </p:nvSpPr>
        <p:spPr>
          <a:xfrm>
            <a:off x="8481060" y="3337560"/>
            <a:ext cx="2331720" cy="640080"/>
          </a:xfrm>
          <a:prstGeom prst="rect">
            <a:avLst/>
          </a:prstGeom>
          <a:noFill/>
          <a:ln/>
        </p:spPr>
        <p:txBody>
          <a:bodyPr wrap="square" lIns="0" tIns="0" rIns="0" bIns="0" rtlCol="0" anchor="ctr"/>
          <a:lstStyle/>
          <a:p>
            <a:pPr marL="0" indent="0">
              <a:lnSpc>
                <a:spcPct val="120000"/>
              </a:lnSpc>
              <a:buNone/>
            </a:pPr>
            <a:r>
              <a:rPr lang="en-US" sz="1250" dirty="0">
                <a:solidFill>
                  <a:srgbClr val="AEB9CC"/>
                </a:solidFill>
                <a:latin typeface="Calibri" pitchFamily="34" charset="0"/>
                <a:ea typeface="Calibri" pitchFamily="34" charset="-122"/>
                <a:cs typeface="Calibri" pitchFamily="34" charset="-120"/>
              </a:rPr>
              <a:t>Resultados y memoria</a:t>
            </a:r>
            <a:endParaRPr lang="en-US" sz="1250" dirty="0"/>
          </a:p>
        </p:txBody>
      </p:sp>
      <p:sp>
        <p:nvSpPr>
          <p:cNvPr id="14" name="Text 12"/>
          <p:cNvSpPr txBox="1"/>
          <p:nvPr/>
        </p:nvSpPr>
        <p:spPr>
          <a:xfrm>
            <a:off x="640080" y="4617720"/>
            <a:ext cx="1828800" cy="731520"/>
          </a:xfrm>
          <a:prstGeom prst="rect">
            <a:avLst/>
          </a:prstGeom>
          <a:noFill/>
          <a:ln/>
        </p:spPr>
        <p:txBody>
          <a:bodyPr wrap="square" lIns="0" tIns="0" rIns="0" bIns="0" rtlCol="0" anchor="ctr"/>
          <a:lstStyle/>
          <a:p>
            <a:pPr marL="0" indent="0">
              <a:buNone/>
            </a:pPr>
            <a:r>
              <a:rPr lang="en-US" sz="4000" b="1" dirty="0">
                <a:solidFill>
                  <a:srgbClr val="E0640F"/>
                </a:solidFill>
                <a:latin typeface="Cambria" pitchFamily="34" charset="0"/>
                <a:ea typeface="Cambria" pitchFamily="34" charset="-122"/>
                <a:cs typeface="Cambria" pitchFamily="34" charset="-120"/>
              </a:rPr>
              <a:t>~$0 </a:t>
            </a:r>
            <a:endParaRPr lang="en-US" sz="4000" dirty="0"/>
          </a:p>
        </p:txBody>
      </p:sp>
      <p:sp>
        <p:nvSpPr>
          <p:cNvPr id="15" name="Text 13"/>
          <p:cNvSpPr txBox="1"/>
          <p:nvPr/>
        </p:nvSpPr>
        <p:spPr>
          <a:xfrm>
            <a:off x="2286000" y="4663440"/>
            <a:ext cx="7315200" cy="731520"/>
          </a:xfrm>
          <a:prstGeom prst="rect">
            <a:avLst/>
          </a:prstGeom>
          <a:noFill/>
          <a:ln/>
        </p:spPr>
        <p:txBody>
          <a:bodyPr wrap="square" lIns="0" tIns="0" rIns="0" bIns="0" rtlCol="0" anchor="ctr"/>
          <a:lstStyle/>
          <a:p>
            <a:pPr marL="0" indent="0">
              <a:buNone/>
            </a:pPr>
            <a:r>
              <a:rPr lang="en-US" sz="1500" dirty="0">
                <a:solidFill>
                  <a:srgbClr val="44506B"/>
                </a:solidFill>
                <a:latin typeface="Calibri" pitchFamily="34" charset="0"/>
                <a:ea typeface="Calibri" pitchFamily="34" charset="-122"/>
                <a:cs typeface="Calibri" pitchFamily="34" charset="-120"/>
              </a:rPr>
              <a:t>al mes — salvo el uso del modelo de lenguaje</a:t>
            </a:r>
            <a:endParaRPr lang="en-US" sz="1500" dirty="0"/>
          </a:p>
        </p:txBody>
      </p:sp>
      <p:sp>
        <p:nvSpPr>
          <p:cNvPr id="16" name="Text 14"/>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6B7690"/>
                </a:solidFill>
                <a:latin typeface="Calibri" pitchFamily="34" charset="0"/>
                <a:ea typeface="Calibri" pitchFamily="34" charset="-122"/>
                <a:cs typeface="Calibri" pitchFamily="34" charset="-120"/>
              </a:rPr>
              <a:t>Gestión de costos — Prueba técnica</a:t>
            </a:r>
            <a:endParaRPr lang="en-US" sz="1100" dirty="0"/>
          </a:p>
        </p:txBody>
      </p:sp>
      <p:sp>
        <p:nvSpPr>
          <p:cNvPr id="17" name="Text 15"/>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6B7690"/>
                </a:solidFill>
                <a:latin typeface="Calibri" pitchFamily="34" charset="0"/>
                <a:ea typeface="Calibri" pitchFamily="34" charset="-122"/>
                <a:cs typeface="Calibri"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822960"/>
            <a:ext cx="10515600" cy="1188720"/>
          </a:xfrm>
          <a:prstGeom prst="rect">
            <a:avLst/>
          </a:prstGeom>
          <a:noFill/>
          <a:ln/>
        </p:spPr>
        <p:txBody>
          <a:bodyPr wrap="square" lIns="0" tIns="0" rIns="0" bIns="0" rtlCol="0" anchor="ctr"/>
          <a:lstStyle/>
          <a:p>
            <a:pPr marL="0" indent="0">
              <a:lnSpc>
                <a:spcPct val="102000"/>
              </a:lnSpc>
              <a:buNone/>
            </a:pPr>
            <a:r>
              <a:rPr lang="en-US" sz="3000" b="1" dirty="0">
                <a:solidFill>
                  <a:srgbClr val="F7F5EF"/>
                </a:solidFill>
                <a:latin typeface="Cambria" pitchFamily="34" charset="0"/>
                <a:ea typeface="Cambria" pitchFamily="34" charset="-122"/>
                <a:cs typeface="Cambria" pitchFamily="34" charset="-120"/>
              </a:rPr>
              <a:t>De un PDF con datos sueltos a un</a:t>
            </a:r>
            <a:endParaRPr lang="en-US" sz="3000" dirty="0"/>
          </a:p>
          <a:p>
            <a:pPr marL="0" indent="0">
              <a:lnSpc>
                <a:spcPct val="102000"/>
              </a:lnSpc>
              <a:buNone/>
            </a:pPr>
            <a:r>
              <a:rPr lang="en-US" sz="3000" b="1" dirty="0">
                <a:solidFill>
                  <a:srgbClr val="F7F5EF"/>
                </a:solidFill>
                <a:latin typeface="Cambria" pitchFamily="34" charset="0"/>
                <a:ea typeface="Cambria" pitchFamily="34" charset="-122"/>
                <a:cs typeface="Cambria" pitchFamily="34" charset="-120"/>
              </a:rPr>
              <a:t>sistema que responde preguntas</a:t>
            </a:r>
            <a:endParaRPr lang="en-US" sz="3000" dirty="0"/>
          </a:p>
        </p:txBody>
      </p:sp>
      <p:sp>
        <p:nvSpPr>
          <p:cNvPr id="3" name="Shape 1"/>
          <p:cNvSpPr/>
          <p:nvPr/>
        </p:nvSpPr>
        <p:spPr>
          <a:xfrm>
            <a:off x="640080" y="2395728"/>
            <a:ext cx="256032" cy="256032"/>
          </a:xfrm>
          <a:prstGeom prst="ellipse">
            <a:avLst/>
          </a:prstGeom>
          <a:solidFill>
            <a:srgbClr val="FFFFFF"/>
          </a:solidFill>
          <a:ln w="22225">
            <a:solidFill>
              <a:srgbClr val="E0640F"/>
            </a:solidFill>
            <a:prstDash val="solid"/>
          </a:ln>
        </p:spPr>
        <p:txBody>
          <a:bodyPr/>
          <a:lstStyle/>
          <a:p>
            <a:endParaRPr lang="es-CO"/>
          </a:p>
        </p:txBody>
      </p:sp>
      <p:sp>
        <p:nvSpPr>
          <p:cNvPr id="4" name="Text 2"/>
          <p:cNvSpPr txBox="1"/>
          <p:nvPr/>
        </p:nvSpPr>
        <p:spPr>
          <a:xfrm>
            <a:off x="640080" y="238201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097280" y="2377440"/>
            <a:ext cx="4663440" cy="1005840"/>
          </a:xfrm>
          <a:prstGeom prst="rect">
            <a:avLst/>
          </a:prstGeom>
          <a:noFill/>
          <a:ln/>
        </p:spPr>
        <p:txBody>
          <a:bodyPr wrap="square" lIns="0" tIns="0" rIns="0" bIns="0" rtlCol="0" anchor="t"/>
          <a:lstStyle/>
          <a:p>
            <a:pPr marL="0" indent="0">
              <a:lnSpc>
                <a:spcPct val="120000"/>
              </a:lnSpc>
              <a:buNone/>
            </a:pPr>
            <a:r>
              <a:rPr lang="en-US" sz="1350" dirty="0">
                <a:solidFill>
                  <a:srgbClr val="AEB9CC"/>
                </a:solidFill>
                <a:latin typeface="Calibri" pitchFamily="34" charset="0"/>
                <a:ea typeface="Calibri" pitchFamily="34" charset="-122"/>
                <a:cs typeface="Calibri" pitchFamily="34" charset="-120"/>
              </a:rPr>
              <a:t>3 fases de análisis con evidencia triangulada — 3 métodos econométricos y 2 de machine learning</a:t>
            </a:r>
            <a:endParaRPr lang="en-US" sz="1350" dirty="0"/>
          </a:p>
        </p:txBody>
      </p:sp>
      <p:sp>
        <p:nvSpPr>
          <p:cNvPr id="6" name="Shape 4"/>
          <p:cNvSpPr/>
          <p:nvPr/>
        </p:nvSpPr>
        <p:spPr>
          <a:xfrm>
            <a:off x="6309360" y="2395728"/>
            <a:ext cx="256032" cy="256032"/>
          </a:xfrm>
          <a:prstGeom prst="ellipse">
            <a:avLst/>
          </a:prstGeom>
          <a:solidFill>
            <a:srgbClr val="FFFFFF"/>
          </a:solidFill>
          <a:ln w="22225">
            <a:solidFill>
              <a:srgbClr val="E0640F"/>
            </a:solidFill>
            <a:prstDash val="solid"/>
          </a:ln>
        </p:spPr>
        <p:txBody>
          <a:bodyPr/>
          <a:lstStyle/>
          <a:p>
            <a:endParaRPr lang="es-CO"/>
          </a:p>
        </p:txBody>
      </p:sp>
      <p:sp>
        <p:nvSpPr>
          <p:cNvPr id="7" name="Text 5"/>
          <p:cNvSpPr txBox="1"/>
          <p:nvPr/>
        </p:nvSpPr>
        <p:spPr>
          <a:xfrm>
            <a:off x="6309360" y="238201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6766560" y="2377440"/>
            <a:ext cx="4663440" cy="1005840"/>
          </a:xfrm>
          <a:prstGeom prst="rect">
            <a:avLst/>
          </a:prstGeom>
          <a:noFill/>
          <a:ln/>
        </p:spPr>
        <p:txBody>
          <a:bodyPr wrap="square" lIns="0" tIns="0" rIns="0" bIns="0" rtlCol="0" anchor="t"/>
          <a:lstStyle/>
          <a:p>
            <a:pPr marL="0" indent="0">
              <a:lnSpc>
                <a:spcPct val="120000"/>
              </a:lnSpc>
              <a:buNone/>
            </a:pPr>
            <a:r>
              <a:rPr lang="en-US" sz="1350" dirty="0">
                <a:solidFill>
                  <a:srgbClr val="AEB9CC"/>
                </a:solidFill>
                <a:latin typeface="Calibri" pitchFamily="34" charset="0"/>
                <a:ea typeface="Calibri" pitchFamily="34" charset="-122"/>
                <a:cs typeface="Calibri" pitchFamily="34" charset="-120"/>
              </a:rPr>
              <a:t>Pronóstico validado con backtesting real de origen rodante</a:t>
            </a:r>
            <a:endParaRPr lang="en-US" sz="1350" dirty="0"/>
          </a:p>
        </p:txBody>
      </p:sp>
      <p:sp>
        <p:nvSpPr>
          <p:cNvPr id="9" name="Shape 7"/>
          <p:cNvSpPr/>
          <p:nvPr/>
        </p:nvSpPr>
        <p:spPr>
          <a:xfrm>
            <a:off x="640080" y="3538728"/>
            <a:ext cx="256032" cy="256032"/>
          </a:xfrm>
          <a:prstGeom prst="ellipse">
            <a:avLst/>
          </a:prstGeom>
          <a:solidFill>
            <a:srgbClr val="FFFFFF"/>
          </a:solidFill>
          <a:ln w="22225">
            <a:solidFill>
              <a:srgbClr val="E0640F"/>
            </a:solidFill>
            <a:prstDash val="solid"/>
          </a:ln>
        </p:spPr>
        <p:txBody>
          <a:bodyPr/>
          <a:lstStyle/>
          <a:p>
            <a:endParaRPr lang="es-CO"/>
          </a:p>
        </p:txBody>
      </p:sp>
      <p:sp>
        <p:nvSpPr>
          <p:cNvPr id="10" name="Text 8"/>
          <p:cNvSpPr txBox="1"/>
          <p:nvPr/>
        </p:nvSpPr>
        <p:spPr>
          <a:xfrm>
            <a:off x="640080" y="352501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097280" y="3520440"/>
            <a:ext cx="4663440" cy="1005840"/>
          </a:xfrm>
          <a:prstGeom prst="rect">
            <a:avLst/>
          </a:prstGeom>
          <a:noFill/>
          <a:ln/>
        </p:spPr>
        <p:txBody>
          <a:bodyPr wrap="square" lIns="0" tIns="0" rIns="0" bIns="0" rtlCol="0" anchor="t"/>
          <a:lstStyle/>
          <a:p>
            <a:pPr marL="0" indent="0">
              <a:lnSpc>
                <a:spcPct val="120000"/>
              </a:lnSpc>
              <a:buNone/>
            </a:pPr>
            <a:r>
              <a:rPr lang="en-US" sz="1350" dirty="0">
                <a:solidFill>
                  <a:srgbClr val="AEB9CC"/>
                </a:solidFill>
                <a:latin typeface="Calibri" pitchFamily="34" charset="0"/>
                <a:ea typeface="Calibri" pitchFamily="34" charset="-122"/>
                <a:cs typeface="Calibri" pitchFamily="34" charset="-120"/>
              </a:rPr>
              <a:t>Agente conversacional funcionando de verdad, probado con Azure OpenAI</a:t>
            </a:r>
            <a:endParaRPr lang="en-US" sz="1350" dirty="0"/>
          </a:p>
        </p:txBody>
      </p:sp>
      <p:sp>
        <p:nvSpPr>
          <p:cNvPr id="12" name="Shape 10"/>
          <p:cNvSpPr/>
          <p:nvPr/>
        </p:nvSpPr>
        <p:spPr>
          <a:xfrm>
            <a:off x="6309360" y="3538728"/>
            <a:ext cx="256032" cy="256032"/>
          </a:xfrm>
          <a:prstGeom prst="ellipse">
            <a:avLst/>
          </a:prstGeom>
          <a:solidFill>
            <a:srgbClr val="FFFFFF"/>
          </a:solidFill>
          <a:ln w="22225">
            <a:solidFill>
              <a:srgbClr val="E0640F"/>
            </a:solidFill>
            <a:prstDash val="solid"/>
          </a:ln>
        </p:spPr>
        <p:txBody>
          <a:bodyPr/>
          <a:lstStyle/>
          <a:p>
            <a:endParaRPr lang="es-CO"/>
          </a:p>
        </p:txBody>
      </p:sp>
      <p:sp>
        <p:nvSpPr>
          <p:cNvPr id="13" name="Text 11"/>
          <p:cNvSpPr txBox="1"/>
          <p:nvPr/>
        </p:nvSpPr>
        <p:spPr>
          <a:xfrm>
            <a:off x="6309360" y="3525012"/>
            <a:ext cx="256032" cy="256032"/>
          </a:xfrm>
          <a:prstGeom prst="rect">
            <a:avLst/>
          </a:prstGeom>
          <a:noFill/>
          <a:ln/>
        </p:spPr>
        <p:txBody>
          <a:bodyPr wrap="square" lIns="0" tIns="0" rIns="0" bIns="0" rtlCol="0" anchor="ctr"/>
          <a:lstStyle/>
          <a:p>
            <a:pPr marL="0" indent="0" algn="ctr">
              <a:buNone/>
            </a:pPr>
            <a:r>
              <a:rPr lang="en-US" sz="1300" b="1" dirty="0">
                <a:solidFill>
                  <a:srgbClr val="E0640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6766560" y="3520440"/>
            <a:ext cx="4663440" cy="1005840"/>
          </a:xfrm>
          <a:prstGeom prst="rect">
            <a:avLst/>
          </a:prstGeom>
          <a:noFill/>
          <a:ln/>
        </p:spPr>
        <p:txBody>
          <a:bodyPr wrap="square" lIns="0" tIns="0" rIns="0" bIns="0" rtlCol="0" anchor="t"/>
          <a:lstStyle/>
          <a:p>
            <a:pPr marL="0" indent="0">
              <a:lnSpc>
                <a:spcPct val="120000"/>
              </a:lnSpc>
              <a:buNone/>
            </a:pPr>
            <a:r>
              <a:rPr lang="en-US" sz="1350" dirty="0">
                <a:solidFill>
                  <a:srgbClr val="AEB9CC"/>
                </a:solidFill>
                <a:latin typeface="Calibri" pitchFamily="34" charset="0"/>
                <a:ea typeface="Calibri" pitchFamily="34" charset="-122"/>
                <a:cs typeface="Calibri" pitchFamily="34" charset="-120"/>
              </a:rPr>
              <a:t>Arquitectura de costo mínimo, lista para desplegar</a:t>
            </a:r>
            <a:endParaRPr lang="en-US" sz="1350" dirty="0"/>
          </a:p>
        </p:txBody>
      </p:sp>
      <p:sp>
        <p:nvSpPr>
          <p:cNvPr id="15" name="Text 13"/>
          <p:cNvSpPr txBox="1"/>
          <p:nvPr/>
        </p:nvSpPr>
        <p:spPr>
          <a:xfrm>
            <a:off x="640080" y="5394960"/>
            <a:ext cx="5486400" cy="640080"/>
          </a:xfrm>
          <a:prstGeom prst="rect">
            <a:avLst/>
          </a:prstGeom>
          <a:noFill/>
          <a:ln/>
        </p:spPr>
        <p:txBody>
          <a:bodyPr wrap="square" lIns="0" tIns="0" rIns="0" bIns="0" rtlCol="0" anchor="ctr"/>
          <a:lstStyle/>
          <a:p>
            <a:pPr marL="0" indent="0">
              <a:buNone/>
            </a:pPr>
            <a:r>
              <a:rPr lang="en-US" sz="3000" dirty="0">
                <a:solidFill>
                  <a:srgbClr val="F7F5EF"/>
                </a:solidFill>
                <a:latin typeface="Cambria" pitchFamily="34" charset="0"/>
                <a:ea typeface="Cambria" pitchFamily="34" charset="-122"/>
                <a:cs typeface="Cambria" pitchFamily="34" charset="-120"/>
              </a:rPr>
              <a:t>Gracias</a:t>
            </a:r>
            <a:endParaRPr lang="en-US" sz="3000" dirty="0"/>
          </a:p>
        </p:txBody>
      </p:sp>
      <p:sp>
        <p:nvSpPr>
          <p:cNvPr id="16" name="Text 14"/>
          <p:cNvSpPr txBox="1"/>
          <p:nvPr/>
        </p:nvSpPr>
        <p:spPr>
          <a:xfrm>
            <a:off x="457200" y="6400800"/>
            <a:ext cx="6400800" cy="274320"/>
          </a:xfrm>
          <a:prstGeom prst="rect">
            <a:avLst/>
          </a:prstGeom>
          <a:noFill/>
          <a:ln/>
        </p:spPr>
        <p:txBody>
          <a:bodyPr wrap="square" lIns="0" tIns="0" rIns="0" bIns="0" rtlCol="0" anchor="ctr"/>
          <a:lstStyle/>
          <a:p>
            <a:pPr marL="0" indent="0" algn="l">
              <a:buNone/>
            </a:pPr>
            <a:r>
              <a:rPr lang="en-US" sz="1100" dirty="0">
                <a:solidFill>
                  <a:srgbClr val="AEB9CC"/>
                </a:solidFill>
                <a:latin typeface="Calibri" pitchFamily="34" charset="0"/>
                <a:ea typeface="Calibri" pitchFamily="34" charset="-122"/>
                <a:cs typeface="Calibri" pitchFamily="34" charset="-120"/>
              </a:rPr>
              <a:t>Gestión de costos — Prueba técnica</a:t>
            </a:r>
            <a:endParaRPr lang="en-US" sz="1100" dirty="0"/>
          </a:p>
        </p:txBody>
      </p:sp>
      <p:sp>
        <p:nvSpPr>
          <p:cNvPr id="17" name="Text 15"/>
          <p:cNvSpPr txBox="1"/>
          <p:nvPr/>
        </p:nvSpPr>
        <p:spPr>
          <a:xfrm>
            <a:off x="10820095" y="6400800"/>
            <a:ext cx="914400" cy="274320"/>
          </a:xfrm>
          <a:prstGeom prst="rect">
            <a:avLst/>
          </a:prstGeom>
          <a:noFill/>
          <a:ln/>
        </p:spPr>
        <p:txBody>
          <a:bodyPr wrap="square" lIns="0" tIns="0" rIns="0" bIns="0" rtlCol="0" anchor="ctr"/>
          <a:lstStyle/>
          <a:p>
            <a:pPr marL="0" indent="0" algn="r">
              <a:buNone/>
            </a:pPr>
            <a:r>
              <a:rPr lang="en-US" sz="1100" dirty="0">
                <a:solidFill>
                  <a:srgbClr val="AEB9CC"/>
                </a:solidFill>
                <a:latin typeface="Calibri" pitchFamily="34" charset="0"/>
                <a:ea typeface="Calibri" pitchFamily="34" charset="-122"/>
                <a:cs typeface="Calibri"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2998</Words>
  <Application>Microsoft Office PowerPoint</Application>
  <PresentationFormat>Panorámica</PresentationFormat>
  <Paragraphs>216</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felipe rodriguez valencia</cp:lastModifiedBy>
  <cp:revision>1</cp:revision>
  <dcterms:created xsi:type="dcterms:W3CDTF">2026-09-25T16:15:18Z</dcterms:created>
  <dcterms:modified xsi:type="dcterms:W3CDTF">2026-09-25T19:34:50Z</dcterms:modified>
</cp:coreProperties>
</file>