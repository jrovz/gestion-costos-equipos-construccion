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v>
                </c:pt>
              </c:strCache>
            </c:strRef>
          </c:tx>
          <c:spPr>
            <a:solidFill>
              <a:srgbClr val="2A5CAA"/>
            </a:solidFill>
            <a:effectLst/>
          </c:spPr>
          <c:invertIfNegative val="0"/>
          <c:dLbls>
            <c:numFmt formatCode="0&quot;%&quot;" sourceLinked="0"/>
            <c:txPr>
              <a:bodyPr/>
              <a:lstStyle/>
              <a:p>
                <a:pPr>
                  <a:defRPr b="0" i="0" strike="noStrike" sz="1200" u="none">
                    <a:solidFill>
                      <a:srgbClr val="1B2A4A"/>
                    </a:solidFill>
                    <a:latin typeface="Arial"/>
                  </a:defRPr>
                </a:pPr>
              </a:p>
            </c:txPr>
            <c:showLegendKey val="0"/>
            <c:showVal val="1"/>
            <c:showCatName val="0"/>
            <c:showSerName val="0"/>
            <c:showPercent val="0"/>
            <c:showBubbleSize val="0"/>
            <c:showLeaderLines val="0"/>
          </c:dLbls>
          <c:cat>
            <c:multiLvlStrRef>
              <c:f>Sheet1!$A$2:$A$4</c:f>
              <c:multiLvlStrCache>
                <c:ptCount val="3"/>
                <c:lvl>
                  <c:pt idx="0">
                    <c:v>Y</c:v>
                  </c:pt>
                  <c:pt idx="1">
                    <c:v>Z</c:v>
                  </c:pt>
                  <c:pt idx="2">
                    <c:v>X</c:v>
                  </c:pt>
                </c:lvl>
              </c:multiLvlStrCache>
            </c:multiLvlStrRef>
          </c:cat>
          <c:val>
            <c:numRef>
              <c:f>Sheet1!$B$2:$B$4</c:f>
              <c:numCache>
                <c:formatCode>General</c:formatCode>
                <c:ptCount val="3"/>
                <c:pt idx="0">
                  <c:v>67</c:v>
                </c:pt>
                <c:pt idx="1">
                  <c:v>20</c:v>
                </c:pt>
                <c:pt idx="2">
                  <c:v>13</c:v>
                </c:pt>
              </c:numCache>
            </c:numRef>
          </c:val>
        </c:ser>
        <c:dLbls>
          <c:numFmt formatCode="0&quot;%&quot;" sourceLinked="0"/>
          <c:txPr>
            <a:bodyPr/>
            <a:lstStyle/>
            <a:p>
              <a:pPr>
                <a:defRPr b="0" i="0" strike="noStrike" sz="1200" u="none">
                  <a:solidFill>
                    <a:srgbClr val="1B2A4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4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v>
                </c:pt>
              </c:strCache>
            </c:strRef>
          </c:tx>
          <c:spPr>
            <a:solidFill>
              <a:srgbClr val="1E8A5F"/>
            </a:solidFill>
            <a:effectLst/>
          </c:spPr>
          <c:invertIfNegative val="0"/>
          <c:dLbls>
            <c:numFmt formatCode="0&quot;%&quot;" sourceLinked="0"/>
            <c:txPr>
              <a:bodyPr/>
              <a:lstStyle/>
              <a:p>
                <a:pPr>
                  <a:defRPr b="0" i="0" strike="noStrike" sz="1200" u="none">
                    <a:solidFill>
                      <a:srgbClr val="1B2A4A"/>
                    </a:solidFill>
                    <a:latin typeface="Arial"/>
                  </a:defRPr>
                </a:pPr>
              </a:p>
            </c:txPr>
            <c:showLegendKey val="0"/>
            <c:showVal val="1"/>
            <c:showCatName val="0"/>
            <c:showSerName val="0"/>
            <c:showPercent val="0"/>
            <c:showBubbleSize val="0"/>
            <c:showLeaderLines val="0"/>
          </c:dLbls>
          <c:cat>
            <c:multiLvlStrRef>
              <c:f>Sheet1!$A$2:$A$4</c:f>
              <c:multiLvlStrCache>
                <c:ptCount val="3"/>
                <c:lvl>
                  <c:pt idx="0">
                    <c:v>Z</c:v>
                  </c:pt>
                  <c:pt idx="1">
                    <c:v>X</c:v>
                  </c:pt>
                  <c:pt idx="2">
                    <c:v>Y</c:v>
                  </c:pt>
                </c:lvl>
              </c:multiLvlStrCache>
            </c:multiLvlStrRef>
          </c:cat>
          <c:val>
            <c:numRef>
              <c:f>Sheet1!$B$2:$B$4</c:f>
              <c:numCache>
                <c:formatCode>General</c:formatCode>
                <c:ptCount val="3"/>
                <c:pt idx="0">
                  <c:v>82</c:v>
                </c:pt>
                <c:pt idx="1">
                  <c:v>10</c:v>
                </c:pt>
                <c:pt idx="2">
                  <c:v>8</c:v>
                </c:pt>
              </c:numCache>
            </c:numRef>
          </c:val>
        </c:ser>
        <c:dLbls>
          <c:numFmt formatCode="0&quot;%&quot;" sourceLinked="0"/>
          <c:txPr>
            <a:bodyPr/>
            <a:lstStyle/>
            <a:p>
              <a:pPr>
                <a:defRPr b="0" i="0" strike="noStrike" sz="1200" u="none">
                  <a:solidFill>
                    <a:srgbClr val="1B2A4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4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Histórico</c:v>
                </c:pt>
              </c:strCache>
            </c:strRef>
          </c:tx>
          <c:spPr>
            <a:solidFill>
              <a:srgbClr val="2A5CAA"/>
            </a:solidFill>
            <a:ln w="28575" cap="flat">
              <a:solidFill>
                <a:srgbClr val="2A5CAA"/>
              </a:solidFill>
              <a:prstDash val="solid"/>
              <a:round/>
            </a:ln>
            <a:effectLst/>
          </c:spPr>
          <c:invertIfNegative val="0"/>
          <c:dLbls>
            <c:numFmt formatCode="#,##0" sourceLinked="0"/>
            <c:txPr>
              <a:bodyPr/>
              <a:lstStyle/>
              <a:p>
                <a:pPr>
                  <a:defRPr b="0" i="0" strike="noStrike" sz="1200" u="none">
                    <a:solidFill>
                      <a:srgbClr val="1B2A4A"/>
                    </a:solidFill>
                    <a:latin typeface="Arial"/>
                  </a:defRPr>
                </a:pPr>
              </a:p>
            </c:txPr>
            <c:showLegendKey val="0"/>
            <c:showVal val="0"/>
            <c:showCatName val="0"/>
            <c:showSerName val="0"/>
            <c:showPercent val="0"/>
            <c:showBubbleSize val="0"/>
            <c:showLeaderLines val="0"/>
          </c:dLbls>
          <c:marker>
            <c:symbol val="none"/>
            <c:size val="6"/>
            <c:spPr>
              <a:solidFill>
                <a:srgbClr val="2A5CAA"/>
              </a:solidFill>
              <a:ln w="9525" cap="flat">
                <a:solidFill>
                  <a:srgbClr val="2A5CAA"/>
                </a:solidFill>
                <a:prstDash val="solid"/>
                <a:round/>
              </a:ln>
              <a:effectLst/>
            </c:spPr>
          </c:marker>
          <c:cat>
            <c:multiLvlStrRef>
              <c:f>Sheet1!$A$2:$A$92</c:f>
              <c:multiLvlStrCache>
                <c:ptCount val="91"/>
                <c:lvl>
                  <c:pt idx="0">
                    <c:v>2023-04-28</c:v>
                  </c:pt>
                  <c:pt idx="1">
                    <c:v>2023-05-01</c:v>
                  </c:pt>
                  <c:pt idx="2">
                    <c:v>2023-05-02</c:v>
                  </c:pt>
                  <c:pt idx="3">
                    <c:v>2023-05-03</c:v>
                  </c:pt>
                  <c:pt idx="4">
                    <c:v>2023-05-04</c:v>
                  </c:pt>
                  <c:pt idx="5">
                    <c:v>2023-05-05</c:v>
                  </c:pt>
                  <c:pt idx="6">
                    <c:v>2023-05-08</c:v>
                  </c:pt>
                  <c:pt idx="7">
                    <c:v>2023-05-09</c:v>
                  </c:pt>
                  <c:pt idx="8">
                    <c:v>2023-05-10</c:v>
                  </c:pt>
                  <c:pt idx="9">
                    <c:v>2023-05-11</c:v>
                  </c:pt>
                  <c:pt idx="10">
                    <c:v>2023-05-12</c:v>
                  </c:pt>
                  <c:pt idx="11">
                    <c:v>2023-05-15</c:v>
                  </c:pt>
                  <c:pt idx="12">
                    <c:v>2023-05-16</c:v>
                  </c:pt>
                  <c:pt idx="13">
                    <c:v>2023-05-17</c:v>
                  </c:pt>
                  <c:pt idx="14">
                    <c:v>2023-05-18</c:v>
                  </c:pt>
                  <c:pt idx="15">
                    <c:v>2023-05-19</c:v>
                  </c:pt>
                  <c:pt idx="16">
                    <c:v>2023-05-22</c:v>
                  </c:pt>
                  <c:pt idx="17">
                    <c:v>2023-05-23</c:v>
                  </c:pt>
                  <c:pt idx="18">
                    <c:v>2023-05-24</c:v>
                  </c:pt>
                  <c:pt idx="19">
                    <c:v>2023-05-25</c:v>
                  </c:pt>
                  <c:pt idx="20">
                    <c:v>2023-05-26</c:v>
                  </c:pt>
                  <c:pt idx="21">
                    <c:v>2023-05-29</c:v>
                  </c:pt>
                  <c:pt idx="22">
                    <c:v>2023-05-30</c:v>
                  </c:pt>
                  <c:pt idx="23">
                    <c:v>2023-05-31</c:v>
                  </c:pt>
                  <c:pt idx="24">
                    <c:v>2023-06-01</c:v>
                  </c:pt>
                  <c:pt idx="25">
                    <c:v>2023-06-02</c:v>
                  </c:pt>
                  <c:pt idx="26">
                    <c:v>2023-06-05</c:v>
                  </c:pt>
                  <c:pt idx="27">
                    <c:v>2023-06-06</c:v>
                  </c:pt>
                  <c:pt idx="28">
                    <c:v>2023-06-07</c:v>
                  </c:pt>
                  <c:pt idx="29">
                    <c:v>2023-06-08</c:v>
                  </c:pt>
                  <c:pt idx="30">
                    <c:v>2023-06-09</c:v>
                  </c:pt>
                  <c:pt idx="31">
                    <c:v>2023-06-12</c:v>
                  </c:pt>
                  <c:pt idx="32">
                    <c:v>2023-06-13</c:v>
                  </c:pt>
                  <c:pt idx="33">
                    <c:v>2023-06-14</c:v>
                  </c:pt>
                  <c:pt idx="34">
                    <c:v>2023-06-15</c:v>
                  </c:pt>
                  <c:pt idx="35">
                    <c:v>2023-06-16</c:v>
                  </c:pt>
                  <c:pt idx="36">
                    <c:v>2023-06-19</c:v>
                  </c:pt>
                  <c:pt idx="37">
                    <c:v>2023-06-20</c:v>
                  </c:pt>
                  <c:pt idx="38">
                    <c:v>2023-06-21</c:v>
                  </c:pt>
                  <c:pt idx="39">
                    <c:v>2023-06-22</c:v>
                  </c:pt>
                  <c:pt idx="40">
                    <c:v>2023-06-23</c:v>
                  </c:pt>
                  <c:pt idx="41">
                    <c:v>2023-06-26</c:v>
                  </c:pt>
                  <c:pt idx="42">
                    <c:v>2023-06-27</c:v>
                  </c:pt>
                  <c:pt idx="43">
                    <c:v>2023-06-28</c:v>
                  </c:pt>
                  <c:pt idx="44">
                    <c:v>2023-06-29</c:v>
                  </c:pt>
                  <c:pt idx="45">
                    <c:v>2023-06-30</c:v>
                  </c:pt>
                  <c:pt idx="46">
                    <c:v>2023-07-03</c:v>
                  </c:pt>
                  <c:pt idx="47">
                    <c:v>2023-07-04</c:v>
                  </c:pt>
                  <c:pt idx="48">
                    <c:v>2023-07-05</c:v>
                  </c:pt>
                  <c:pt idx="49">
                    <c:v>2023-07-06</c:v>
                  </c:pt>
                  <c:pt idx="50">
                    <c:v>2023-07-07</c:v>
                  </c:pt>
                  <c:pt idx="51">
                    <c:v>2023-07-10</c:v>
                  </c:pt>
                  <c:pt idx="52">
                    <c:v>2023-07-11</c:v>
                  </c:pt>
                  <c:pt idx="53">
                    <c:v>2023-07-12</c:v>
                  </c:pt>
                  <c:pt idx="54">
                    <c:v>2023-07-13</c:v>
                  </c:pt>
                  <c:pt idx="55">
                    <c:v>2023-07-14</c:v>
                  </c:pt>
                  <c:pt idx="56">
                    <c:v>2023-07-17</c:v>
                  </c:pt>
                  <c:pt idx="57">
                    <c:v>2023-07-18</c:v>
                  </c:pt>
                  <c:pt idx="58">
                    <c:v>2023-07-19</c:v>
                  </c:pt>
                  <c:pt idx="59">
                    <c:v>2023-07-20</c:v>
                  </c:pt>
                  <c:pt idx="60">
                    <c:v>2023-07-21</c:v>
                  </c:pt>
                  <c:pt idx="61">
                    <c:v>2023-07-24</c:v>
                  </c:pt>
                  <c:pt idx="62">
                    <c:v>2023-07-25</c:v>
                  </c:pt>
                  <c:pt idx="63">
                    <c:v>2023-07-26</c:v>
                  </c:pt>
                  <c:pt idx="64">
                    <c:v>2023-07-27</c:v>
                  </c:pt>
                  <c:pt idx="65">
                    <c:v>2023-07-28</c:v>
                  </c:pt>
                  <c:pt idx="66">
                    <c:v>2023-07-31</c:v>
                  </c:pt>
                  <c:pt idx="67">
                    <c:v>2023-08-01</c:v>
                  </c:pt>
                  <c:pt idx="68">
                    <c:v>2023-08-02</c:v>
                  </c:pt>
                  <c:pt idx="69">
                    <c:v>2023-08-03</c:v>
                  </c:pt>
                  <c:pt idx="70">
                    <c:v>2023-08-04</c:v>
                  </c:pt>
                  <c:pt idx="71">
                    <c:v>2023-08-07</c:v>
                  </c:pt>
                  <c:pt idx="72">
                    <c:v>2023-08-08</c:v>
                  </c:pt>
                  <c:pt idx="73">
                    <c:v>2023-08-09</c:v>
                  </c:pt>
                  <c:pt idx="74">
                    <c:v>2023-08-10</c:v>
                  </c:pt>
                  <c:pt idx="75">
                    <c:v>2023-08-11</c:v>
                  </c:pt>
                  <c:pt idx="76">
                    <c:v>2023-08-14</c:v>
                  </c:pt>
                  <c:pt idx="77">
                    <c:v>2023-08-15</c:v>
                  </c:pt>
                  <c:pt idx="78">
                    <c:v>2023-08-16</c:v>
                  </c:pt>
                  <c:pt idx="79">
                    <c:v>2023-08-17</c:v>
                  </c:pt>
                  <c:pt idx="80">
                    <c:v>2023-08-18</c:v>
                  </c:pt>
                  <c:pt idx="81">
                    <c:v>2023-08-21</c:v>
                  </c:pt>
                  <c:pt idx="82">
                    <c:v>2023-08-22</c:v>
                  </c:pt>
                  <c:pt idx="83">
                    <c:v>2023-08-23</c:v>
                  </c:pt>
                  <c:pt idx="84">
                    <c:v>2023-08-24</c:v>
                  </c:pt>
                  <c:pt idx="85">
                    <c:v>2023-08-25</c:v>
                  </c:pt>
                  <c:pt idx="86">
                    <c:v>2023-08-28</c:v>
                  </c:pt>
                  <c:pt idx="87">
                    <c:v>2023-08-29</c:v>
                  </c:pt>
                  <c:pt idx="88">
                    <c:v>2023-08-30</c:v>
                  </c:pt>
                  <c:pt idx="89">
                    <c:v>2023-08-31</c:v>
                  </c:pt>
                  <c:pt idx="90">
                    <c:v>2023-11-28</c:v>
                  </c:pt>
                </c:lvl>
              </c:multiLvlStrCache>
            </c:multiLvlStrRef>
          </c:cat>
          <c:val>
            <c:numRef>
              <c:f>Sheet1!$B$2:$B$92</c:f>
              <c:numCache>
                <c:formatCode>General</c:formatCode>
                <c:ptCount val="91"/>
                <c:pt idx="0">
                  <c:v>475.36</c:v>
                </c:pt>
                <c:pt idx="1">
                  <c:v>480.66</c:v>
                </c:pt>
                <c:pt idx="2">
                  <c:v>470.78</c:v>
                </c:pt>
                <c:pt idx="3">
                  <c:v>492.69</c:v>
                </c:pt>
                <c:pt idx="4">
                  <c:v>477.23</c:v>
                </c:pt>
                <c:pt idx="5">
                  <c:v>459.14</c:v>
                </c:pt>
                <c:pt idx="6">
                  <c:v>480.01</c:v>
                </c:pt>
                <c:pt idx="7">
                  <c:v>477.57</c:v>
                </c:pt>
                <c:pt idx="8">
                  <c:v>465.87</c:v>
                </c:pt>
                <c:pt idx="9">
                  <c:v>442.8</c:v>
                </c:pt>
                <c:pt idx="10">
                  <c:v>453.6</c:v>
                </c:pt>
                <c:pt idx="11">
                  <c:v>465.21</c:v>
                </c:pt>
                <c:pt idx="12">
                  <c:v>462.52</c:v>
                </c:pt>
                <c:pt idx="13">
                  <c:v>455.89</c:v>
                </c:pt>
                <c:pt idx="14">
                  <c:v>468.88</c:v>
                </c:pt>
                <c:pt idx="15">
                  <c:v>444.72</c:v>
                </c:pt>
                <c:pt idx="16">
                  <c:v>451.74</c:v>
                </c:pt>
                <c:pt idx="17">
                  <c:v>451.14</c:v>
                </c:pt>
                <c:pt idx="18">
                  <c:v>446.22</c:v>
                </c:pt>
                <c:pt idx="19">
                  <c:v>442.63</c:v>
                </c:pt>
                <c:pt idx="20">
                  <c:v>433.47</c:v>
                </c:pt>
                <c:pt idx="21">
                  <c:v>430.35</c:v>
                </c:pt>
                <c:pt idx="22">
                  <c:v>436.91</c:v>
                </c:pt>
                <c:pt idx="23">
                  <c:v>431.75</c:v>
                </c:pt>
                <c:pt idx="24">
                  <c:v>423.88</c:v>
                </c:pt>
                <c:pt idx="25">
                  <c:v>440.12</c:v>
                </c:pt>
                <c:pt idx="26">
                  <c:v>445.72</c:v>
                </c:pt>
                <c:pt idx="27">
                  <c:v>451.33</c:v>
                </c:pt>
                <c:pt idx="28">
                  <c:v>455.63</c:v>
                </c:pt>
                <c:pt idx="29">
                  <c:v>438.33</c:v>
                </c:pt>
                <c:pt idx="30">
                  <c:v>437.95</c:v>
                </c:pt>
                <c:pt idx="31">
                  <c:v>453.84</c:v>
                </c:pt>
                <c:pt idx="32">
                  <c:v>452.42</c:v>
                </c:pt>
                <c:pt idx="33">
                  <c:v>456.04</c:v>
                </c:pt>
                <c:pt idx="34">
                  <c:v>464.18</c:v>
                </c:pt>
                <c:pt idx="35">
                  <c:v>469.03</c:v>
                </c:pt>
                <c:pt idx="36">
                  <c:v>473.29</c:v>
                </c:pt>
                <c:pt idx="37">
                  <c:v>454.82</c:v>
                </c:pt>
                <c:pt idx="38">
                  <c:v>450.31</c:v>
                </c:pt>
                <c:pt idx="39">
                  <c:v>447.38</c:v>
                </c:pt>
                <c:pt idx="40">
                  <c:v>440.62</c:v>
                </c:pt>
                <c:pt idx="41">
                  <c:v>440.75</c:v>
                </c:pt>
                <c:pt idx="42">
                  <c:v>443.11</c:v>
                </c:pt>
                <c:pt idx="43">
                  <c:v>459.47</c:v>
                </c:pt>
                <c:pt idx="44">
                  <c:v>450.44</c:v>
                </c:pt>
                <c:pt idx="45">
                  <c:v>450.81</c:v>
                </c:pt>
                <c:pt idx="46">
                  <c:v>444.36</c:v>
                </c:pt>
                <c:pt idx="47">
                  <c:v>437.82</c:v>
                </c:pt>
                <c:pt idx="48">
                  <c:v>436.85</c:v>
                </c:pt>
                <c:pt idx="49">
                  <c:v>447.37</c:v>
                </c:pt>
                <c:pt idx="50">
                  <c:v>438.62</c:v>
                </c:pt>
                <c:pt idx="51">
                  <c:v>449.34</c:v>
                </c:pt>
                <c:pt idx="52">
                  <c:v>459.48</c:v>
                </c:pt>
                <c:pt idx="53">
                  <c:v>460.35</c:v>
                </c:pt>
                <c:pt idx="54">
                  <c:v>459.62</c:v>
                </c:pt>
                <c:pt idx="55">
                  <c:v>454.62</c:v>
                </c:pt>
                <c:pt idx="56">
                  <c:v>466.99</c:v>
                </c:pt>
                <c:pt idx="57">
                  <c:v>469.21</c:v>
                </c:pt>
                <c:pt idx="58">
                  <c:v>450.21</c:v>
                </c:pt>
                <c:pt idx="59">
                  <c:v>463.44</c:v>
                </c:pt>
                <c:pt idx="60">
                  <c:v>452.21</c:v>
                </c:pt>
                <c:pt idx="61">
                  <c:v>474.34</c:v>
                </c:pt>
                <c:pt idx="62">
                  <c:v>490.95</c:v>
                </c:pt>
                <c:pt idx="63">
                  <c:v>463.15</c:v>
                </c:pt>
                <c:pt idx="64">
                  <c:v>488.22</c:v>
                </c:pt>
                <c:pt idx="65">
                  <c:v>480.51</c:v>
                </c:pt>
                <c:pt idx="66">
                  <c:v>490.66</c:v>
                </c:pt>
                <c:pt idx="67">
                  <c:v>475.98</c:v>
                </c:pt>
                <c:pt idx="68">
                  <c:v>482.49</c:v>
                </c:pt>
                <c:pt idx="69">
                  <c:v>455.93</c:v>
                </c:pt>
                <c:pt idx="70">
                  <c:v>467.25</c:v>
                </c:pt>
                <c:pt idx="71">
                  <c:v>459.48</c:v>
                </c:pt>
                <c:pt idx="72">
                  <c:v>485.36</c:v>
                </c:pt>
                <c:pt idx="73">
                  <c:v>478.44</c:v>
                </c:pt>
                <c:pt idx="74">
                  <c:v>476.49</c:v>
                </c:pt>
                <c:pt idx="75">
                  <c:v>477.59</c:v>
                </c:pt>
                <c:pt idx="76">
                  <c:v>449.76</c:v>
                </c:pt>
                <c:pt idx="77">
                  <c:v>457.81</c:v>
                </c:pt>
                <c:pt idx="78">
                  <c:v>448.83</c:v>
                </c:pt>
                <c:pt idx="79">
                  <c:v>447.58</c:v>
                </c:pt>
                <c:pt idx="80">
                  <c:v>445.6</c:v>
                </c:pt>
                <c:pt idx="81">
                  <c:v>452.05</c:v>
                </c:pt>
                <c:pt idx="82">
                  <c:v>446.52</c:v>
                </c:pt>
                <c:pt idx="83">
                  <c:v>449.61</c:v>
                </c:pt>
                <c:pt idx="84">
                  <c:v>450.7</c:v>
                </c:pt>
                <c:pt idx="85">
                  <c:v>450.36</c:v>
                </c:pt>
                <c:pt idx="86">
                  <c:v>469.03</c:v>
                </c:pt>
                <c:pt idx="87">
                  <c:v>460.42</c:v>
                </c:pt>
                <c:pt idx="88">
                  <c:v>464.8</c:v>
                </c:pt>
                <c:pt idx="89">
                  <c:v>451.73</c:v>
                </c:pt>
                <c:pt idx="90">
                  <c:v/>
                </c:pt>
              </c:numCache>
            </c:numRef>
          </c:val>
          <c:smooth val="0"/>
        </c:ser>
        <c:ser>
          <c:idx val="1"/>
          <c:order val="1"/>
          <c:tx>
            <c:strRef>
              <c:f>Sheet1!$C$1</c:f>
              <c:strCache>
                <c:ptCount val="1"/>
                <c:pt idx="0">
                  <c:v>Proyección</c:v>
                </c:pt>
              </c:strCache>
            </c:strRef>
          </c:tx>
          <c:spPr>
            <a:solidFill>
              <a:srgbClr val="E0640F"/>
            </a:solidFill>
            <a:ln w="28575" cap="flat">
              <a:solidFill>
                <a:srgbClr val="E0640F"/>
              </a:solidFill>
              <a:prstDash val="solid"/>
              <a:round/>
            </a:ln>
            <a:effectLst/>
          </c:spPr>
          <c:invertIfNegative val="0"/>
          <c:dLbls>
            <c:numFmt formatCode="#,##0" sourceLinked="0"/>
            <c:txPr>
              <a:bodyPr/>
              <a:lstStyle/>
              <a:p>
                <a:pPr>
                  <a:defRPr b="0" i="0" strike="noStrike" sz="1200" u="none">
                    <a:solidFill>
                      <a:srgbClr val="1B2A4A"/>
                    </a:solidFill>
                    <a:latin typeface="Arial"/>
                  </a:defRPr>
                </a:pPr>
              </a:p>
            </c:txPr>
            <c:showLegendKey val="0"/>
            <c:showVal val="0"/>
            <c:showCatName val="0"/>
            <c:showSerName val="0"/>
            <c:showPercent val="0"/>
            <c:showBubbleSize val="0"/>
            <c:showLeaderLines val="0"/>
          </c:dLbls>
          <c:marker>
            <c:symbol val="none"/>
            <c:size val="6"/>
            <c:spPr>
              <a:solidFill>
                <a:srgbClr val="E0640F"/>
              </a:solidFill>
              <a:ln w="9525" cap="flat">
                <a:solidFill>
                  <a:srgbClr val="E0640F"/>
                </a:solidFill>
                <a:prstDash val="solid"/>
                <a:round/>
              </a:ln>
              <a:effectLst/>
            </c:spPr>
          </c:marker>
          <c:cat>
            <c:multiLvlStrRef>
              <c:f>Sheet1!$A$2:$A$92</c:f>
              <c:multiLvlStrCache>
                <c:ptCount val="91"/>
                <c:lvl>
                  <c:pt idx="0">
                    <c:v>2023-04-28</c:v>
                  </c:pt>
                  <c:pt idx="1">
                    <c:v>2023-05-01</c:v>
                  </c:pt>
                  <c:pt idx="2">
                    <c:v>2023-05-02</c:v>
                  </c:pt>
                  <c:pt idx="3">
                    <c:v>2023-05-03</c:v>
                  </c:pt>
                  <c:pt idx="4">
                    <c:v>2023-05-04</c:v>
                  </c:pt>
                  <c:pt idx="5">
                    <c:v>2023-05-05</c:v>
                  </c:pt>
                  <c:pt idx="6">
                    <c:v>2023-05-08</c:v>
                  </c:pt>
                  <c:pt idx="7">
                    <c:v>2023-05-09</c:v>
                  </c:pt>
                  <c:pt idx="8">
                    <c:v>2023-05-10</c:v>
                  </c:pt>
                  <c:pt idx="9">
                    <c:v>2023-05-11</c:v>
                  </c:pt>
                  <c:pt idx="10">
                    <c:v>2023-05-12</c:v>
                  </c:pt>
                  <c:pt idx="11">
                    <c:v>2023-05-15</c:v>
                  </c:pt>
                  <c:pt idx="12">
                    <c:v>2023-05-16</c:v>
                  </c:pt>
                  <c:pt idx="13">
                    <c:v>2023-05-17</c:v>
                  </c:pt>
                  <c:pt idx="14">
                    <c:v>2023-05-18</c:v>
                  </c:pt>
                  <c:pt idx="15">
                    <c:v>2023-05-19</c:v>
                  </c:pt>
                  <c:pt idx="16">
                    <c:v>2023-05-22</c:v>
                  </c:pt>
                  <c:pt idx="17">
                    <c:v>2023-05-23</c:v>
                  </c:pt>
                  <c:pt idx="18">
                    <c:v>2023-05-24</c:v>
                  </c:pt>
                  <c:pt idx="19">
                    <c:v>2023-05-25</c:v>
                  </c:pt>
                  <c:pt idx="20">
                    <c:v>2023-05-26</c:v>
                  </c:pt>
                  <c:pt idx="21">
                    <c:v>2023-05-29</c:v>
                  </c:pt>
                  <c:pt idx="22">
                    <c:v>2023-05-30</c:v>
                  </c:pt>
                  <c:pt idx="23">
                    <c:v>2023-05-31</c:v>
                  </c:pt>
                  <c:pt idx="24">
                    <c:v>2023-06-01</c:v>
                  </c:pt>
                  <c:pt idx="25">
                    <c:v>2023-06-02</c:v>
                  </c:pt>
                  <c:pt idx="26">
                    <c:v>2023-06-05</c:v>
                  </c:pt>
                  <c:pt idx="27">
                    <c:v>2023-06-06</c:v>
                  </c:pt>
                  <c:pt idx="28">
                    <c:v>2023-06-07</c:v>
                  </c:pt>
                  <c:pt idx="29">
                    <c:v>2023-06-08</c:v>
                  </c:pt>
                  <c:pt idx="30">
                    <c:v>2023-06-09</c:v>
                  </c:pt>
                  <c:pt idx="31">
                    <c:v>2023-06-12</c:v>
                  </c:pt>
                  <c:pt idx="32">
                    <c:v>2023-06-13</c:v>
                  </c:pt>
                  <c:pt idx="33">
                    <c:v>2023-06-14</c:v>
                  </c:pt>
                  <c:pt idx="34">
                    <c:v>2023-06-15</c:v>
                  </c:pt>
                  <c:pt idx="35">
                    <c:v>2023-06-16</c:v>
                  </c:pt>
                  <c:pt idx="36">
                    <c:v>2023-06-19</c:v>
                  </c:pt>
                  <c:pt idx="37">
                    <c:v>2023-06-20</c:v>
                  </c:pt>
                  <c:pt idx="38">
                    <c:v>2023-06-21</c:v>
                  </c:pt>
                  <c:pt idx="39">
                    <c:v>2023-06-22</c:v>
                  </c:pt>
                  <c:pt idx="40">
                    <c:v>2023-06-23</c:v>
                  </c:pt>
                  <c:pt idx="41">
                    <c:v>2023-06-26</c:v>
                  </c:pt>
                  <c:pt idx="42">
                    <c:v>2023-06-27</c:v>
                  </c:pt>
                  <c:pt idx="43">
                    <c:v>2023-06-28</c:v>
                  </c:pt>
                  <c:pt idx="44">
                    <c:v>2023-06-29</c:v>
                  </c:pt>
                  <c:pt idx="45">
                    <c:v>2023-06-30</c:v>
                  </c:pt>
                  <c:pt idx="46">
                    <c:v>2023-07-03</c:v>
                  </c:pt>
                  <c:pt idx="47">
                    <c:v>2023-07-04</c:v>
                  </c:pt>
                  <c:pt idx="48">
                    <c:v>2023-07-05</c:v>
                  </c:pt>
                  <c:pt idx="49">
                    <c:v>2023-07-06</c:v>
                  </c:pt>
                  <c:pt idx="50">
                    <c:v>2023-07-07</c:v>
                  </c:pt>
                  <c:pt idx="51">
                    <c:v>2023-07-10</c:v>
                  </c:pt>
                  <c:pt idx="52">
                    <c:v>2023-07-11</c:v>
                  </c:pt>
                  <c:pt idx="53">
                    <c:v>2023-07-12</c:v>
                  </c:pt>
                  <c:pt idx="54">
                    <c:v>2023-07-13</c:v>
                  </c:pt>
                  <c:pt idx="55">
                    <c:v>2023-07-14</c:v>
                  </c:pt>
                  <c:pt idx="56">
                    <c:v>2023-07-17</c:v>
                  </c:pt>
                  <c:pt idx="57">
                    <c:v>2023-07-18</c:v>
                  </c:pt>
                  <c:pt idx="58">
                    <c:v>2023-07-19</c:v>
                  </c:pt>
                  <c:pt idx="59">
                    <c:v>2023-07-20</c:v>
                  </c:pt>
                  <c:pt idx="60">
                    <c:v>2023-07-21</c:v>
                  </c:pt>
                  <c:pt idx="61">
                    <c:v>2023-07-24</c:v>
                  </c:pt>
                  <c:pt idx="62">
                    <c:v>2023-07-25</c:v>
                  </c:pt>
                  <c:pt idx="63">
                    <c:v>2023-07-26</c:v>
                  </c:pt>
                  <c:pt idx="64">
                    <c:v>2023-07-27</c:v>
                  </c:pt>
                  <c:pt idx="65">
                    <c:v>2023-07-28</c:v>
                  </c:pt>
                  <c:pt idx="66">
                    <c:v>2023-07-31</c:v>
                  </c:pt>
                  <c:pt idx="67">
                    <c:v>2023-08-01</c:v>
                  </c:pt>
                  <c:pt idx="68">
                    <c:v>2023-08-02</c:v>
                  </c:pt>
                  <c:pt idx="69">
                    <c:v>2023-08-03</c:v>
                  </c:pt>
                  <c:pt idx="70">
                    <c:v>2023-08-04</c:v>
                  </c:pt>
                  <c:pt idx="71">
                    <c:v>2023-08-07</c:v>
                  </c:pt>
                  <c:pt idx="72">
                    <c:v>2023-08-08</c:v>
                  </c:pt>
                  <c:pt idx="73">
                    <c:v>2023-08-09</c:v>
                  </c:pt>
                  <c:pt idx="74">
                    <c:v>2023-08-10</c:v>
                  </c:pt>
                  <c:pt idx="75">
                    <c:v>2023-08-11</c:v>
                  </c:pt>
                  <c:pt idx="76">
                    <c:v>2023-08-14</c:v>
                  </c:pt>
                  <c:pt idx="77">
                    <c:v>2023-08-15</c:v>
                  </c:pt>
                  <c:pt idx="78">
                    <c:v>2023-08-16</c:v>
                  </c:pt>
                  <c:pt idx="79">
                    <c:v>2023-08-17</c:v>
                  </c:pt>
                  <c:pt idx="80">
                    <c:v>2023-08-18</c:v>
                  </c:pt>
                  <c:pt idx="81">
                    <c:v>2023-08-21</c:v>
                  </c:pt>
                  <c:pt idx="82">
                    <c:v>2023-08-22</c:v>
                  </c:pt>
                  <c:pt idx="83">
                    <c:v>2023-08-23</c:v>
                  </c:pt>
                  <c:pt idx="84">
                    <c:v>2023-08-24</c:v>
                  </c:pt>
                  <c:pt idx="85">
                    <c:v>2023-08-25</c:v>
                  </c:pt>
                  <c:pt idx="86">
                    <c:v>2023-08-28</c:v>
                  </c:pt>
                  <c:pt idx="87">
                    <c:v>2023-08-29</c:v>
                  </c:pt>
                  <c:pt idx="88">
                    <c:v>2023-08-30</c:v>
                  </c:pt>
                  <c:pt idx="89">
                    <c:v>2023-08-31</c:v>
                  </c:pt>
                  <c:pt idx="90">
                    <c:v>2023-11-28</c:v>
                  </c:pt>
                </c:lvl>
              </c:multiLvlStrCache>
            </c:multiLvlStrRef>
          </c:cat>
          <c:val>
            <c:numRef>
              <c:f>Sheet1!$C$2:$C$92</c:f>
              <c:numCache>
                <c:formatCode>General</c:formatCode>
                <c:ptCount val="9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451.73</c:v>
                </c:pt>
                <c:pt idx="90">
                  <c:v>451.42</c:v>
                </c:pt>
              </c:numCache>
            </c:numRef>
          </c:val>
          <c:smooth val="0"/>
        </c:ser>
        <c:dLbls>
          <c:numFmt formatCode="#,##0" sourceLinked="0"/>
          <c:txPr>
            <a:bodyPr/>
            <a:lstStyle/>
            <a:p>
              <a:pPr>
                <a:defRPr b="0" i="0" strike="noStrike" sz="1200" u="none">
                  <a:solidFill>
                    <a:srgbClr val="1B2A4A"/>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Histórico</c:v>
                </c:pt>
              </c:strCache>
            </c:strRef>
          </c:tx>
          <c:spPr>
            <a:solidFill>
              <a:srgbClr val="1E8A5F"/>
            </a:solidFill>
            <a:ln w="28575" cap="flat">
              <a:solidFill>
                <a:srgbClr val="1E8A5F"/>
              </a:solidFill>
              <a:prstDash val="solid"/>
              <a:round/>
            </a:ln>
            <a:effectLst/>
          </c:spPr>
          <c:invertIfNegative val="0"/>
          <c:dLbls>
            <c:numFmt formatCode="#,##0" sourceLinked="0"/>
            <c:txPr>
              <a:bodyPr/>
              <a:lstStyle/>
              <a:p>
                <a:pPr>
                  <a:defRPr b="0" i="0" strike="noStrike" sz="1200" u="none">
                    <a:solidFill>
                      <a:srgbClr val="1B2A4A"/>
                    </a:solidFill>
                    <a:latin typeface="Arial"/>
                  </a:defRPr>
                </a:pPr>
              </a:p>
            </c:txPr>
            <c:showLegendKey val="0"/>
            <c:showVal val="0"/>
            <c:showCatName val="0"/>
            <c:showSerName val="0"/>
            <c:showPercent val="0"/>
            <c:showBubbleSize val="0"/>
            <c:showLeaderLines val="0"/>
          </c:dLbls>
          <c:marker>
            <c:symbol val="none"/>
            <c:size val="6"/>
            <c:spPr>
              <a:solidFill>
                <a:srgbClr val="1E8A5F"/>
              </a:solidFill>
              <a:ln w="9525" cap="flat">
                <a:solidFill>
                  <a:srgbClr val="1E8A5F"/>
                </a:solidFill>
                <a:prstDash val="solid"/>
                <a:round/>
              </a:ln>
              <a:effectLst/>
            </c:spPr>
          </c:marker>
          <c:cat>
            <c:multiLvlStrRef>
              <c:f>Sheet1!$A$2:$A$92</c:f>
              <c:multiLvlStrCache>
                <c:ptCount val="91"/>
                <c:lvl>
                  <c:pt idx="0">
                    <c:v>2023-04-28</c:v>
                  </c:pt>
                  <c:pt idx="1">
                    <c:v>2023-05-01</c:v>
                  </c:pt>
                  <c:pt idx="2">
                    <c:v>2023-05-02</c:v>
                  </c:pt>
                  <c:pt idx="3">
                    <c:v>2023-05-03</c:v>
                  </c:pt>
                  <c:pt idx="4">
                    <c:v>2023-05-04</c:v>
                  </c:pt>
                  <c:pt idx="5">
                    <c:v>2023-05-05</c:v>
                  </c:pt>
                  <c:pt idx="6">
                    <c:v>2023-05-08</c:v>
                  </c:pt>
                  <c:pt idx="7">
                    <c:v>2023-05-09</c:v>
                  </c:pt>
                  <c:pt idx="8">
                    <c:v>2023-05-10</c:v>
                  </c:pt>
                  <c:pt idx="9">
                    <c:v>2023-05-11</c:v>
                  </c:pt>
                  <c:pt idx="10">
                    <c:v>2023-05-12</c:v>
                  </c:pt>
                  <c:pt idx="11">
                    <c:v>2023-05-15</c:v>
                  </c:pt>
                  <c:pt idx="12">
                    <c:v>2023-05-16</c:v>
                  </c:pt>
                  <c:pt idx="13">
                    <c:v>2023-05-17</c:v>
                  </c:pt>
                  <c:pt idx="14">
                    <c:v>2023-05-18</c:v>
                  </c:pt>
                  <c:pt idx="15">
                    <c:v>2023-05-19</c:v>
                  </c:pt>
                  <c:pt idx="16">
                    <c:v>2023-05-22</c:v>
                  </c:pt>
                  <c:pt idx="17">
                    <c:v>2023-05-23</c:v>
                  </c:pt>
                  <c:pt idx="18">
                    <c:v>2023-05-24</c:v>
                  </c:pt>
                  <c:pt idx="19">
                    <c:v>2023-05-25</c:v>
                  </c:pt>
                  <c:pt idx="20">
                    <c:v>2023-05-26</c:v>
                  </c:pt>
                  <c:pt idx="21">
                    <c:v>2023-05-29</c:v>
                  </c:pt>
                  <c:pt idx="22">
                    <c:v>2023-05-30</c:v>
                  </c:pt>
                  <c:pt idx="23">
                    <c:v>2023-05-31</c:v>
                  </c:pt>
                  <c:pt idx="24">
                    <c:v>2023-06-01</c:v>
                  </c:pt>
                  <c:pt idx="25">
                    <c:v>2023-06-02</c:v>
                  </c:pt>
                  <c:pt idx="26">
                    <c:v>2023-06-05</c:v>
                  </c:pt>
                  <c:pt idx="27">
                    <c:v>2023-06-06</c:v>
                  </c:pt>
                  <c:pt idx="28">
                    <c:v>2023-06-07</c:v>
                  </c:pt>
                  <c:pt idx="29">
                    <c:v>2023-06-08</c:v>
                  </c:pt>
                  <c:pt idx="30">
                    <c:v>2023-06-09</c:v>
                  </c:pt>
                  <c:pt idx="31">
                    <c:v>2023-06-12</c:v>
                  </c:pt>
                  <c:pt idx="32">
                    <c:v>2023-06-13</c:v>
                  </c:pt>
                  <c:pt idx="33">
                    <c:v>2023-06-14</c:v>
                  </c:pt>
                  <c:pt idx="34">
                    <c:v>2023-06-15</c:v>
                  </c:pt>
                  <c:pt idx="35">
                    <c:v>2023-06-16</c:v>
                  </c:pt>
                  <c:pt idx="36">
                    <c:v>2023-06-19</c:v>
                  </c:pt>
                  <c:pt idx="37">
                    <c:v>2023-06-20</c:v>
                  </c:pt>
                  <c:pt idx="38">
                    <c:v>2023-06-21</c:v>
                  </c:pt>
                  <c:pt idx="39">
                    <c:v>2023-06-22</c:v>
                  </c:pt>
                  <c:pt idx="40">
                    <c:v>2023-06-23</c:v>
                  </c:pt>
                  <c:pt idx="41">
                    <c:v>2023-06-26</c:v>
                  </c:pt>
                  <c:pt idx="42">
                    <c:v>2023-06-27</c:v>
                  </c:pt>
                  <c:pt idx="43">
                    <c:v>2023-06-28</c:v>
                  </c:pt>
                  <c:pt idx="44">
                    <c:v>2023-06-29</c:v>
                  </c:pt>
                  <c:pt idx="45">
                    <c:v>2023-06-30</c:v>
                  </c:pt>
                  <c:pt idx="46">
                    <c:v>2023-07-03</c:v>
                  </c:pt>
                  <c:pt idx="47">
                    <c:v>2023-07-04</c:v>
                  </c:pt>
                  <c:pt idx="48">
                    <c:v>2023-07-05</c:v>
                  </c:pt>
                  <c:pt idx="49">
                    <c:v>2023-07-06</c:v>
                  </c:pt>
                  <c:pt idx="50">
                    <c:v>2023-07-07</c:v>
                  </c:pt>
                  <c:pt idx="51">
                    <c:v>2023-07-10</c:v>
                  </c:pt>
                  <c:pt idx="52">
                    <c:v>2023-07-11</c:v>
                  </c:pt>
                  <c:pt idx="53">
                    <c:v>2023-07-12</c:v>
                  </c:pt>
                  <c:pt idx="54">
                    <c:v>2023-07-13</c:v>
                  </c:pt>
                  <c:pt idx="55">
                    <c:v>2023-07-14</c:v>
                  </c:pt>
                  <c:pt idx="56">
                    <c:v>2023-07-17</c:v>
                  </c:pt>
                  <c:pt idx="57">
                    <c:v>2023-07-18</c:v>
                  </c:pt>
                  <c:pt idx="58">
                    <c:v>2023-07-19</c:v>
                  </c:pt>
                  <c:pt idx="59">
                    <c:v>2023-07-20</c:v>
                  </c:pt>
                  <c:pt idx="60">
                    <c:v>2023-07-21</c:v>
                  </c:pt>
                  <c:pt idx="61">
                    <c:v>2023-07-24</c:v>
                  </c:pt>
                  <c:pt idx="62">
                    <c:v>2023-07-25</c:v>
                  </c:pt>
                  <c:pt idx="63">
                    <c:v>2023-07-26</c:v>
                  </c:pt>
                  <c:pt idx="64">
                    <c:v>2023-07-27</c:v>
                  </c:pt>
                  <c:pt idx="65">
                    <c:v>2023-07-28</c:v>
                  </c:pt>
                  <c:pt idx="66">
                    <c:v>2023-07-31</c:v>
                  </c:pt>
                  <c:pt idx="67">
                    <c:v>2023-08-01</c:v>
                  </c:pt>
                  <c:pt idx="68">
                    <c:v>2023-08-02</c:v>
                  </c:pt>
                  <c:pt idx="69">
                    <c:v>2023-08-03</c:v>
                  </c:pt>
                  <c:pt idx="70">
                    <c:v>2023-08-04</c:v>
                  </c:pt>
                  <c:pt idx="71">
                    <c:v>2023-08-07</c:v>
                  </c:pt>
                  <c:pt idx="72">
                    <c:v>2023-08-08</c:v>
                  </c:pt>
                  <c:pt idx="73">
                    <c:v>2023-08-09</c:v>
                  </c:pt>
                  <c:pt idx="74">
                    <c:v>2023-08-10</c:v>
                  </c:pt>
                  <c:pt idx="75">
                    <c:v>2023-08-11</c:v>
                  </c:pt>
                  <c:pt idx="76">
                    <c:v>2023-08-14</c:v>
                  </c:pt>
                  <c:pt idx="77">
                    <c:v>2023-08-15</c:v>
                  </c:pt>
                  <c:pt idx="78">
                    <c:v>2023-08-16</c:v>
                  </c:pt>
                  <c:pt idx="79">
                    <c:v>2023-08-17</c:v>
                  </c:pt>
                  <c:pt idx="80">
                    <c:v>2023-08-18</c:v>
                  </c:pt>
                  <c:pt idx="81">
                    <c:v>2023-08-21</c:v>
                  </c:pt>
                  <c:pt idx="82">
                    <c:v>2023-08-22</c:v>
                  </c:pt>
                  <c:pt idx="83">
                    <c:v>2023-08-23</c:v>
                  </c:pt>
                  <c:pt idx="84">
                    <c:v>2023-08-24</c:v>
                  </c:pt>
                  <c:pt idx="85">
                    <c:v>2023-08-25</c:v>
                  </c:pt>
                  <c:pt idx="86">
                    <c:v>2023-08-28</c:v>
                  </c:pt>
                  <c:pt idx="87">
                    <c:v>2023-08-29</c:v>
                  </c:pt>
                  <c:pt idx="88">
                    <c:v>2023-08-30</c:v>
                  </c:pt>
                  <c:pt idx="89">
                    <c:v>2023-08-31</c:v>
                  </c:pt>
                  <c:pt idx="90">
                    <c:v>2023-09-29</c:v>
                  </c:pt>
                </c:lvl>
              </c:multiLvlStrCache>
            </c:multiLvlStrRef>
          </c:cat>
          <c:val>
            <c:numRef>
              <c:f>Sheet1!$B$2:$B$92</c:f>
              <c:numCache>
                <c:formatCode>General</c:formatCode>
                <c:ptCount val="91"/>
                <c:pt idx="0">
                  <c:v>982.11</c:v>
                </c:pt>
                <c:pt idx="1">
                  <c:v>1010.15</c:v>
                </c:pt>
                <c:pt idx="2">
                  <c:v>976.26</c:v>
                </c:pt>
                <c:pt idx="3">
                  <c:v>988.78</c:v>
                </c:pt>
                <c:pt idx="4">
                  <c:v>979.62</c:v>
                </c:pt>
                <c:pt idx="5">
                  <c:v>963.8</c:v>
                </c:pt>
                <c:pt idx="6">
                  <c:v>1003.93</c:v>
                </c:pt>
                <c:pt idx="7">
                  <c:v>1008.78</c:v>
                </c:pt>
                <c:pt idx="8">
                  <c:v>986.52</c:v>
                </c:pt>
                <c:pt idx="9">
                  <c:v>924.84</c:v>
                </c:pt>
                <c:pt idx="10">
                  <c:v>934.01</c:v>
                </c:pt>
                <c:pt idx="11">
                  <c:v>966.17</c:v>
                </c:pt>
                <c:pt idx="12">
                  <c:v>979.4</c:v>
                </c:pt>
                <c:pt idx="13">
                  <c:v>986.34</c:v>
                </c:pt>
                <c:pt idx="14">
                  <c:v>999.75</c:v>
                </c:pt>
                <c:pt idx="15">
                  <c:v>962.8</c:v>
                </c:pt>
                <c:pt idx="16">
                  <c:v>956.99</c:v>
                </c:pt>
                <c:pt idx="17">
                  <c:v>937.32</c:v>
                </c:pt>
                <c:pt idx="18">
                  <c:v>928.36</c:v>
                </c:pt>
                <c:pt idx="19">
                  <c:v>920.38</c:v>
                </c:pt>
                <c:pt idx="20">
                  <c:v>974.94</c:v>
                </c:pt>
                <c:pt idx="21">
                  <c:v>930.9</c:v>
                </c:pt>
                <c:pt idx="22">
                  <c:v>927.51</c:v>
                </c:pt>
                <c:pt idx="23">
                  <c:v>924.87</c:v>
                </c:pt>
                <c:pt idx="24">
                  <c:v>983.55</c:v>
                </c:pt>
                <c:pt idx="25">
                  <c:v>959.17</c:v>
                </c:pt>
                <c:pt idx="26">
                  <c:v>953.18</c:v>
                </c:pt>
                <c:pt idx="27">
                  <c:v>952.03</c:v>
                </c:pt>
                <c:pt idx="28">
                  <c:v>919.55</c:v>
                </c:pt>
                <c:pt idx="29">
                  <c:v>941.22</c:v>
                </c:pt>
                <c:pt idx="30">
                  <c:v>920.65</c:v>
                </c:pt>
                <c:pt idx="31">
                  <c:v>915.66</c:v>
                </c:pt>
                <c:pt idx="32">
                  <c:v>955.55</c:v>
                </c:pt>
                <c:pt idx="33">
                  <c:v>954.27</c:v>
                </c:pt>
                <c:pt idx="34">
                  <c:v>932.22</c:v>
                </c:pt>
                <c:pt idx="35">
                  <c:v>945.47</c:v>
                </c:pt>
                <c:pt idx="36">
                  <c:v>944.4</c:v>
                </c:pt>
                <c:pt idx="37">
                  <c:v>908.09</c:v>
                </c:pt>
                <c:pt idx="38">
                  <c:v>911.58</c:v>
                </c:pt>
                <c:pt idx="39">
                  <c:v>919.74</c:v>
                </c:pt>
                <c:pt idx="40">
                  <c:v>902.98</c:v>
                </c:pt>
                <c:pt idx="41">
                  <c:v>923.28</c:v>
                </c:pt>
                <c:pt idx="42">
                  <c:v>910.09</c:v>
                </c:pt>
                <c:pt idx="43">
                  <c:v>901.97</c:v>
                </c:pt>
                <c:pt idx="44">
                  <c:v>907.32</c:v>
                </c:pt>
                <c:pt idx="45">
                  <c:v>924.11</c:v>
                </c:pt>
                <c:pt idx="46">
                  <c:v>893.36</c:v>
                </c:pt>
                <c:pt idx="47">
                  <c:v>884.33</c:v>
                </c:pt>
                <c:pt idx="48">
                  <c:v>896.24</c:v>
                </c:pt>
                <c:pt idx="49">
                  <c:v>920.96</c:v>
                </c:pt>
                <c:pt idx="50">
                  <c:v>904.96</c:v>
                </c:pt>
                <c:pt idx="51">
                  <c:v>921.22</c:v>
                </c:pt>
                <c:pt idx="52">
                  <c:v>941.88</c:v>
                </c:pt>
                <c:pt idx="53">
                  <c:v>939.41</c:v>
                </c:pt>
                <c:pt idx="54">
                  <c:v>961.24</c:v>
                </c:pt>
                <c:pt idx="55">
                  <c:v>953.94</c:v>
                </c:pt>
                <c:pt idx="56">
                  <c:v>915.57</c:v>
                </c:pt>
                <c:pt idx="57">
                  <c:v>961.13</c:v>
                </c:pt>
                <c:pt idx="58">
                  <c:v>918.38</c:v>
                </c:pt>
                <c:pt idx="59">
                  <c:v>914.64</c:v>
                </c:pt>
                <c:pt idx="60">
                  <c:v>938.17</c:v>
                </c:pt>
                <c:pt idx="61">
                  <c:v>920.89</c:v>
                </c:pt>
                <c:pt idx="62">
                  <c:v>952.26</c:v>
                </c:pt>
                <c:pt idx="63">
                  <c:v>947.63</c:v>
                </c:pt>
                <c:pt idx="64">
                  <c:v>941.92</c:v>
                </c:pt>
                <c:pt idx="65">
                  <c:v>959.38</c:v>
                </c:pt>
                <c:pt idx="66">
                  <c:v>938.51</c:v>
                </c:pt>
                <c:pt idx="67">
                  <c:v>955.85</c:v>
                </c:pt>
                <c:pt idx="68">
                  <c:v>945.28</c:v>
                </c:pt>
                <c:pt idx="69">
                  <c:v>941.11</c:v>
                </c:pt>
                <c:pt idx="70">
                  <c:v>955.87</c:v>
                </c:pt>
                <c:pt idx="71">
                  <c:v>937.85</c:v>
                </c:pt>
                <c:pt idx="72">
                  <c:v>940.5</c:v>
                </c:pt>
                <c:pt idx="73">
                  <c:v>915.42</c:v>
                </c:pt>
                <c:pt idx="74">
                  <c:v>960.75</c:v>
                </c:pt>
                <c:pt idx="75">
                  <c:v>917.78</c:v>
                </c:pt>
                <c:pt idx="76">
                  <c:v>924.88</c:v>
                </c:pt>
                <c:pt idx="77">
                  <c:v>882.24</c:v>
                </c:pt>
                <c:pt idx="78">
                  <c:v>892.99</c:v>
                </c:pt>
                <c:pt idx="79">
                  <c:v>920.27</c:v>
                </c:pt>
                <c:pt idx="80">
                  <c:v>929.14</c:v>
                </c:pt>
                <c:pt idx="81">
                  <c:v>900.71</c:v>
                </c:pt>
                <c:pt idx="82">
                  <c:v>940.41</c:v>
                </c:pt>
                <c:pt idx="83">
                  <c:v>921.42</c:v>
                </c:pt>
                <c:pt idx="84">
                  <c:v>918.34</c:v>
                </c:pt>
                <c:pt idx="85">
                  <c:v>899.65</c:v>
                </c:pt>
                <c:pt idx="86">
                  <c:v>933.2</c:v>
                </c:pt>
                <c:pt idx="87">
                  <c:v>901.79</c:v>
                </c:pt>
                <c:pt idx="88">
                  <c:v>945.4</c:v>
                </c:pt>
                <c:pt idx="89">
                  <c:v>955.35</c:v>
                </c:pt>
                <c:pt idx="90">
                  <c:v/>
                </c:pt>
              </c:numCache>
            </c:numRef>
          </c:val>
          <c:smooth val="0"/>
        </c:ser>
        <c:ser>
          <c:idx val="1"/>
          <c:order val="1"/>
          <c:tx>
            <c:strRef>
              <c:f>Sheet1!$C$1</c:f>
              <c:strCache>
                <c:ptCount val="1"/>
                <c:pt idx="0">
                  <c:v>Proyección</c:v>
                </c:pt>
              </c:strCache>
            </c:strRef>
          </c:tx>
          <c:spPr>
            <a:solidFill>
              <a:srgbClr val="E0640F"/>
            </a:solidFill>
            <a:ln w="28575" cap="flat">
              <a:solidFill>
                <a:srgbClr val="E0640F"/>
              </a:solidFill>
              <a:prstDash val="solid"/>
              <a:round/>
            </a:ln>
            <a:effectLst/>
          </c:spPr>
          <c:invertIfNegative val="0"/>
          <c:dLbls>
            <c:numFmt formatCode="#,##0" sourceLinked="0"/>
            <c:txPr>
              <a:bodyPr/>
              <a:lstStyle/>
              <a:p>
                <a:pPr>
                  <a:defRPr b="0" i="0" strike="noStrike" sz="1200" u="none">
                    <a:solidFill>
                      <a:srgbClr val="1B2A4A"/>
                    </a:solidFill>
                    <a:latin typeface="Arial"/>
                  </a:defRPr>
                </a:pPr>
              </a:p>
            </c:txPr>
            <c:showLegendKey val="0"/>
            <c:showVal val="0"/>
            <c:showCatName val="0"/>
            <c:showSerName val="0"/>
            <c:showPercent val="0"/>
            <c:showBubbleSize val="0"/>
            <c:showLeaderLines val="0"/>
          </c:dLbls>
          <c:marker>
            <c:symbol val="none"/>
            <c:size val="6"/>
            <c:spPr>
              <a:solidFill>
                <a:srgbClr val="E0640F"/>
              </a:solidFill>
              <a:ln w="9525" cap="flat">
                <a:solidFill>
                  <a:srgbClr val="E0640F"/>
                </a:solidFill>
                <a:prstDash val="solid"/>
                <a:round/>
              </a:ln>
              <a:effectLst/>
            </c:spPr>
          </c:marker>
          <c:cat>
            <c:multiLvlStrRef>
              <c:f>Sheet1!$A$2:$A$92</c:f>
              <c:multiLvlStrCache>
                <c:ptCount val="91"/>
                <c:lvl>
                  <c:pt idx="0">
                    <c:v>2023-04-28</c:v>
                  </c:pt>
                  <c:pt idx="1">
                    <c:v>2023-05-01</c:v>
                  </c:pt>
                  <c:pt idx="2">
                    <c:v>2023-05-02</c:v>
                  </c:pt>
                  <c:pt idx="3">
                    <c:v>2023-05-03</c:v>
                  </c:pt>
                  <c:pt idx="4">
                    <c:v>2023-05-04</c:v>
                  </c:pt>
                  <c:pt idx="5">
                    <c:v>2023-05-05</c:v>
                  </c:pt>
                  <c:pt idx="6">
                    <c:v>2023-05-08</c:v>
                  </c:pt>
                  <c:pt idx="7">
                    <c:v>2023-05-09</c:v>
                  </c:pt>
                  <c:pt idx="8">
                    <c:v>2023-05-10</c:v>
                  </c:pt>
                  <c:pt idx="9">
                    <c:v>2023-05-11</c:v>
                  </c:pt>
                  <c:pt idx="10">
                    <c:v>2023-05-12</c:v>
                  </c:pt>
                  <c:pt idx="11">
                    <c:v>2023-05-15</c:v>
                  </c:pt>
                  <c:pt idx="12">
                    <c:v>2023-05-16</c:v>
                  </c:pt>
                  <c:pt idx="13">
                    <c:v>2023-05-17</c:v>
                  </c:pt>
                  <c:pt idx="14">
                    <c:v>2023-05-18</c:v>
                  </c:pt>
                  <c:pt idx="15">
                    <c:v>2023-05-19</c:v>
                  </c:pt>
                  <c:pt idx="16">
                    <c:v>2023-05-22</c:v>
                  </c:pt>
                  <c:pt idx="17">
                    <c:v>2023-05-23</c:v>
                  </c:pt>
                  <c:pt idx="18">
                    <c:v>2023-05-24</c:v>
                  </c:pt>
                  <c:pt idx="19">
                    <c:v>2023-05-25</c:v>
                  </c:pt>
                  <c:pt idx="20">
                    <c:v>2023-05-26</c:v>
                  </c:pt>
                  <c:pt idx="21">
                    <c:v>2023-05-29</c:v>
                  </c:pt>
                  <c:pt idx="22">
                    <c:v>2023-05-30</c:v>
                  </c:pt>
                  <c:pt idx="23">
                    <c:v>2023-05-31</c:v>
                  </c:pt>
                  <c:pt idx="24">
                    <c:v>2023-06-01</c:v>
                  </c:pt>
                  <c:pt idx="25">
                    <c:v>2023-06-02</c:v>
                  </c:pt>
                  <c:pt idx="26">
                    <c:v>2023-06-05</c:v>
                  </c:pt>
                  <c:pt idx="27">
                    <c:v>2023-06-06</c:v>
                  </c:pt>
                  <c:pt idx="28">
                    <c:v>2023-06-07</c:v>
                  </c:pt>
                  <c:pt idx="29">
                    <c:v>2023-06-08</c:v>
                  </c:pt>
                  <c:pt idx="30">
                    <c:v>2023-06-09</c:v>
                  </c:pt>
                  <c:pt idx="31">
                    <c:v>2023-06-12</c:v>
                  </c:pt>
                  <c:pt idx="32">
                    <c:v>2023-06-13</c:v>
                  </c:pt>
                  <c:pt idx="33">
                    <c:v>2023-06-14</c:v>
                  </c:pt>
                  <c:pt idx="34">
                    <c:v>2023-06-15</c:v>
                  </c:pt>
                  <c:pt idx="35">
                    <c:v>2023-06-16</c:v>
                  </c:pt>
                  <c:pt idx="36">
                    <c:v>2023-06-19</c:v>
                  </c:pt>
                  <c:pt idx="37">
                    <c:v>2023-06-20</c:v>
                  </c:pt>
                  <c:pt idx="38">
                    <c:v>2023-06-21</c:v>
                  </c:pt>
                  <c:pt idx="39">
                    <c:v>2023-06-22</c:v>
                  </c:pt>
                  <c:pt idx="40">
                    <c:v>2023-06-23</c:v>
                  </c:pt>
                  <c:pt idx="41">
                    <c:v>2023-06-26</c:v>
                  </c:pt>
                  <c:pt idx="42">
                    <c:v>2023-06-27</c:v>
                  </c:pt>
                  <c:pt idx="43">
                    <c:v>2023-06-28</c:v>
                  </c:pt>
                  <c:pt idx="44">
                    <c:v>2023-06-29</c:v>
                  </c:pt>
                  <c:pt idx="45">
                    <c:v>2023-06-30</c:v>
                  </c:pt>
                  <c:pt idx="46">
                    <c:v>2023-07-03</c:v>
                  </c:pt>
                  <c:pt idx="47">
                    <c:v>2023-07-04</c:v>
                  </c:pt>
                  <c:pt idx="48">
                    <c:v>2023-07-05</c:v>
                  </c:pt>
                  <c:pt idx="49">
                    <c:v>2023-07-06</c:v>
                  </c:pt>
                  <c:pt idx="50">
                    <c:v>2023-07-07</c:v>
                  </c:pt>
                  <c:pt idx="51">
                    <c:v>2023-07-10</c:v>
                  </c:pt>
                  <c:pt idx="52">
                    <c:v>2023-07-11</c:v>
                  </c:pt>
                  <c:pt idx="53">
                    <c:v>2023-07-12</c:v>
                  </c:pt>
                  <c:pt idx="54">
                    <c:v>2023-07-13</c:v>
                  </c:pt>
                  <c:pt idx="55">
                    <c:v>2023-07-14</c:v>
                  </c:pt>
                  <c:pt idx="56">
                    <c:v>2023-07-17</c:v>
                  </c:pt>
                  <c:pt idx="57">
                    <c:v>2023-07-18</c:v>
                  </c:pt>
                  <c:pt idx="58">
                    <c:v>2023-07-19</c:v>
                  </c:pt>
                  <c:pt idx="59">
                    <c:v>2023-07-20</c:v>
                  </c:pt>
                  <c:pt idx="60">
                    <c:v>2023-07-21</c:v>
                  </c:pt>
                  <c:pt idx="61">
                    <c:v>2023-07-24</c:v>
                  </c:pt>
                  <c:pt idx="62">
                    <c:v>2023-07-25</c:v>
                  </c:pt>
                  <c:pt idx="63">
                    <c:v>2023-07-26</c:v>
                  </c:pt>
                  <c:pt idx="64">
                    <c:v>2023-07-27</c:v>
                  </c:pt>
                  <c:pt idx="65">
                    <c:v>2023-07-28</c:v>
                  </c:pt>
                  <c:pt idx="66">
                    <c:v>2023-07-31</c:v>
                  </c:pt>
                  <c:pt idx="67">
                    <c:v>2023-08-01</c:v>
                  </c:pt>
                  <c:pt idx="68">
                    <c:v>2023-08-02</c:v>
                  </c:pt>
                  <c:pt idx="69">
                    <c:v>2023-08-03</c:v>
                  </c:pt>
                  <c:pt idx="70">
                    <c:v>2023-08-04</c:v>
                  </c:pt>
                  <c:pt idx="71">
                    <c:v>2023-08-07</c:v>
                  </c:pt>
                  <c:pt idx="72">
                    <c:v>2023-08-08</c:v>
                  </c:pt>
                  <c:pt idx="73">
                    <c:v>2023-08-09</c:v>
                  </c:pt>
                  <c:pt idx="74">
                    <c:v>2023-08-10</c:v>
                  </c:pt>
                  <c:pt idx="75">
                    <c:v>2023-08-11</c:v>
                  </c:pt>
                  <c:pt idx="76">
                    <c:v>2023-08-14</c:v>
                  </c:pt>
                  <c:pt idx="77">
                    <c:v>2023-08-15</c:v>
                  </c:pt>
                  <c:pt idx="78">
                    <c:v>2023-08-16</c:v>
                  </c:pt>
                  <c:pt idx="79">
                    <c:v>2023-08-17</c:v>
                  </c:pt>
                  <c:pt idx="80">
                    <c:v>2023-08-18</c:v>
                  </c:pt>
                  <c:pt idx="81">
                    <c:v>2023-08-21</c:v>
                  </c:pt>
                  <c:pt idx="82">
                    <c:v>2023-08-22</c:v>
                  </c:pt>
                  <c:pt idx="83">
                    <c:v>2023-08-23</c:v>
                  </c:pt>
                  <c:pt idx="84">
                    <c:v>2023-08-24</c:v>
                  </c:pt>
                  <c:pt idx="85">
                    <c:v>2023-08-25</c:v>
                  </c:pt>
                  <c:pt idx="86">
                    <c:v>2023-08-28</c:v>
                  </c:pt>
                  <c:pt idx="87">
                    <c:v>2023-08-29</c:v>
                  </c:pt>
                  <c:pt idx="88">
                    <c:v>2023-08-30</c:v>
                  </c:pt>
                  <c:pt idx="89">
                    <c:v>2023-08-31</c:v>
                  </c:pt>
                  <c:pt idx="90">
                    <c:v>2023-09-29</c:v>
                  </c:pt>
                </c:lvl>
              </c:multiLvlStrCache>
            </c:multiLvlStrRef>
          </c:cat>
          <c:val>
            <c:numRef>
              <c:f>Sheet1!$C$2:$C$92</c:f>
              <c:numCache>
                <c:formatCode>General</c:formatCode>
                <c:ptCount val="9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955.35</c:v>
                </c:pt>
                <c:pt idx="90">
                  <c:v>949.82</c:v>
                </c:pt>
              </c:numCache>
            </c:numRef>
          </c:val>
          <c:smooth val="0"/>
        </c:ser>
        <c:dLbls>
          <c:numFmt formatCode="#,##0" sourceLinked="0"/>
          <c:txPr>
            <a:bodyPr/>
            <a:lstStyle/>
            <a:p>
              <a:pPr>
                <a:defRPr b="0" i="0" strike="noStrike" sz="1200" u="none">
                  <a:solidFill>
                    <a:srgbClr val="1B2A4A"/>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Gracias por el tiempo. En los próximos minutos les cuento cómo llegamos a un sistema que revisa el histórico de precios, encuentra qué insumo realmente mueve el costo de cada equipo, proyecta ese costo hacia adelante, y les deja un asistente al que le pueden preguntar todo esto cuando quieran, por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caso real: una constructora está planificando un proyecto y necesita gestionar el suministro de dos equipos críticos. Históricamente el costo de esos equipos ha sido difícil de anticipar, y eso genera desviaciones de presupuesto. Ustedes sospechan que el precio está relacionado con el mercado de materias primas, pero no tenían forma de comprobarlo. Ese es el encargo: comprobarlo, y dejar algo que sirva hacia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analizar nada hubo que ordenar cuatro archivos que llegaron en formatos completamente distintos. Nada de esto es análisis todavía, es preparación, pero es el tipo de trabajo que si no se hace bien contamina todo lo que viene después. Un detalle de honestidad: no eliminamos ningún dato por verse raro -- documentamos los saltos de precio grandes, pero los dejamos, porque no había evidencia de que fueran errores y no movimientos reales del mercado.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uno mira los precios tal cual, encuentra parecidos altísimos, hasta 0.997 entre un insumo y un equipo. Pero eso es típico de series que simplemente tienen tendencia: ambas suben con los años, así que salen pareciéndose aunque no tengan ninguna relación real entre sí. La pregunta que hay que responder antes de sacar cualquier conclusión es: ¿hay una relación real de largo plazo, o es pura coincidencia de tendencia?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vez de confiar en una sola forma de mirar los datos, se verificó la respuesta cinco veces, cada vez con una lógica distinta: una revisa el equilibrio de largo plazo, otra revisa si un insumo se adelanta al otro, otra mide qué tan fuerte es la relación día a día, y dos más usan machine learning para cuantificar cuánto explica cada insumo y confirmar el resultado por un camino no lineal. Cuando las cinco coinciden, la conclusión es mucho más sólida que la de cualquiera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resultado central: el precio de Equipo1 está explicado por el insumo Y, y el de Equipo2 por el insumo Z, los dos con una relación del mismo día. El insumo X resultó ser ruido en los dos casos. Un detalle interesante: Y resultó ser un precio que se actualiza cada 5 a 7 semanas, no una cotización diaria -- lo que sugiere que Equipo1 está indexado a esa lista de precios más que sujeto al mercado día a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proyectar el costo hacia adelante comparamos cuatro métodos con evidencia real, no con preferencia. El promedio móvil simple de tres meses -- que por cierto es el método que un texto inyectado en el PDF del caso trataba de imponer -- resultó ser el peor de los cuatro. El horizonte en el que el mejor método sigue siendo confiable es distinto por equipo: tres meses para Equipo1, uno para Equipo2. La banda de incertidumbre final sale del error real que tuvo el método al probarlo contra el pasado, no de una fórmula teórica.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Quiero contarles algo que no estaba planeado y que dice mucho de cómo se trabajó este proyecto. El documento del caso tenía, escondido entre dos párrafos, un texto dirigido a un asistente de inteligencia artificial, pidiéndole que inventara una relación específica entre insumos y equipos y la presentara como si fuera un análisis propio. No se siguió esa instrucción. Se documentó, se ignoró, y se resolvió con los datos reales -- que terminaron mostrando prácticamente lo contrario de lo que ese texto quería imponer.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pedía explicar la diferencia entre un sistema de inteligencia artificial convencional y un agente, y este proyecto tiene los dos ejemplos uno al lado del otro. El modelo de pronóstico es el ejemplo convencional: recibe datos y devuelve un número fijo. El asistente que construimos decide qué herramienta usar según la pregunta, ejecuta consultas reales, recuerda la conversación, y puede salir a buscar en la web -- y ya está probado de punta a punta, conversando por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se diseñó con dos criterios: costar lo mínimo posible y ser fácil de mantener, sin herramientas empresariales innecesarias para este volumen de datos. Todo el cómputo vive en un solo servicio que recibe los mensajes de Telegram, corre el análisis y los trabajos programados de limpieza y pronóstico. Prácticamente todo cae dentro de los niveles gratuitos de la nube; el único gasto real es el uso del asistente de IA, y para uso normal es mínimo. Esto todavía está en fase de diseño, documentado y listo para desplegar.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este proyecto pasó de información suelta, sin diccionario, a un sistema completo -- limpieza reproducible, una relación insumo-equipo validada con cinco métodos independientes, una proyección de costos probada contra la realidad, un asistente conversacional que ya funciona, y una arquitectura pensada para costar prácticamente nada. Quedo atento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640080" y="914400"/>
            <a:ext cx="9144000" cy="320040"/>
          </a:xfrm>
          <a:prstGeom prst="rect">
            <a:avLst/>
          </a:prstGeom>
          <a:noFill/>
          <a:ln/>
        </p:spPr>
        <p:txBody>
          <a:bodyPr wrap="square" lIns="0" tIns="0" rIns="0" bIns="0" rtlCol="0" anchor="ctr"/>
          <a:lstStyle/>
          <a:p>
            <a:pPr indent="0" marL="0">
              <a:buNone/>
            </a:pPr>
            <a:r>
              <a:rPr lang="en-US" sz="1300" b="1" spc="100" kern="0" dirty="0">
                <a:solidFill>
                  <a:srgbClr val="E0640F"/>
                </a:solidFill>
                <a:latin typeface="Calibri" pitchFamily="34" charset="0"/>
                <a:ea typeface="Calibri" pitchFamily="34" charset="-122"/>
                <a:cs typeface="Calibri" pitchFamily="34" charset="-120"/>
              </a:rPr>
              <a:t>CONSULTORÍA DE DATOS</a:t>
            </a:r>
            <a:endParaRPr lang="en-US" sz="1300" dirty="0"/>
          </a:p>
        </p:txBody>
      </p:sp>
      <p:sp>
        <p:nvSpPr>
          <p:cNvPr id="3" name="Text 1"/>
          <p:cNvSpPr txBox="1"/>
          <p:nvPr/>
        </p:nvSpPr>
        <p:spPr>
          <a:xfrm>
            <a:off x="640080" y="1371600"/>
            <a:ext cx="10515600" cy="1188720"/>
          </a:xfrm>
          <a:prstGeom prst="rect">
            <a:avLst/>
          </a:prstGeom>
          <a:noFill/>
          <a:ln/>
        </p:spPr>
        <p:txBody>
          <a:bodyPr wrap="square" lIns="0" tIns="0" rIns="0" bIns="0" rtlCol="0" anchor="ctr"/>
          <a:lstStyle/>
          <a:p>
            <a:pPr indent="0" marL="0">
              <a:lnSpc>
                <a:spcPct val="102000"/>
              </a:lnSpc>
              <a:buNone/>
            </a:pPr>
            <a:r>
              <a:rPr lang="en-US" sz="4000" b="1" dirty="0">
                <a:solidFill>
                  <a:srgbClr val="F7F5EF"/>
                </a:solidFill>
                <a:latin typeface="Cambria" pitchFamily="34" charset="0"/>
                <a:ea typeface="Cambria" pitchFamily="34" charset="-122"/>
                <a:cs typeface="Cambria" pitchFamily="34" charset="-120"/>
              </a:rPr>
              <a:t>Gestión de costos de equipos</a:t>
            </a:r>
            <a:endParaRPr lang="en-US" sz="4000" dirty="0"/>
          </a:p>
          <a:p>
            <a:pPr indent="0" marL="0">
              <a:lnSpc>
                <a:spcPct val="102000"/>
              </a:lnSpc>
              <a:buNone/>
            </a:pPr>
            <a:r>
              <a:rPr lang="en-US" sz="4000" b="1" dirty="0">
                <a:solidFill>
                  <a:srgbClr val="F7F5EF"/>
                </a:solidFill>
                <a:latin typeface="Cambria" pitchFamily="34" charset="0"/>
                <a:ea typeface="Cambria" pitchFamily="34" charset="-122"/>
                <a:cs typeface="Cambria" pitchFamily="34" charset="-120"/>
              </a:rPr>
              <a:t>de construcción</a:t>
            </a:r>
            <a:endParaRPr lang="en-US" sz="4000" dirty="0"/>
          </a:p>
        </p:txBody>
      </p:sp>
      <p:sp>
        <p:nvSpPr>
          <p:cNvPr id="4" name="Text 2"/>
          <p:cNvSpPr txBox="1"/>
          <p:nvPr/>
        </p:nvSpPr>
        <p:spPr>
          <a:xfrm>
            <a:off x="640080" y="2880360"/>
            <a:ext cx="9601200" cy="548640"/>
          </a:xfrm>
          <a:prstGeom prst="rect">
            <a:avLst/>
          </a:prstGeom>
          <a:noFill/>
          <a:ln/>
        </p:spPr>
        <p:txBody>
          <a:bodyPr wrap="square" lIns="0" tIns="0" rIns="0" bIns="0" rtlCol="0" anchor="ctr"/>
          <a:lstStyle/>
          <a:p>
            <a:pPr indent="0" marL="0">
              <a:buNone/>
            </a:pPr>
            <a:r>
              <a:rPr lang="en-US" sz="1800" dirty="0">
                <a:solidFill>
                  <a:srgbClr val="AEB9CC"/>
                </a:solidFill>
                <a:latin typeface="Calibri" pitchFamily="34" charset="0"/>
                <a:ea typeface="Calibri" pitchFamily="34" charset="-122"/>
                <a:cs typeface="Calibri" pitchFamily="34" charset="-120"/>
              </a:rPr>
              <a:t>Cómo saber, con anticipación, cuánto va a costar cada equipo antes de comprarlo</a:t>
            </a:r>
            <a:endParaRPr lang="en-US" sz="1800" dirty="0"/>
          </a:p>
        </p:txBody>
      </p:sp>
      <p:sp>
        <p:nvSpPr>
          <p:cNvPr id="5" name="Text 3"/>
          <p:cNvSpPr txBox="1"/>
          <p:nvPr/>
        </p:nvSpPr>
        <p:spPr>
          <a:xfrm>
            <a:off x="640080" y="6035040"/>
            <a:ext cx="5486400" cy="320040"/>
          </a:xfrm>
          <a:prstGeom prst="rect">
            <a:avLst/>
          </a:prstGeom>
          <a:noFill/>
          <a:ln/>
        </p:spPr>
        <p:txBody>
          <a:bodyPr wrap="square" lIns="0" tIns="0" rIns="0" bIns="0" rtlCol="0" anchor="ctr"/>
          <a:lstStyle/>
          <a:p>
            <a:pPr indent="0" marL="0">
              <a:buNone/>
            </a:pPr>
            <a:r>
              <a:rPr lang="en-US" sz="1300" dirty="0">
                <a:solidFill>
                  <a:srgbClr val="AEB9CC"/>
                </a:solidFill>
                <a:latin typeface="Calibri" pitchFamily="34" charset="0"/>
                <a:ea typeface="Calibri" pitchFamily="34" charset="-122"/>
                <a:cs typeface="Calibri" pitchFamily="34" charset="-120"/>
              </a:rPr>
              <a:t>Juan Felipe Rodríguez Valencia</a:t>
            </a:r>
            <a:endParaRPr lang="en-US" sz="1300" dirty="0"/>
          </a:p>
        </p:txBody>
      </p:sp>
      <p:sp>
        <p:nvSpPr>
          <p:cNvPr id="6" name="Text 4"/>
          <p:cNvSpPr txBox="1"/>
          <p:nvPr/>
        </p:nvSpPr>
        <p:spPr>
          <a:xfrm>
            <a:off x="10180015" y="6035040"/>
            <a:ext cx="1371600" cy="320040"/>
          </a:xfrm>
          <a:prstGeom prst="rect">
            <a:avLst/>
          </a:prstGeom>
          <a:noFill/>
          <a:ln/>
        </p:spPr>
        <p:txBody>
          <a:bodyPr wrap="square" lIns="0" tIns="0" rIns="0" bIns="0" rtlCol="0" anchor="ctr"/>
          <a:lstStyle/>
          <a:p>
            <a:pPr algn="r" indent="0" marL="0">
              <a:buNone/>
            </a:pPr>
            <a:r>
              <a:rPr lang="en-US" sz="1300" dirty="0">
                <a:solidFill>
                  <a:srgbClr val="AEB9CC"/>
                </a:solidFill>
                <a:latin typeface="Calibri" pitchFamily="34" charset="0"/>
                <a:ea typeface="Calibri" pitchFamily="34" charset="-122"/>
                <a:cs typeface="Calibri" pitchFamily="34" charset="-120"/>
              </a:rPr>
              <a:t>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10789920" cy="1188720"/>
          </a:xfrm>
          <a:prstGeom prst="rect">
            <a:avLst/>
          </a:prstGeom>
          <a:noFill/>
          <a:ln/>
        </p:spPr>
        <p:txBody>
          <a:bodyPr wrap="square" lIns="0" tIns="0" rIns="0" bIns="0" rtlCol="0" anchor="ctr"/>
          <a:lstStyle/>
          <a:p>
            <a:pPr indent="0" marL="0">
              <a:lnSpc>
                <a:spcPct val="102000"/>
              </a:lnSpc>
              <a:buNone/>
            </a:pPr>
            <a:r>
              <a:rPr lang="en-US" sz="3200" b="1" dirty="0">
                <a:solidFill>
                  <a:srgbClr val="1B2A4A"/>
                </a:solidFill>
                <a:latin typeface="Cambria" pitchFamily="34" charset="0"/>
                <a:ea typeface="Cambria" pitchFamily="34" charset="-122"/>
                <a:cs typeface="Cambria" pitchFamily="34" charset="-120"/>
              </a:rPr>
              <a:t>El problema que estamos resolviendo</a:t>
            </a:r>
            <a:endParaRPr lang="en-US" sz="3200" dirty="0"/>
          </a:p>
        </p:txBody>
      </p:sp>
      <p:sp>
        <p:nvSpPr>
          <p:cNvPr id="3" name="Text 1"/>
          <p:cNvSpPr txBox="1"/>
          <p:nvPr/>
        </p:nvSpPr>
        <p:spPr>
          <a:xfrm>
            <a:off x="640080" y="1417320"/>
            <a:ext cx="10058400" cy="457200"/>
          </a:xfrm>
          <a:prstGeom prst="rect">
            <a:avLst/>
          </a:prstGeom>
          <a:noFill/>
          <a:ln/>
        </p:spPr>
        <p:txBody>
          <a:bodyPr wrap="square" lIns="0" tIns="0" rIns="0" bIns="0" rtlCol="0" anchor="ctr"/>
          <a:lstStyle/>
          <a:p>
            <a:pPr indent="0" marL="0">
              <a:buNone/>
            </a:pPr>
            <a:r>
              <a:rPr lang="en-US" sz="1800" dirty="0">
                <a:solidFill>
                  <a:srgbClr val="44506B"/>
                </a:solidFill>
                <a:latin typeface="Calibri" pitchFamily="34" charset="0"/>
                <a:ea typeface="Calibri" pitchFamily="34" charset="-122"/>
                <a:cs typeface="Calibri" pitchFamily="34" charset="-120"/>
              </a:rPr>
              <a:t>Ustedes no pueden anticipar el costo de dos equipos clave para su proyecto.</a:t>
            </a:r>
            <a:endParaRPr lang="en-US" sz="1800" dirty="0"/>
          </a:p>
        </p:txBody>
      </p:sp>
      <p:sp>
        <p:nvSpPr>
          <p:cNvPr id="4" name="Shape 2"/>
          <p:cNvSpPr/>
          <p:nvPr/>
        </p:nvSpPr>
        <p:spPr>
          <a:xfrm>
            <a:off x="640080" y="2377440"/>
            <a:ext cx="3337560" cy="1737360"/>
          </a:xfrm>
          <a:prstGeom prst="roundRect">
            <a:avLst>
              <a:gd name="adj" fmla="val 4737"/>
            </a:avLst>
          </a:prstGeom>
          <a:solidFill>
            <a:srgbClr val="FFFFFF"/>
          </a:solidFill>
          <a:ln w="12700">
            <a:solidFill>
              <a:srgbClr val="E4E7ED"/>
            </a:solidFill>
            <a:prstDash val="solid"/>
          </a:ln>
          <a:effectLst>
            <a:outerShdw sx="100000" sy="100000" kx="0" ky="0" algn="bl" rotWithShape="0" blurRad="76200" dist="25400" dir="5400000">
              <a:srgbClr val="1B2A4A">
                <a:alpha val="8000"/>
              </a:srgbClr>
            </a:outerShdw>
          </a:effectLst>
        </p:spPr>
      </p:sp>
      <p:sp>
        <p:nvSpPr>
          <p:cNvPr id="5" name="Text 3"/>
          <p:cNvSpPr txBox="1"/>
          <p:nvPr/>
        </p:nvSpPr>
        <p:spPr>
          <a:xfrm>
            <a:off x="914400" y="2633472"/>
            <a:ext cx="2788920" cy="365760"/>
          </a:xfrm>
          <a:prstGeom prst="rect">
            <a:avLst/>
          </a:prstGeom>
          <a:noFill/>
          <a:ln/>
        </p:spPr>
        <p:txBody>
          <a:bodyPr wrap="square" lIns="0" tIns="0" rIns="0" bIns="0" rtlCol="0" anchor="ctr"/>
          <a:lstStyle/>
          <a:p>
            <a:pPr indent="0" marL="0">
              <a:buNone/>
            </a:pPr>
            <a:r>
              <a:rPr lang="en-US" sz="1500" b="1" dirty="0">
                <a:solidFill>
                  <a:srgbClr val="C1440E"/>
                </a:solidFill>
                <a:latin typeface="Calibri" pitchFamily="34" charset="0"/>
                <a:ea typeface="Calibri" pitchFamily="34" charset="-122"/>
                <a:cs typeface="Calibri" pitchFamily="34" charset="-120"/>
              </a:rPr>
              <a:t>El síntoma</a:t>
            </a:r>
            <a:endParaRPr lang="en-US" sz="1500" dirty="0"/>
          </a:p>
        </p:txBody>
      </p:sp>
      <p:sp>
        <p:nvSpPr>
          <p:cNvPr id="6" name="Text 4"/>
          <p:cNvSpPr txBox="1"/>
          <p:nvPr/>
        </p:nvSpPr>
        <p:spPr>
          <a:xfrm>
            <a:off x="914400" y="3063240"/>
            <a:ext cx="2788920" cy="822960"/>
          </a:xfrm>
          <a:prstGeom prst="rect">
            <a:avLst/>
          </a:prstGeom>
          <a:noFill/>
          <a:ln/>
        </p:spPr>
        <p:txBody>
          <a:bodyPr wrap="square" lIns="0" tIns="0" rIns="0" bIns="0" rtlCol="0" anchor="ctr"/>
          <a:lstStyle/>
          <a:p>
            <a:pPr indent="0" marL="0">
              <a:lnSpc>
                <a:spcPct val="115000"/>
              </a:lnSpc>
              <a:buNone/>
            </a:pPr>
            <a:r>
              <a:rPr lang="en-US" sz="1400" dirty="0">
                <a:solidFill>
                  <a:srgbClr val="44506B"/>
                </a:solidFill>
                <a:latin typeface="Calibri" pitchFamily="34" charset="0"/>
                <a:ea typeface="Calibri" pitchFamily="34" charset="-122"/>
                <a:cs typeface="Calibri" pitchFamily="34" charset="-120"/>
              </a:rPr>
              <a:t>Desviaciones de presupuesto recurrentes, difíciles de anticipar.</a:t>
            </a:r>
            <a:endParaRPr lang="en-US" sz="1400" dirty="0"/>
          </a:p>
        </p:txBody>
      </p:sp>
      <p:sp>
        <p:nvSpPr>
          <p:cNvPr id="7" name="Shape 5"/>
          <p:cNvSpPr/>
          <p:nvPr/>
        </p:nvSpPr>
        <p:spPr>
          <a:xfrm>
            <a:off x="4297680" y="2377440"/>
            <a:ext cx="3337560" cy="1737360"/>
          </a:xfrm>
          <a:prstGeom prst="roundRect">
            <a:avLst>
              <a:gd name="adj" fmla="val 4737"/>
            </a:avLst>
          </a:prstGeom>
          <a:solidFill>
            <a:srgbClr val="FFFFFF"/>
          </a:solidFill>
          <a:ln w="12700">
            <a:solidFill>
              <a:srgbClr val="E4E7ED"/>
            </a:solidFill>
            <a:prstDash val="solid"/>
          </a:ln>
          <a:effectLst>
            <a:outerShdw sx="100000" sy="100000" kx="0" ky="0" algn="bl" rotWithShape="0" blurRad="76200" dist="25400" dir="5400000">
              <a:srgbClr val="1B2A4A">
                <a:alpha val="8000"/>
              </a:srgbClr>
            </a:outerShdw>
          </a:effectLst>
        </p:spPr>
      </p:sp>
      <p:sp>
        <p:nvSpPr>
          <p:cNvPr id="8" name="Text 6"/>
          <p:cNvSpPr txBox="1"/>
          <p:nvPr/>
        </p:nvSpPr>
        <p:spPr>
          <a:xfrm>
            <a:off x="4572000" y="2633472"/>
            <a:ext cx="2788920" cy="365760"/>
          </a:xfrm>
          <a:prstGeom prst="rect">
            <a:avLst/>
          </a:prstGeom>
          <a:noFill/>
          <a:ln/>
        </p:spPr>
        <p:txBody>
          <a:bodyPr wrap="square" lIns="0" tIns="0" rIns="0" bIns="0" rtlCol="0" anchor="ctr"/>
          <a:lstStyle/>
          <a:p>
            <a:pPr indent="0" marL="0">
              <a:buNone/>
            </a:pPr>
            <a:r>
              <a:rPr lang="en-US" sz="1500" b="1" dirty="0">
                <a:solidFill>
                  <a:srgbClr val="C1440E"/>
                </a:solidFill>
                <a:latin typeface="Calibri" pitchFamily="34" charset="0"/>
                <a:ea typeface="Calibri" pitchFamily="34" charset="-122"/>
                <a:cs typeface="Calibri" pitchFamily="34" charset="-120"/>
              </a:rPr>
              <a:t>La sospecha</a:t>
            </a:r>
            <a:endParaRPr lang="en-US" sz="1500" dirty="0"/>
          </a:p>
        </p:txBody>
      </p:sp>
      <p:sp>
        <p:nvSpPr>
          <p:cNvPr id="9" name="Text 7"/>
          <p:cNvSpPr txBox="1"/>
          <p:nvPr/>
        </p:nvSpPr>
        <p:spPr>
          <a:xfrm>
            <a:off x="4572000" y="3063240"/>
            <a:ext cx="2788920" cy="822960"/>
          </a:xfrm>
          <a:prstGeom prst="rect">
            <a:avLst/>
          </a:prstGeom>
          <a:noFill/>
          <a:ln/>
        </p:spPr>
        <p:txBody>
          <a:bodyPr wrap="square" lIns="0" tIns="0" rIns="0" bIns="0" rtlCol="0" anchor="ctr"/>
          <a:lstStyle/>
          <a:p>
            <a:pPr indent="0" marL="0">
              <a:lnSpc>
                <a:spcPct val="115000"/>
              </a:lnSpc>
              <a:buNone/>
            </a:pPr>
            <a:r>
              <a:rPr lang="en-US" sz="1400" dirty="0">
                <a:solidFill>
                  <a:srgbClr val="44506B"/>
                </a:solidFill>
                <a:latin typeface="Calibri" pitchFamily="34" charset="0"/>
                <a:ea typeface="Calibri" pitchFamily="34" charset="-122"/>
                <a:cs typeface="Calibri" pitchFamily="34" charset="-120"/>
              </a:rPr>
              <a:t>Ustedes creen que hay relación con el precio de ciertas materias primas, sin nada que lo confirme.</a:t>
            </a:r>
            <a:endParaRPr lang="en-US" sz="1400" dirty="0"/>
          </a:p>
        </p:txBody>
      </p:sp>
      <p:sp>
        <p:nvSpPr>
          <p:cNvPr id="10" name="Shape 8"/>
          <p:cNvSpPr/>
          <p:nvPr/>
        </p:nvSpPr>
        <p:spPr>
          <a:xfrm>
            <a:off x="7955280" y="2377440"/>
            <a:ext cx="3337560" cy="1737360"/>
          </a:xfrm>
          <a:prstGeom prst="roundRect">
            <a:avLst>
              <a:gd name="adj" fmla="val 4737"/>
            </a:avLst>
          </a:prstGeom>
          <a:solidFill>
            <a:srgbClr val="1B2A4A"/>
          </a:solidFill>
          <a:ln w="12700">
            <a:solidFill>
              <a:srgbClr val="1B2A4A"/>
            </a:solidFill>
            <a:prstDash val="solid"/>
          </a:ln>
          <a:effectLst>
            <a:outerShdw sx="100000" sy="100000" kx="0" ky="0" algn="bl" rotWithShape="0" blurRad="76200" dist="25400" dir="5400000">
              <a:srgbClr val="1B2A4A">
                <a:alpha val="8000"/>
              </a:srgbClr>
            </a:outerShdw>
          </a:effectLst>
        </p:spPr>
      </p:sp>
      <p:sp>
        <p:nvSpPr>
          <p:cNvPr id="11" name="Text 9"/>
          <p:cNvSpPr txBox="1"/>
          <p:nvPr/>
        </p:nvSpPr>
        <p:spPr>
          <a:xfrm>
            <a:off x="8229600" y="2633472"/>
            <a:ext cx="2788920" cy="365760"/>
          </a:xfrm>
          <a:prstGeom prst="rect">
            <a:avLst/>
          </a:prstGeom>
          <a:noFill/>
          <a:ln/>
        </p:spPr>
        <p:txBody>
          <a:bodyPr wrap="square" lIns="0" tIns="0" rIns="0" bIns="0" rtlCol="0" anchor="ctr"/>
          <a:lstStyle/>
          <a:p>
            <a:pPr indent="0" marL="0">
              <a:buNone/>
            </a:pPr>
            <a:r>
              <a:rPr lang="en-US" sz="1500" b="1" dirty="0">
                <a:solidFill>
                  <a:srgbClr val="E0640F"/>
                </a:solidFill>
                <a:latin typeface="Calibri" pitchFamily="34" charset="0"/>
                <a:ea typeface="Calibri" pitchFamily="34" charset="-122"/>
                <a:cs typeface="Calibri" pitchFamily="34" charset="-120"/>
              </a:rPr>
              <a:t>El encargo</a:t>
            </a:r>
            <a:endParaRPr lang="en-US" sz="1500" dirty="0"/>
          </a:p>
        </p:txBody>
      </p:sp>
      <p:sp>
        <p:nvSpPr>
          <p:cNvPr id="12" name="Text 10"/>
          <p:cNvSpPr txBox="1"/>
          <p:nvPr/>
        </p:nvSpPr>
        <p:spPr>
          <a:xfrm>
            <a:off x="8229600" y="3063240"/>
            <a:ext cx="2788920" cy="822960"/>
          </a:xfrm>
          <a:prstGeom prst="rect">
            <a:avLst/>
          </a:prstGeom>
          <a:noFill/>
          <a:ln/>
        </p:spPr>
        <p:txBody>
          <a:bodyPr wrap="square" lIns="0" tIns="0" rIns="0" bIns="0" rtlCol="0" anchor="ctr"/>
          <a:lstStyle/>
          <a:p>
            <a:pPr indent="0" marL="0">
              <a:lnSpc>
                <a:spcPct val="115000"/>
              </a:lnSpc>
              <a:buNone/>
            </a:pPr>
            <a:r>
              <a:rPr lang="en-US" sz="1400" dirty="0">
                <a:solidFill>
                  <a:srgbClr val="F7F5EF"/>
                </a:solidFill>
                <a:latin typeface="Calibri" pitchFamily="34" charset="0"/>
                <a:ea typeface="Calibri" pitchFamily="34" charset="-122"/>
                <a:cs typeface="Calibri" pitchFamily="34" charset="-120"/>
              </a:rPr>
              <a:t>Un mecanismo confiable para anticipar el costo antes de cada fase del proyecto.</a:t>
            </a:r>
            <a:endParaRPr lang="en-US" sz="1400" dirty="0"/>
          </a:p>
        </p:txBody>
      </p:sp>
      <p:sp>
        <p:nvSpPr>
          <p:cNvPr id="13" name="Text 11"/>
          <p:cNvSpPr txBox="1"/>
          <p:nvPr/>
        </p:nvSpPr>
        <p:spPr>
          <a:xfrm>
            <a:off x="457200" y="6400800"/>
            <a:ext cx="6400800" cy="274320"/>
          </a:xfrm>
          <a:prstGeom prst="rect">
            <a:avLst/>
          </a:prstGeom>
          <a:noFill/>
          <a:ln/>
        </p:spPr>
        <p:txBody>
          <a:bodyPr wrap="square" lIns="0" tIns="0" rIns="0" bIns="0" rtlCol="0" anchor="ctr"/>
          <a:lstStyle/>
          <a:p>
            <a:pPr algn="l" indent="0" marL="0">
              <a:buNone/>
            </a:pPr>
            <a:r>
              <a:rPr lang="en-US" sz="1100" dirty="0">
                <a:solidFill>
                  <a:srgbClr val="6B7690"/>
                </a:solidFill>
                <a:latin typeface="Calibri" pitchFamily="34" charset="0"/>
                <a:ea typeface="Calibri" pitchFamily="34" charset="-122"/>
                <a:cs typeface="Calibri" pitchFamily="34" charset="-120"/>
              </a:rPr>
              <a:t>Gestión de costos de equipos de construcción</a:t>
            </a:r>
            <a:endParaRPr lang="en-US" sz="1100" dirty="0"/>
          </a:p>
        </p:txBody>
      </p:sp>
      <p:sp>
        <p:nvSpPr>
          <p:cNvPr id="14" name="Text 12"/>
          <p:cNvSpPr txBox="1"/>
          <p:nvPr/>
        </p:nvSpPr>
        <p:spPr>
          <a:xfrm>
            <a:off x="10820095" y="6400800"/>
            <a:ext cx="914400" cy="274320"/>
          </a:xfrm>
          <a:prstGeom prst="rect">
            <a:avLst/>
          </a:prstGeom>
          <a:noFill/>
          <a:ln/>
        </p:spPr>
        <p:txBody>
          <a:bodyPr wrap="square" lIns="0" tIns="0" rIns="0" bIns="0" rtlCol="0" anchor="ctr"/>
          <a:lstStyle/>
          <a:p>
            <a:pPr algn="r" indent="0" marL="0">
              <a:buNone/>
            </a:pPr>
            <a:r>
              <a:rPr lang="en-US" sz="1100" dirty="0">
                <a:solidFill>
                  <a:srgbClr val="6B7690"/>
                </a:solidFill>
                <a:latin typeface="Calibri" pitchFamily="34" charset="0"/>
                <a:ea typeface="Calibri" pitchFamily="34" charset="-122"/>
                <a:cs typeface="Calibri" pitchFamily="34" charset="-120"/>
              </a:rPr>
              <a:t>2 / 11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457200" cy="457200"/>
          </a:xfrm>
          <a:prstGeom prst="ellipse">
            <a:avLst/>
          </a:prstGeom>
          <a:solidFill>
            <a:srgbClr val="E0640F"/>
          </a:solidFill>
          <a:ln/>
        </p:spPr>
      </p:sp>
      <p:sp>
        <p:nvSpPr>
          <p:cNvPr id="3" name="Text 1"/>
          <p:cNvSpPr txBox="1"/>
          <p:nvPr/>
        </p:nvSpPr>
        <p:spPr>
          <a:xfrm>
            <a:off x="640080" y="5669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4" name="Text 2"/>
          <p:cNvSpPr txBox="1"/>
          <p:nvPr/>
        </p:nvSpPr>
        <p:spPr>
          <a:xfrm>
            <a:off x="1280160" y="502920"/>
            <a:ext cx="9875520" cy="1188720"/>
          </a:xfrm>
          <a:prstGeom prst="rect">
            <a:avLst/>
          </a:prstGeom>
          <a:noFill/>
          <a:ln/>
        </p:spPr>
        <p:txBody>
          <a:bodyPr wrap="square" lIns="0" tIns="0" rIns="0" bIns="0" rtlCol="0" anchor="ctr"/>
          <a:lstStyle/>
          <a:p>
            <a:pPr indent="0" marL="0">
              <a:lnSpc>
                <a:spcPct val="102000"/>
              </a:lnSpc>
              <a:buNone/>
            </a:pPr>
            <a:r>
              <a:rPr lang="en-US" sz="3200" b="1" dirty="0">
                <a:solidFill>
                  <a:srgbClr val="1B2A4A"/>
                </a:solidFill>
                <a:latin typeface="Cambria" pitchFamily="34" charset="0"/>
                <a:ea typeface="Cambria" pitchFamily="34" charset="-122"/>
                <a:cs typeface="Cambria" pitchFamily="34" charset="-120"/>
              </a:rPr>
              <a:t>Pusimos en orden la información</a:t>
            </a:r>
            <a:endParaRPr lang="en-US" sz="3200" dirty="0"/>
          </a:p>
        </p:txBody>
      </p:sp>
      <p:sp>
        <p:nvSpPr>
          <p:cNvPr id="5" name="Text 3"/>
          <p:cNvSpPr txBox="1"/>
          <p:nvPr/>
        </p:nvSpPr>
        <p:spPr>
          <a:xfrm>
            <a:off x="640080" y="1508760"/>
            <a:ext cx="10424160" cy="822960"/>
          </a:xfrm>
          <a:prstGeom prst="rect">
            <a:avLst/>
          </a:prstGeom>
          <a:noFill/>
          <a:ln/>
        </p:spPr>
        <p:txBody>
          <a:bodyPr wrap="square" lIns="0" tIns="0" rIns="0" bIns="0" rtlCol="0" anchor="ctr"/>
          <a:lstStyle/>
          <a:p>
            <a:pPr indent="0" marL="0">
              <a:lnSpc>
                <a:spcPct val="120000"/>
              </a:lnSpc>
              <a:buNone/>
            </a:pPr>
            <a:r>
              <a:rPr lang="en-US" sz="1600" dirty="0">
                <a:solidFill>
                  <a:srgbClr val="44506B"/>
                </a:solidFill>
                <a:latin typeface="Calibri" pitchFamily="34" charset="0"/>
                <a:ea typeface="Calibri" pitchFamily="34" charset="-122"/>
                <a:cs typeface="Calibri" pitchFamily="34" charset="-120"/>
              </a:rPr>
              <a:t>Los precios históricos venían de varias fuentes distintas, cada una con su propio formato. Antes de analizar nada, había que unificarlos, revisar que no faltara ni sobrara nada, y comprobar que coincidieran entre sí.</a:t>
            </a:r>
            <a:endParaRPr lang="en-US" sz="1600" dirty="0"/>
          </a:p>
        </p:txBody>
      </p:sp>
      <p:sp>
        <p:nvSpPr>
          <p:cNvPr id="6" name="Shape 4"/>
          <p:cNvSpPr/>
          <p:nvPr/>
        </p:nvSpPr>
        <p:spPr>
          <a:xfrm>
            <a:off x="640080" y="2606040"/>
            <a:ext cx="502920" cy="502920"/>
          </a:xfrm>
          <a:prstGeom prst="roundRect">
            <a:avLst>
              <a:gd name="adj" fmla="val 21818"/>
            </a:avLst>
          </a:prstGeom>
          <a:solidFill>
            <a:srgbClr val="FBEAE0"/>
          </a:solidFill>
          <a:ln/>
        </p:spPr>
      </p:sp>
      <p:sp>
        <p:nvSpPr>
          <p:cNvPr id="7" name="Text 5"/>
          <p:cNvSpPr txBox="1"/>
          <p:nvPr/>
        </p:nvSpPr>
        <p:spPr>
          <a:xfrm>
            <a:off x="640080" y="2606040"/>
            <a:ext cx="502920" cy="502920"/>
          </a:xfrm>
          <a:prstGeom prst="rect">
            <a:avLst/>
          </a:prstGeom>
          <a:noFill/>
          <a:ln/>
        </p:spPr>
        <p:txBody>
          <a:bodyPr wrap="square" lIns="0" tIns="0" rIns="0" bIns="0" rtlCol="0" anchor="ctr"/>
          <a:lstStyle/>
          <a:p>
            <a:pPr algn="ctr" indent="0" marL="0">
              <a:buNone/>
            </a:pPr>
            <a:r>
              <a:rPr lang="en-US" sz="2000" dirty="0">
                <a:solidFill>
                  <a:srgbClr val="E0640F"/>
                </a:solidFill>
                <a:latin typeface="Calibri" pitchFamily="34" charset="0"/>
                <a:ea typeface="Calibri" pitchFamily="34" charset="-122"/>
                <a:cs typeface="Calibri" pitchFamily="34" charset="-120"/>
              </a:rPr>
              <a:t>⚙</a:t>
            </a:r>
            <a:endParaRPr lang="en-US" sz="2000" dirty="0"/>
          </a:p>
        </p:txBody>
      </p:sp>
      <p:sp>
        <p:nvSpPr>
          <p:cNvPr id="8" name="Text 6"/>
          <p:cNvSpPr txBox="1"/>
          <p:nvPr/>
        </p:nvSpPr>
        <p:spPr>
          <a:xfrm>
            <a:off x="640080" y="3227832"/>
            <a:ext cx="3337560"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Unificar formatos</a:t>
            </a:r>
            <a:endParaRPr lang="en-US" sz="1600" dirty="0"/>
          </a:p>
        </p:txBody>
      </p:sp>
      <p:sp>
        <p:nvSpPr>
          <p:cNvPr id="9" name="Text 7"/>
          <p:cNvSpPr txBox="1"/>
          <p:nvPr/>
        </p:nvSpPr>
        <p:spPr>
          <a:xfrm>
            <a:off x="640080" y="3611880"/>
            <a:ext cx="3337560" cy="914400"/>
          </a:xfrm>
          <a:prstGeom prst="rect">
            <a:avLst/>
          </a:prstGeom>
          <a:noFill/>
          <a:ln/>
        </p:spPr>
        <p:txBody>
          <a:bodyPr wrap="square" lIns="0" tIns="0" rIns="0" bIns="0" rtlCol="0" anchor="ctr"/>
          <a:lstStyle/>
          <a:p>
            <a:pPr indent="0" marL="0">
              <a:lnSpc>
                <a:spcPct val="115000"/>
              </a:lnSpc>
              <a:buNone/>
            </a:pPr>
            <a:r>
              <a:rPr lang="en-US" sz="1300" dirty="0">
                <a:solidFill>
                  <a:srgbClr val="6B7690"/>
                </a:solidFill>
                <a:latin typeface="Calibri" pitchFamily="34" charset="0"/>
                <a:ea typeface="Calibri" pitchFamily="34" charset="-122"/>
                <a:cs typeface="Calibri" pitchFamily="34" charset="-120"/>
              </a:rPr>
              <a:t>Mismas fechas, mismos decimales, mismos nombres, en las 4 fuentes.</a:t>
            </a:r>
            <a:endParaRPr lang="en-US" sz="1300" dirty="0"/>
          </a:p>
        </p:txBody>
      </p:sp>
      <p:sp>
        <p:nvSpPr>
          <p:cNvPr id="10" name="Shape 8"/>
          <p:cNvSpPr/>
          <p:nvPr/>
        </p:nvSpPr>
        <p:spPr>
          <a:xfrm>
            <a:off x="4297680" y="2606040"/>
            <a:ext cx="502920" cy="502920"/>
          </a:xfrm>
          <a:prstGeom prst="roundRect">
            <a:avLst>
              <a:gd name="adj" fmla="val 21818"/>
            </a:avLst>
          </a:prstGeom>
          <a:solidFill>
            <a:srgbClr val="FBEAE0"/>
          </a:solidFill>
          <a:ln/>
        </p:spPr>
      </p:sp>
      <p:sp>
        <p:nvSpPr>
          <p:cNvPr id="11" name="Text 9"/>
          <p:cNvSpPr txBox="1"/>
          <p:nvPr/>
        </p:nvSpPr>
        <p:spPr>
          <a:xfrm>
            <a:off x="4297680" y="2606040"/>
            <a:ext cx="502920" cy="502920"/>
          </a:xfrm>
          <a:prstGeom prst="rect">
            <a:avLst/>
          </a:prstGeom>
          <a:noFill/>
          <a:ln/>
        </p:spPr>
        <p:txBody>
          <a:bodyPr wrap="square" lIns="0" tIns="0" rIns="0" bIns="0" rtlCol="0" anchor="ctr"/>
          <a:lstStyle/>
          <a:p>
            <a:pPr algn="ctr" indent="0" marL="0">
              <a:buNone/>
            </a:pPr>
            <a:r>
              <a:rPr lang="en-US" sz="2000" dirty="0">
                <a:solidFill>
                  <a:srgbClr val="E0640F"/>
                </a:solidFill>
                <a:latin typeface="Calibri" pitchFamily="34" charset="0"/>
                <a:ea typeface="Calibri" pitchFamily="34" charset="-122"/>
                <a:cs typeface="Calibri" pitchFamily="34" charset="-120"/>
              </a:rPr>
              <a:t>✓</a:t>
            </a:r>
            <a:endParaRPr lang="en-US" sz="2000" dirty="0"/>
          </a:p>
        </p:txBody>
      </p:sp>
      <p:sp>
        <p:nvSpPr>
          <p:cNvPr id="12" name="Text 10"/>
          <p:cNvSpPr txBox="1"/>
          <p:nvPr/>
        </p:nvSpPr>
        <p:spPr>
          <a:xfrm>
            <a:off x="4297680" y="3227832"/>
            <a:ext cx="3337560"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Revisar la calidad</a:t>
            </a:r>
            <a:endParaRPr lang="en-US" sz="1600" dirty="0"/>
          </a:p>
        </p:txBody>
      </p:sp>
      <p:sp>
        <p:nvSpPr>
          <p:cNvPr id="13" name="Text 11"/>
          <p:cNvSpPr txBox="1"/>
          <p:nvPr/>
        </p:nvSpPr>
        <p:spPr>
          <a:xfrm>
            <a:off x="4297680" y="3611880"/>
            <a:ext cx="3337560" cy="914400"/>
          </a:xfrm>
          <a:prstGeom prst="rect">
            <a:avLst/>
          </a:prstGeom>
          <a:noFill/>
          <a:ln/>
        </p:spPr>
        <p:txBody>
          <a:bodyPr wrap="square" lIns="0" tIns="0" rIns="0" bIns="0" rtlCol="0" anchor="ctr"/>
          <a:lstStyle/>
          <a:p>
            <a:pPr indent="0" marL="0">
              <a:lnSpc>
                <a:spcPct val="115000"/>
              </a:lnSpc>
              <a:buNone/>
            </a:pPr>
            <a:r>
              <a:rPr lang="en-US" sz="1300" dirty="0">
                <a:solidFill>
                  <a:srgbClr val="6B7690"/>
                </a:solidFill>
                <a:latin typeface="Calibri" pitchFamily="34" charset="0"/>
                <a:ea typeface="Calibri" pitchFamily="34" charset="-122"/>
                <a:cs typeface="Calibri" pitchFamily="34" charset="-120"/>
              </a:rPr>
              <a:t>Duplicados, datos faltantes y saltos de precio raros, documentados sin borrar nada sin evidencia.</a:t>
            </a:r>
            <a:endParaRPr lang="en-US" sz="1300" dirty="0"/>
          </a:p>
        </p:txBody>
      </p:sp>
      <p:sp>
        <p:nvSpPr>
          <p:cNvPr id="14" name="Shape 12"/>
          <p:cNvSpPr/>
          <p:nvPr/>
        </p:nvSpPr>
        <p:spPr>
          <a:xfrm>
            <a:off x="7955280" y="2606040"/>
            <a:ext cx="502920" cy="502920"/>
          </a:xfrm>
          <a:prstGeom prst="roundRect">
            <a:avLst>
              <a:gd name="adj" fmla="val 21818"/>
            </a:avLst>
          </a:prstGeom>
          <a:solidFill>
            <a:srgbClr val="FBEAE0"/>
          </a:solidFill>
          <a:ln/>
        </p:spPr>
      </p:sp>
      <p:sp>
        <p:nvSpPr>
          <p:cNvPr id="15" name="Text 13"/>
          <p:cNvSpPr txBox="1"/>
          <p:nvPr/>
        </p:nvSpPr>
        <p:spPr>
          <a:xfrm>
            <a:off x="7955280" y="2606040"/>
            <a:ext cx="502920" cy="502920"/>
          </a:xfrm>
          <a:prstGeom prst="rect">
            <a:avLst/>
          </a:prstGeom>
          <a:noFill/>
          <a:ln/>
        </p:spPr>
        <p:txBody>
          <a:bodyPr wrap="square" lIns="0" tIns="0" rIns="0" bIns="0" rtlCol="0" anchor="ctr"/>
          <a:lstStyle/>
          <a:p>
            <a:pPr algn="ctr" indent="0" marL="0">
              <a:buNone/>
            </a:pPr>
            <a:r>
              <a:rPr lang="en-US" sz="2000" dirty="0">
                <a:solidFill>
                  <a:srgbClr val="E0640F"/>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7955280" y="3227832"/>
            <a:ext cx="3337560"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Alinear en el tiempo</a:t>
            </a:r>
            <a:endParaRPr lang="en-US" sz="1600" dirty="0"/>
          </a:p>
        </p:txBody>
      </p:sp>
      <p:sp>
        <p:nvSpPr>
          <p:cNvPr id="17" name="Text 15"/>
          <p:cNvSpPr txBox="1"/>
          <p:nvPr/>
        </p:nvSpPr>
        <p:spPr>
          <a:xfrm>
            <a:off x="7955280" y="3611880"/>
            <a:ext cx="3337560" cy="914400"/>
          </a:xfrm>
          <a:prstGeom prst="rect">
            <a:avLst/>
          </a:prstGeom>
          <a:noFill/>
          <a:ln/>
        </p:spPr>
        <p:txBody>
          <a:bodyPr wrap="square" lIns="0" tIns="0" rIns="0" bIns="0" rtlCol="0" anchor="ctr"/>
          <a:lstStyle/>
          <a:p>
            <a:pPr indent="0" marL="0">
              <a:lnSpc>
                <a:spcPct val="115000"/>
              </a:lnSpc>
              <a:buNone/>
            </a:pPr>
            <a:r>
              <a:rPr lang="en-US" sz="1300" dirty="0">
                <a:solidFill>
                  <a:srgbClr val="6B7690"/>
                </a:solidFill>
                <a:latin typeface="Calibri" pitchFamily="34" charset="0"/>
                <a:ea typeface="Calibri" pitchFamily="34" charset="-122"/>
                <a:cs typeface="Calibri" pitchFamily="34" charset="-120"/>
              </a:rPr>
              <a:t>Toda la información ordenada en una sola línea de tiempo, sin perder historia.</a:t>
            </a:r>
            <a:endParaRPr lang="en-US" sz="1300" dirty="0"/>
          </a:p>
        </p:txBody>
      </p:sp>
      <p:sp>
        <p:nvSpPr>
          <p:cNvPr id="18" name="Text 16"/>
          <p:cNvSpPr txBox="1"/>
          <p:nvPr/>
        </p:nvSpPr>
        <p:spPr>
          <a:xfrm>
            <a:off x="640080" y="5074920"/>
            <a:ext cx="10424160" cy="731520"/>
          </a:xfrm>
          <a:prstGeom prst="rect">
            <a:avLst/>
          </a:prstGeom>
          <a:noFill/>
          <a:ln/>
        </p:spPr>
        <p:txBody>
          <a:bodyPr wrap="square" lIns="0" tIns="0" rIns="0" bIns="0" rtlCol="0" anchor="ctr"/>
          <a:lstStyle/>
          <a:p>
            <a:pPr indent="0" marL="0">
              <a:buNone/>
            </a:pPr>
            <a:r>
              <a:rPr lang="en-US" sz="4400" b="1" dirty="0">
                <a:solidFill>
                  <a:srgbClr val="E0640F"/>
                </a:solidFill>
                <a:latin typeface="Cambria" pitchFamily="34" charset="0"/>
                <a:ea typeface="Cambria" pitchFamily="34" charset="-122"/>
                <a:cs typeface="Cambria" pitchFamily="34" charset="-120"/>
              </a:rPr>
              <a:t>3.530 </a:t>
            </a:r>
            <a:pPr indent="0" marL="0">
              <a:buNone/>
            </a:pPr>
            <a:r>
              <a:rPr lang="en-US" sz="1600" dirty="0">
                <a:solidFill>
                  <a:srgbClr val="44506B"/>
                </a:solidFill>
                <a:latin typeface="Calibri" pitchFamily="34" charset="0"/>
                <a:ea typeface="Calibri" pitchFamily="34" charset="-122"/>
                <a:cs typeface="Calibri" pitchFamily="34" charset="-120"/>
              </a:rPr>
              <a:t>días hábiles de historia limpia (2010–2023), revisados uno por uno contra la fuente original</a:t>
            </a:r>
            <a:endParaRPr lang="en-US" sz="4400" dirty="0"/>
          </a:p>
        </p:txBody>
      </p:sp>
      <p:sp>
        <p:nvSpPr>
          <p:cNvPr id="19" name="Text 17"/>
          <p:cNvSpPr txBox="1"/>
          <p:nvPr/>
        </p:nvSpPr>
        <p:spPr>
          <a:xfrm>
            <a:off x="457200" y="6400800"/>
            <a:ext cx="6400800" cy="274320"/>
          </a:xfrm>
          <a:prstGeom prst="rect">
            <a:avLst/>
          </a:prstGeom>
          <a:noFill/>
          <a:ln/>
        </p:spPr>
        <p:txBody>
          <a:bodyPr wrap="square" lIns="0" tIns="0" rIns="0" bIns="0" rtlCol="0" anchor="ctr"/>
          <a:lstStyle/>
          <a:p>
            <a:pPr algn="l" indent="0" marL="0">
              <a:buNone/>
            </a:pPr>
            <a:r>
              <a:rPr lang="en-US" sz="1100" dirty="0">
                <a:solidFill>
                  <a:srgbClr val="6B7690"/>
                </a:solidFill>
                <a:latin typeface="Calibri" pitchFamily="34" charset="0"/>
                <a:ea typeface="Calibri" pitchFamily="34" charset="-122"/>
                <a:cs typeface="Calibri" pitchFamily="34" charset="-120"/>
              </a:rPr>
              <a:t>Gestión de costos de equipos de construcción</a:t>
            </a:r>
            <a:endParaRPr lang="en-US" sz="1100" dirty="0"/>
          </a:p>
        </p:txBody>
      </p:sp>
      <p:sp>
        <p:nvSpPr>
          <p:cNvPr id="20" name="Text 18"/>
          <p:cNvSpPr txBox="1"/>
          <p:nvPr/>
        </p:nvSpPr>
        <p:spPr>
          <a:xfrm>
            <a:off x="10820095" y="6400800"/>
            <a:ext cx="914400" cy="274320"/>
          </a:xfrm>
          <a:prstGeom prst="rect">
            <a:avLst/>
          </a:prstGeom>
          <a:noFill/>
          <a:ln/>
        </p:spPr>
        <p:txBody>
          <a:bodyPr wrap="square" lIns="0" tIns="0" rIns="0" bIns="0" rtlCol="0" anchor="ctr"/>
          <a:lstStyle/>
          <a:p>
            <a:pPr algn="r" indent="0" marL="0">
              <a:buNone/>
            </a:pPr>
            <a:r>
              <a:rPr lang="en-US" sz="1100" dirty="0">
                <a:solidFill>
                  <a:srgbClr val="6B7690"/>
                </a:solidFill>
                <a:latin typeface="Calibri" pitchFamily="34" charset="0"/>
                <a:ea typeface="Calibri" pitchFamily="34" charset="-122"/>
                <a:cs typeface="Calibri" pitchFamily="34" charset="-120"/>
              </a:rPr>
              <a:t>3 / 11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640080" y="914400"/>
            <a:ext cx="9144000" cy="320040"/>
          </a:xfrm>
          <a:prstGeom prst="rect">
            <a:avLst/>
          </a:prstGeom>
          <a:noFill/>
          <a:ln/>
        </p:spPr>
        <p:txBody>
          <a:bodyPr wrap="square" lIns="0" tIns="0" rIns="0" bIns="0" rtlCol="0" anchor="ctr"/>
          <a:lstStyle/>
          <a:p>
            <a:pPr indent="0" marL="0">
              <a:buNone/>
            </a:pPr>
            <a:r>
              <a:rPr lang="en-US" sz="1300" b="1" spc="100" kern="0" dirty="0">
                <a:solidFill>
                  <a:srgbClr val="E0640F"/>
                </a:solidFill>
                <a:latin typeface="Calibri" pitchFamily="34" charset="0"/>
                <a:ea typeface="Calibri" pitchFamily="34" charset="-122"/>
                <a:cs typeface="Calibri" pitchFamily="34" charset="-120"/>
              </a:rPr>
              <a:t>LA PREGUNTA QUE DECIDE TODO EL ANÁLISIS</a:t>
            </a:r>
            <a:endParaRPr lang="en-US" sz="1300" dirty="0"/>
          </a:p>
        </p:txBody>
      </p:sp>
      <p:sp>
        <p:nvSpPr>
          <p:cNvPr id="3" name="Text 1"/>
          <p:cNvSpPr txBox="1"/>
          <p:nvPr/>
        </p:nvSpPr>
        <p:spPr>
          <a:xfrm>
            <a:off x="640080" y="1371600"/>
            <a:ext cx="10058400" cy="1188720"/>
          </a:xfrm>
          <a:prstGeom prst="rect">
            <a:avLst/>
          </a:prstGeom>
          <a:noFill/>
          <a:ln/>
        </p:spPr>
        <p:txBody>
          <a:bodyPr wrap="square" lIns="0" tIns="0" rIns="0" bIns="0" rtlCol="0" anchor="ctr"/>
          <a:lstStyle/>
          <a:p>
            <a:pPr indent="0" marL="0">
              <a:lnSpc>
                <a:spcPct val="102000"/>
              </a:lnSpc>
              <a:buNone/>
            </a:pPr>
            <a:r>
              <a:rPr lang="en-US" sz="3600" b="1" dirty="0">
                <a:solidFill>
                  <a:srgbClr val="F7F5EF"/>
                </a:solidFill>
                <a:latin typeface="Cambria" pitchFamily="34" charset="0"/>
                <a:ea typeface="Cambria" pitchFamily="34" charset="-122"/>
                <a:cs typeface="Cambria" pitchFamily="34" charset="-120"/>
              </a:rPr>
              <a:t>¿Es una relación real, o</a:t>
            </a:r>
            <a:endParaRPr lang="en-US" sz="3600" dirty="0"/>
          </a:p>
          <a:p>
            <a:pPr indent="0" marL="0">
              <a:lnSpc>
                <a:spcPct val="102000"/>
              </a:lnSpc>
              <a:buNone/>
            </a:pPr>
            <a:r>
              <a:rPr lang="en-US" sz="3600" b="1" dirty="0">
                <a:solidFill>
                  <a:srgbClr val="F7F5EF"/>
                </a:solidFill>
                <a:latin typeface="Cambria" pitchFamily="34" charset="0"/>
                <a:ea typeface="Cambria" pitchFamily="34" charset="-122"/>
                <a:cs typeface="Cambria" pitchFamily="34" charset="-120"/>
              </a:rPr>
              <a:t>pura coincidencia?</a:t>
            </a:r>
            <a:endParaRPr lang="en-US" sz="3600" dirty="0"/>
          </a:p>
        </p:txBody>
      </p:sp>
      <p:sp>
        <p:nvSpPr>
          <p:cNvPr id="4" name="Text 2"/>
          <p:cNvSpPr txBox="1"/>
          <p:nvPr/>
        </p:nvSpPr>
        <p:spPr>
          <a:xfrm>
            <a:off x="640080" y="3246120"/>
            <a:ext cx="2743200" cy="822960"/>
          </a:xfrm>
          <a:prstGeom prst="rect">
            <a:avLst/>
          </a:prstGeom>
          <a:noFill/>
          <a:ln/>
        </p:spPr>
        <p:txBody>
          <a:bodyPr wrap="square" lIns="0" tIns="0" rIns="0" bIns="0" rtlCol="0" anchor="ctr"/>
          <a:lstStyle/>
          <a:p>
            <a:pPr indent="0" marL="0">
              <a:buNone/>
            </a:pPr>
            <a:r>
              <a:rPr lang="en-US" sz="4600" b="1" dirty="0">
                <a:solidFill>
                  <a:srgbClr val="E0640F"/>
                </a:solidFill>
                <a:latin typeface="Cambria" pitchFamily="34" charset="0"/>
                <a:ea typeface="Cambria" pitchFamily="34" charset="-122"/>
                <a:cs typeface="Cambria" pitchFamily="34" charset="-120"/>
              </a:rPr>
              <a:t>0.997 </a:t>
            </a:r>
            <a:endParaRPr lang="en-US" sz="4600" dirty="0"/>
          </a:p>
        </p:txBody>
      </p:sp>
      <p:sp>
        <p:nvSpPr>
          <p:cNvPr id="5" name="Text 3"/>
          <p:cNvSpPr txBox="1"/>
          <p:nvPr/>
        </p:nvSpPr>
        <p:spPr>
          <a:xfrm>
            <a:off x="3246120" y="3291840"/>
            <a:ext cx="7498080" cy="822960"/>
          </a:xfrm>
          <a:prstGeom prst="rect">
            <a:avLst/>
          </a:prstGeom>
          <a:noFill/>
          <a:ln/>
        </p:spPr>
        <p:txBody>
          <a:bodyPr wrap="square" lIns="0" tIns="0" rIns="0" bIns="0" rtlCol="0" anchor="ctr"/>
          <a:lstStyle/>
          <a:p>
            <a:pPr indent="0" marL="0">
              <a:lnSpc>
                <a:spcPct val="120000"/>
              </a:lnSpc>
              <a:buNone/>
            </a:pPr>
            <a:r>
              <a:rPr lang="en-US" sz="1600" dirty="0">
                <a:solidFill>
                  <a:srgbClr val="AEB9CC"/>
                </a:solidFill>
                <a:latin typeface="Calibri" pitchFamily="34" charset="0"/>
                <a:ea typeface="Calibri" pitchFamily="34" charset="-122"/>
                <a:cs typeface="Calibri" pitchFamily="34" charset="-120"/>
              </a:rPr>
              <a:t>de parecido entre el precio de un insumo y el de un equipo, mirando el precio tal cual — puede ser pura ilusión, no una relación real</a:t>
            </a:r>
            <a:endParaRPr lang="en-US" sz="1600" dirty="0"/>
          </a:p>
        </p:txBody>
      </p:sp>
      <p:sp>
        <p:nvSpPr>
          <p:cNvPr id="6" name="Text 4"/>
          <p:cNvSpPr txBox="1"/>
          <p:nvPr/>
        </p:nvSpPr>
        <p:spPr>
          <a:xfrm>
            <a:off x="640080" y="4480560"/>
            <a:ext cx="8686800" cy="822960"/>
          </a:xfrm>
          <a:prstGeom prst="rect">
            <a:avLst/>
          </a:prstGeom>
          <a:noFill/>
          <a:ln/>
        </p:spPr>
        <p:txBody>
          <a:bodyPr wrap="square" lIns="0" tIns="0" rIns="0" bIns="0" rtlCol="0" anchor="ctr"/>
          <a:lstStyle/>
          <a:p>
            <a:pPr indent="0" marL="0">
              <a:lnSpc>
                <a:spcPct val="120000"/>
              </a:lnSpc>
              <a:buNone/>
            </a:pPr>
            <a:r>
              <a:rPr lang="en-US" sz="1400" dirty="0">
                <a:solidFill>
                  <a:srgbClr val="AEB9CC"/>
                </a:solidFill>
                <a:latin typeface="Calibri" pitchFamily="34" charset="0"/>
                <a:ea typeface="Calibri" pitchFamily="34" charset="-122"/>
                <a:cs typeface="Calibri" pitchFamily="34" charset="-120"/>
              </a:rPr>
              <a:t>Cuando dos precios suben con los años, parecen ir de la mano aunque no tengan ninguna relación real entre sí. Antes de sacar cualquier conclusión, hay que descartar que sea solo eso.</a:t>
            </a:r>
            <a:endParaRPr lang="en-US" sz="1400" dirty="0"/>
          </a:p>
        </p:txBody>
      </p:sp>
      <p:sp>
        <p:nvSpPr>
          <p:cNvPr id="7" name="Text 5"/>
          <p:cNvSpPr txBox="1"/>
          <p:nvPr/>
        </p:nvSpPr>
        <p:spPr>
          <a:xfrm>
            <a:off x="457200" y="6400800"/>
            <a:ext cx="6400800" cy="274320"/>
          </a:xfrm>
          <a:prstGeom prst="rect">
            <a:avLst/>
          </a:prstGeom>
          <a:noFill/>
          <a:ln/>
        </p:spPr>
        <p:txBody>
          <a:bodyPr wrap="square" lIns="0" tIns="0" rIns="0" bIns="0" rtlCol="0" anchor="ctr"/>
          <a:lstStyle/>
          <a:p>
            <a:pPr algn="l" indent="0" marL="0">
              <a:buNone/>
            </a:pPr>
            <a:r>
              <a:rPr lang="en-US" sz="1100" dirty="0">
                <a:solidFill>
                  <a:srgbClr val="AEB9CC"/>
                </a:solidFill>
                <a:latin typeface="Calibri" pitchFamily="34" charset="0"/>
                <a:ea typeface="Calibri" pitchFamily="34" charset="-122"/>
                <a:cs typeface="Calibri" pitchFamily="34" charset="-120"/>
              </a:rPr>
              <a:t>Gestión de costos de equipos de construcción</a:t>
            </a:r>
            <a:endParaRPr lang="en-US" sz="1100" dirty="0"/>
          </a:p>
        </p:txBody>
      </p:sp>
      <p:sp>
        <p:nvSpPr>
          <p:cNvPr id="8" name="Text 6"/>
          <p:cNvSpPr txBox="1"/>
          <p:nvPr/>
        </p:nvSpPr>
        <p:spPr>
          <a:xfrm>
            <a:off x="10820095" y="6400800"/>
            <a:ext cx="914400" cy="274320"/>
          </a:xfrm>
          <a:prstGeom prst="rect">
            <a:avLst/>
          </a:prstGeom>
          <a:noFill/>
          <a:ln/>
        </p:spPr>
        <p:txBody>
          <a:bodyPr wrap="square" lIns="0" tIns="0" rIns="0" bIns="0" rtlCol="0" anchor="ctr"/>
          <a:lstStyle/>
          <a:p>
            <a:pPr algn="r" indent="0" marL="0">
              <a:buNone/>
            </a:pPr>
            <a:r>
              <a:rPr lang="en-US" sz="1100" dirty="0">
                <a:solidFill>
                  <a:srgbClr val="AEB9CC"/>
                </a:solidFill>
                <a:latin typeface="Calibri" pitchFamily="34" charset="0"/>
                <a:ea typeface="Calibri" pitchFamily="34" charset="-122"/>
                <a:cs typeface="Calibri" pitchFamily="34" charset="-120"/>
              </a:rPr>
              <a:t>4 / 11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457200" cy="457200"/>
          </a:xfrm>
          <a:prstGeom prst="ellipse">
            <a:avLst/>
          </a:prstGeom>
          <a:solidFill>
            <a:srgbClr val="E0640F"/>
          </a:solidFill>
          <a:ln/>
        </p:spPr>
      </p:sp>
      <p:sp>
        <p:nvSpPr>
          <p:cNvPr id="3" name="Text 1"/>
          <p:cNvSpPr txBox="1"/>
          <p:nvPr/>
        </p:nvSpPr>
        <p:spPr>
          <a:xfrm>
            <a:off x="640080" y="5669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4" name="Text 2"/>
          <p:cNvSpPr txBox="1"/>
          <p:nvPr/>
        </p:nvSpPr>
        <p:spPr>
          <a:xfrm>
            <a:off x="1280160" y="502920"/>
            <a:ext cx="10058400" cy="1188720"/>
          </a:xfrm>
          <a:prstGeom prst="rect">
            <a:avLst/>
          </a:prstGeom>
          <a:noFill/>
          <a:ln/>
        </p:spPr>
        <p:txBody>
          <a:bodyPr wrap="square" lIns="0" tIns="0" rIns="0" bIns="0" rtlCol="0" anchor="ctr"/>
          <a:lstStyle/>
          <a:p>
            <a:pPr indent="0" marL="0">
              <a:lnSpc>
                <a:spcPct val="102000"/>
              </a:lnSpc>
              <a:buNone/>
            </a:pPr>
            <a:r>
              <a:rPr lang="en-US" sz="3000" b="1" dirty="0">
                <a:solidFill>
                  <a:srgbClr val="1B2A4A"/>
                </a:solidFill>
                <a:latin typeface="Cambria" pitchFamily="34" charset="0"/>
                <a:ea typeface="Cambria" pitchFamily="34" charset="-122"/>
                <a:cs typeface="Cambria" pitchFamily="34" charset="-120"/>
              </a:rPr>
              <a:t>Lo confirmamos 5 veces, no con una sola prueba</a:t>
            </a:r>
            <a:endParaRPr lang="en-US" sz="3000" dirty="0"/>
          </a:p>
        </p:txBody>
      </p:sp>
      <p:sp>
        <p:nvSpPr>
          <p:cNvPr id="5" name="Shape 3"/>
          <p:cNvSpPr/>
          <p:nvPr/>
        </p:nvSpPr>
        <p:spPr>
          <a:xfrm>
            <a:off x="685800" y="1719072"/>
            <a:ext cx="256032" cy="256032"/>
          </a:xfrm>
          <a:prstGeom prst="ellipse">
            <a:avLst/>
          </a:prstGeom>
          <a:solidFill>
            <a:srgbClr val="FFFFFF"/>
          </a:solidFill>
          <a:ln w="22225">
            <a:solidFill>
              <a:srgbClr val="E0640F"/>
            </a:solidFill>
            <a:prstDash val="solid"/>
          </a:ln>
        </p:spPr>
      </p:sp>
      <p:sp>
        <p:nvSpPr>
          <p:cNvPr id="6" name="Text 4"/>
          <p:cNvSpPr txBox="1"/>
          <p:nvPr/>
        </p:nvSpPr>
        <p:spPr>
          <a:xfrm>
            <a:off x="685800" y="1705356"/>
            <a:ext cx="256032" cy="256032"/>
          </a:xfrm>
          <a:prstGeom prst="rect">
            <a:avLst/>
          </a:prstGeom>
          <a:noFill/>
          <a:ln/>
        </p:spPr>
        <p:txBody>
          <a:bodyPr wrap="square" lIns="0" tIns="0" rIns="0" bIns="0" rtlCol="0" anchor="ctr"/>
          <a:lstStyle/>
          <a:p>
            <a:pPr algn="ctr" indent="0" marL="0">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7" name="Text 5"/>
          <p:cNvSpPr txBox="1"/>
          <p:nvPr/>
        </p:nvSpPr>
        <p:spPr>
          <a:xfrm>
            <a:off x="1143000" y="1691640"/>
            <a:ext cx="9692640" cy="457200"/>
          </a:xfrm>
          <a:prstGeom prst="rect">
            <a:avLst/>
          </a:prstGeom>
          <a:noFill/>
          <a:ln/>
        </p:spPr>
        <p:txBody>
          <a:bodyPr wrap="square" lIns="0" tIns="0" rIns="0" bIns="0" rtlCol="0" anchor="ctr"/>
          <a:lstStyle/>
          <a:p>
            <a:pPr indent="0" marL="0">
              <a:buNone/>
            </a:pPr>
            <a:r>
              <a:rPr lang="en-US" sz="1600" dirty="0">
                <a:solidFill>
                  <a:srgbClr val="44506B"/>
                </a:solidFill>
                <a:latin typeface="Calibri" pitchFamily="34" charset="0"/>
                <a:ea typeface="Calibri" pitchFamily="34" charset="-122"/>
                <a:cs typeface="Calibri" pitchFamily="34" charset="-120"/>
              </a:rPr>
              <a:t>¿Están atados de verdad a largo plazo, o solo coinciden por casualidad?</a:t>
            </a:r>
            <a:endParaRPr lang="en-US" sz="1600" dirty="0"/>
          </a:p>
        </p:txBody>
      </p:sp>
      <p:sp>
        <p:nvSpPr>
          <p:cNvPr id="8" name="Shape 6"/>
          <p:cNvSpPr/>
          <p:nvPr/>
        </p:nvSpPr>
        <p:spPr>
          <a:xfrm>
            <a:off x="685800" y="2286000"/>
            <a:ext cx="256032" cy="256032"/>
          </a:xfrm>
          <a:prstGeom prst="ellipse">
            <a:avLst/>
          </a:prstGeom>
          <a:solidFill>
            <a:srgbClr val="FFFFFF"/>
          </a:solidFill>
          <a:ln w="22225">
            <a:solidFill>
              <a:srgbClr val="E0640F"/>
            </a:solidFill>
            <a:prstDash val="solid"/>
          </a:ln>
        </p:spPr>
      </p:sp>
      <p:sp>
        <p:nvSpPr>
          <p:cNvPr id="9" name="Text 7"/>
          <p:cNvSpPr txBox="1"/>
          <p:nvPr/>
        </p:nvSpPr>
        <p:spPr>
          <a:xfrm>
            <a:off x="685800" y="2272284"/>
            <a:ext cx="256032" cy="256032"/>
          </a:xfrm>
          <a:prstGeom prst="rect">
            <a:avLst/>
          </a:prstGeom>
          <a:noFill/>
          <a:ln/>
        </p:spPr>
        <p:txBody>
          <a:bodyPr wrap="square" lIns="0" tIns="0" rIns="0" bIns="0" rtlCol="0" anchor="ctr"/>
          <a:lstStyle/>
          <a:p>
            <a:pPr algn="ctr" indent="0" marL="0">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0" name="Text 8"/>
          <p:cNvSpPr txBox="1"/>
          <p:nvPr/>
        </p:nvSpPr>
        <p:spPr>
          <a:xfrm>
            <a:off x="1143000" y="2258568"/>
            <a:ext cx="9692640" cy="457200"/>
          </a:xfrm>
          <a:prstGeom prst="rect">
            <a:avLst/>
          </a:prstGeom>
          <a:noFill/>
          <a:ln/>
        </p:spPr>
        <p:txBody>
          <a:bodyPr wrap="square" lIns="0" tIns="0" rIns="0" bIns="0" rtlCol="0" anchor="ctr"/>
          <a:lstStyle/>
          <a:p>
            <a:pPr indent="0" marL="0">
              <a:buNone/>
            </a:pPr>
            <a:r>
              <a:rPr lang="en-US" sz="1600" dirty="0">
                <a:solidFill>
                  <a:srgbClr val="44506B"/>
                </a:solidFill>
                <a:latin typeface="Calibri" pitchFamily="34" charset="0"/>
                <a:ea typeface="Calibri" pitchFamily="34" charset="-122"/>
                <a:cs typeface="Calibri" pitchFamily="34" charset="-120"/>
              </a:rPr>
              <a:t>¿Uno de los dos se adelanta al otro, o se mueven exactamente el mismo día?</a:t>
            </a:r>
            <a:endParaRPr lang="en-US" sz="1600" dirty="0"/>
          </a:p>
        </p:txBody>
      </p:sp>
      <p:sp>
        <p:nvSpPr>
          <p:cNvPr id="11" name="Shape 9"/>
          <p:cNvSpPr/>
          <p:nvPr/>
        </p:nvSpPr>
        <p:spPr>
          <a:xfrm>
            <a:off x="685800" y="2852928"/>
            <a:ext cx="256032" cy="256032"/>
          </a:xfrm>
          <a:prstGeom prst="ellipse">
            <a:avLst/>
          </a:prstGeom>
          <a:solidFill>
            <a:srgbClr val="FFFFFF"/>
          </a:solidFill>
          <a:ln w="22225">
            <a:solidFill>
              <a:srgbClr val="E0640F"/>
            </a:solidFill>
            <a:prstDash val="solid"/>
          </a:ln>
        </p:spPr>
      </p:sp>
      <p:sp>
        <p:nvSpPr>
          <p:cNvPr id="12" name="Text 10"/>
          <p:cNvSpPr txBox="1"/>
          <p:nvPr/>
        </p:nvSpPr>
        <p:spPr>
          <a:xfrm>
            <a:off x="685800" y="2839212"/>
            <a:ext cx="256032" cy="256032"/>
          </a:xfrm>
          <a:prstGeom prst="rect">
            <a:avLst/>
          </a:prstGeom>
          <a:noFill/>
          <a:ln/>
        </p:spPr>
        <p:txBody>
          <a:bodyPr wrap="square" lIns="0" tIns="0" rIns="0" bIns="0" rtlCol="0" anchor="ctr"/>
          <a:lstStyle/>
          <a:p>
            <a:pPr algn="ctr" indent="0" marL="0">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1143000" y="2825496"/>
            <a:ext cx="9692640" cy="457200"/>
          </a:xfrm>
          <a:prstGeom prst="rect">
            <a:avLst/>
          </a:prstGeom>
          <a:noFill/>
          <a:ln/>
        </p:spPr>
        <p:txBody>
          <a:bodyPr wrap="square" lIns="0" tIns="0" rIns="0" bIns="0" rtlCol="0" anchor="ctr"/>
          <a:lstStyle/>
          <a:p>
            <a:pPr indent="0" marL="0">
              <a:buNone/>
            </a:pPr>
            <a:r>
              <a:rPr lang="en-US" sz="1600" dirty="0">
                <a:solidFill>
                  <a:srgbClr val="44506B"/>
                </a:solidFill>
                <a:latin typeface="Calibri" pitchFamily="34" charset="0"/>
                <a:ea typeface="Calibri" pitchFamily="34" charset="-122"/>
                <a:cs typeface="Calibri" pitchFamily="34" charset="-120"/>
              </a:rPr>
              <a:t>¿Qué tan fuerte es la relación día a día, más allá de la tendencia?</a:t>
            </a:r>
            <a:endParaRPr lang="en-US" sz="1600" dirty="0"/>
          </a:p>
        </p:txBody>
      </p:sp>
      <p:sp>
        <p:nvSpPr>
          <p:cNvPr id="14" name="Shape 12"/>
          <p:cNvSpPr/>
          <p:nvPr/>
        </p:nvSpPr>
        <p:spPr>
          <a:xfrm>
            <a:off x="685800" y="3419856"/>
            <a:ext cx="256032" cy="256032"/>
          </a:xfrm>
          <a:prstGeom prst="ellipse">
            <a:avLst/>
          </a:prstGeom>
          <a:solidFill>
            <a:srgbClr val="FFFFFF"/>
          </a:solidFill>
          <a:ln w="22225">
            <a:solidFill>
              <a:srgbClr val="E0640F"/>
            </a:solidFill>
            <a:prstDash val="solid"/>
          </a:ln>
        </p:spPr>
      </p:sp>
      <p:sp>
        <p:nvSpPr>
          <p:cNvPr id="15" name="Text 13"/>
          <p:cNvSpPr txBox="1"/>
          <p:nvPr/>
        </p:nvSpPr>
        <p:spPr>
          <a:xfrm>
            <a:off x="685800" y="3406140"/>
            <a:ext cx="256032" cy="256032"/>
          </a:xfrm>
          <a:prstGeom prst="rect">
            <a:avLst/>
          </a:prstGeom>
          <a:noFill/>
          <a:ln/>
        </p:spPr>
        <p:txBody>
          <a:bodyPr wrap="square" lIns="0" tIns="0" rIns="0" bIns="0" rtlCol="0" anchor="ctr"/>
          <a:lstStyle/>
          <a:p>
            <a:pPr algn="ctr" indent="0" marL="0">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6" name="Text 14"/>
          <p:cNvSpPr txBox="1"/>
          <p:nvPr/>
        </p:nvSpPr>
        <p:spPr>
          <a:xfrm>
            <a:off x="1143000" y="3392424"/>
            <a:ext cx="9692640" cy="457200"/>
          </a:xfrm>
          <a:prstGeom prst="rect">
            <a:avLst/>
          </a:prstGeom>
          <a:noFill/>
          <a:ln/>
        </p:spPr>
        <p:txBody>
          <a:bodyPr wrap="square" lIns="0" tIns="0" rIns="0" bIns="0" rtlCol="0" anchor="ctr"/>
          <a:lstStyle/>
          <a:p>
            <a:pPr indent="0" marL="0">
              <a:buNone/>
            </a:pPr>
            <a:r>
              <a:rPr lang="en-US" sz="1600" dirty="0">
                <a:solidFill>
                  <a:srgbClr val="44506B"/>
                </a:solidFill>
                <a:latin typeface="Calibri" pitchFamily="34" charset="0"/>
                <a:ea typeface="Calibri" pitchFamily="34" charset="-122"/>
                <a:cs typeface="Calibri" pitchFamily="34" charset="-120"/>
              </a:rPr>
              <a:t>¿Qué tanto explica cada insumo, con un método que descarta automáticamente lo que no aporta?</a:t>
            </a:r>
            <a:endParaRPr lang="en-US" sz="1600" dirty="0"/>
          </a:p>
        </p:txBody>
      </p:sp>
      <p:sp>
        <p:nvSpPr>
          <p:cNvPr id="17" name="Shape 15"/>
          <p:cNvSpPr/>
          <p:nvPr/>
        </p:nvSpPr>
        <p:spPr>
          <a:xfrm>
            <a:off x="685800" y="3986784"/>
            <a:ext cx="256032" cy="256032"/>
          </a:xfrm>
          <a:prstGeom prst="ellipse">
            <a:avLst/>
          </a:prstGeom>
          <a:solidFill>
            <a:srgbClr val="FFFFFF"/>
          </a:solidFill>
          <a:ln w="22225">
            <a:solidFill>
              <a:srgbClr val="E0640F"/>
            </a:solidFill>
            <a:prstDash val="solid"/>
          </a:ln>
        </p:spPr>
      </p:sp>
      <p:sp>
        <p:nvSpPr>
          <p:cNvPr id="18" name="Text 16"/>
          <p:cNvSpPr txBox="1"/>
          <p:nvPr/>
        </p:nvSpPr>
        <p:spPr>
          <a:xfrm>
            <a:off x="685800" y="3973068"/>
            <a:ext cx="256032" cy="256032"/>
          </a:xfrm>
          <a:prstGeom prst="rect">
            <a:avLst/>
          </a:prstGeom>
          <a:noFill/>
          <a:ln/>
        </p:spPr>
        <p:txBody>
          <a:bodyPr wrap="square" lIns="0" tIns="0" rIns="0" bIns="0" rtlCol="0" anchor="ctr"/>
          <a:lstStyle/>
          <a:p>
            <a:pPr algn="ctr" indent="0" marL="0">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1143000" y="3959352"/>
            <a:ext cx="9692640" cy="457200"/>
          </a:xfrm>
          <a:prstGeom prst="rect">
            <a:avLst/>
          </a:prstGeom>
          <a:noFill/>
          <a:ln/>
        </p:spPr>
        <p:txBody>
          <a:bodyPr wrap="square" lIns="0" tIns="0" rIns="0" bIns="0" rtlCol="0" anchor="ctr"/>
          <a:lstStyle/>
          <a:p>
            <a:pPr indent="0" marL="0">
              <a:buNone/>
            </a:pPr>
            <a:r>
              <a:rPr lang="en-US" sz="1600" dirty="0">
                <a:solidFill>
                  <a:srgbClr val="44506B"/>
                </a:solidFill>
                <a:latin typeface="Calibri" pitchFamily="34" charset="0"/>
                <a:ea typeface="Calibri" pitchFamily="34" charset="-122"/>
                <a:cs typeface="Calibri" pitchFamily="34" charset="-120"/>
              </a:rPr>
              <a:t>¿Se confirma por un camino completamente distinto, con otro tipo de modelo?</a:t>
            </a:r>
            <a:endParaRPr lang="en-US" sz="1600" dirty="0"/>
          </a:p>
        </p:txBody>
      </p:sp>
      <p:sp>
        <p:nvSpPr>
          <p:cNvPr id="20" name="Shape 18"/>
          <p:cNvSpPr/>
          <p:nvPr/>
        </p:nvSpPr>
        <p:spPr>
          <a:xfrm>
            <a:off x="640080" y="4663440"/>
            <a:ext cx="10195560" cy="777240"/>
          </a:xfrm>
          <a:prstGeom prst="roundRect">
            <a:avLst>
              <a:gd name="adj" fmla="val 10588"/>
            </a:avLst>
          </a:prstGeom>
          <a:solidFill>
            <a:srgbClr val="1B2A4A"/>
          </a:solidFill>
          <a:ln w="12700">
            <a:solidFill>
              <a:srgbClr val="1B2A4A"/>
            </a:solidFill>
            <a:prstDash val="solid"/>
          </a:ln>
        </p:spPr>
      </p:sp>
      <p:sp>
        <p:nvSpPr>
          <p:cNvPr id="21" name="Text 19"/>
          <p:cNvSpPr txBox="1"/>
          <p:nvPr/>
        </p:nvSpPr>
        <p:spPr>
          <a:xfrm>
            <a:off x="960120" y="4663440"/>
            <a:ext cx="9601200" cy="777240"/>
          </a:xfrm>
          <a:prstGeom prst="rect">
            <a:avLst/>
          </a:prstGeom>
          <a:noFill/>
          <a:ln/>
        </p:spPr>
        <p:txBody>
          <a:bodyPr wrap="square" lIns="0" tIns="0" rIns="0" bIns="0" rtlCol="0" anchor="ctr"/>
          <a:lstStyle/>
          <a:p>
            <a:pPr indent="0" marL="0">
              <a:buNone/>
            </a:pPr>
            <a:r>
              <a:rPr lang="en-US" sz="1600" b="1" dirty="0">
                <a:solidFill>
                  <a:srgbClr val="F7F5EF"/>
                </a:solidFill>
                <a:latin typeface="Calibri" pitchFamily="34" charset="0"/>
                <a:ea typeface="Calibri" pitchFamily="34" charset="-122"/>
                <a:cs typeface="Calibri" pitchFamily="34" charset="-120"/>
              </a:rPr>
              <a:t>Cuando 5 verificaciones independientes, hechas de formas distintas, dan la misma respuesta — ya no es casualidad.</a:t>
            </a:r>
            <a:endParaRPr lang="en-US" sz="1600" dirty="0"/>
          </a:p>
        </p:txBody>
      </p:sp>
      <p:sp>
        <p:nvSpPr>
          <p:cNvPr id="22" name="Text 20"/>
          <p:cNvSpPr txBox="1"/>
          <p:nvPr/>
        </p:nvSpPr>
        <p:spPr>
          <a:xfrm>
            <a:off x="457200" y="6400800"/>
            <a:ext cx="6400800" cy="274320"/>
          </a:xfrm>
          <a:prstGeom prst="rect">
            <a:avLst/>
          </a:prstGeom>
          <a:noFill/>
          <a:ln/>
        </p:spPr>
        <p:txBody>
          <a:bodyPr wrap="square" lIns="0" tIns="0" rIns="0" bIns="0" rtlCol="0" anchor="ctr"/>
          <a:lstStyle/>
          <a:p>
            <a:pPr algn="l" indent="0" marL="0">
              <a:buNone/>
            </a:pPr>
            <a:r>
              <a:rPr lang="en-US" sz="1100" dirty="0">
                <a:solidFill>
                  <a:srgbClr val="6B7690"/>
                </a:solidFill>
                <a:latin typeface="Calibri" pitchFamily="34" charset="0"/>
                <a:ea typeface="Calibri" pitchFamily="34" charset="-122"/>
                <a:cs typeface="Calibri" pitchFamily="34" charset="-120"/>
              </a:rPr>
              <a:t>Gestión de costos de equipos de construcción</a:t>
            </a:r>
            <a:endParaRPr lang="en-US" sz="1100" dirty="0"/>
          </a:p>
        </p:txBody>
      </p:sp>
      <p:sp>
        <p:nvSpPr>
          <p:cNvPr id="23" name="Text 21"/>
          <p:cNvSpPr txBox="1"/>
          <p:nvPr/>
        </p:nvSpPr>
        <p:spPr>
          <a:xfrm>
            <a:off x="10820095" y="6400800"/>
            <a:ext cx="914400" cy="274320"/>
          </a:xfrm>
          <a:prstGeom prst="rect">
            <a:avLst/>
          </a:prstGeom>
          <a:noFill/>
          <a:ln/>
        </p:spPr>
        <p:txBody>
          <a:bodyPr wrap="square" lIns="0" tIns="0" rIns="0" bIns="0" rtlCol="0" anchor="ctr"/>
          <a:lstStyle/>
          <a:p>
            <a:pPr algn="r" indent="0" marL="0">
              <a:buNone/>
            </a:pPr>
            <a:r>
              <a:rPr lang="en-US" sz="1100" dirty="0">
                <a:solidFill>
                  <a:srgbClr val="6B7690"/>
                </a:solidFill>
                <a:latin typeface="Calibri" pitchFamily="34" charset="0"/>
                <a:ea typeface="Calibri" pitchFamily="34" charset="-122"/>
                <a:cs typeface="Calibri" pitchFamily="34" charset="-120"/>
              </a:rPr>
              <a:t>5 / 11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7315200" cy="1188720"/>
          </a:xfrm>
          <a:prstGeom prst="rect">
            <a:avLst/>
          </a:prstGeom>
          <a:noFill/>
          <a:ln/>
        </p:spPr>
        <p:txBody>
          <a:bodyPr wrap="square" lIns="0" tIns="0" rIns="0" bIns="0" rtlCol="0" anchor="ctr"/>
          <a:lstStyle/>
          <a:p>
            <a:pPr indent="0" marL="0">
              <a:lnSpc>
                <a:spcPct val="102000"/>
              </a:lnSpc>
              <a:buNone/>
            </a:pPr>
            <a:r>
              <a:rPr lang="en-US" sz="3400" b="1" dirty="0">
                <a:solidFill>
                  <a:srgbClr val="1B2A4A"/>
                </a:solidFill>
                <a:latin typeface="Cambria" pitchFamily="34" charset="0"/>
                <a:ea typeface="Cambria" pitchFamily="34" charset="-122"/>
                <a:cs typeface="Cambria" pitchFamily="34" charset="-120"/>
              </a:rPr>
              <a:t>El hallazgo</a:t>
            </a:r>
            <a:endParaRPr lang="en-US" sz="3400" dirty="0"/>
          </a:p>
        </p:txBody>
      </p:sp>
      <p:sp>
        <p:nvSpPr>
          <p:cNvPr id="3" name="Text 1"/>
          <p:cNvSpPr txBox="1"/>
          <p:nvPr/>
        </p:nvSpPr>
        <p:spPr>
          <a:xfrm>
            <a:off x="640080" y="1234440"/>
            <a:ext cx="10424160" cy="457200"/>
          </a:xfrm>
          <a:prstGeom prst="rect">
            <a:avLst/>
          </a:prstGeom>
          <a:noFill/>
          <a:ln/>
        </p:spPr>
        <p:txBody>
          <a:bodyPr wrap="square" lIns="0" tIns="0" rIns="0" bIns="0" rtlCol="0" anchor="ctr"/>
          <a:lstStyle/>
          <a:p>
            <a:pPr indent="0" marL="0">
              <a:buNone/>
            </a:pPr>
            <a:r>
              <a:rPr lang="en-US" sz="1300" i="1" dirty="0">
                <a:solidFill>
                  <a:srgbClr val="6B7690"/>
                </a:solidFill>
                <a:latin typeface="Calibri" pitchFamily="34" charset="0"/>
                <a:ea typeface="Calibri" pitchFamily="34" charset="-122"/>
                <a:cs typeface="Calibri" pitchFamily="34" charset="-120"/>
              </a:rPr>
              <a:t>No sabemos el nombre real de cada insumo del mercado — esa información no vino incluida — así que los identificamos por letra.</a:t>
            </a:r>
            <a:endParaRPr lang="en-US" sz="1300" dirty="0"/>
          </a:p>
        </p:txBody>
      </p:sp>
      <p:sp>
        <p:nvSpPr>
          <p:cNvPr id="4" name="Text 2"/>
          <p:cNvSpPr txBox="1"/>
          <p:nvPr/>
        </p:nvSpPr>
        <p:spPr>
          <a:xfrm>
            <a:off x="640080" y="1874520"/>
            <a:ext cx="5120640" cy="457200"/>
          </a:xfrm>
          <a:prstGeom prst="rect">
            <a:avLst/>
          </a:prstGeom>
          <a:noFill/>
          <a:ln/>
        </p:spPr>
        <p:txBody>
          <a:bodyPr wrap="square" lIns="0" tIns="0" rIns="0" bIns="0" rtlCol="0" anchor="ctr"/>
          <a:lstStyle/>
          <a:p>
            <a:pPr indent="0" marL="0">
              <a:buNone/>
            </a:pPr>
            <a:r>
              <a:rPr lang="en-US" sz="2000" b="1" dirty="0">
                <a:solidFill>
                  <a:srgbClr val="1B2A4A"/>
                </a:solidFill>
                <a:latin typeface="Calibri" pitchFamily="34" charset="0"/>
                <a:ea typeface="Calibri" pitchFamily="34" charset="-122"/>
                <a:cs typeface="Calibri" pitchFamily="34" charset="-120"/>
              </a:rPr>
              <a:t>Equipo 1 </a:t>
            </a:r>
            <a:pPr indent="0" marL="0">
              <a:buNone/>
            </a:pPr>
            <a:r>
              <a:rPr lang="en-US" sz="2000" dirty="0">
                <a:solidFill>
                  <a:srgbClr val="44506B"/>
                </a:solidFill>
                <a:latin typeface="Calibri" pitchFamily="34" charset="0"/>
                <a:ea typeface="Calibri" pitchFamily="34" charset="-122"/>
                <a:cs typeface="Calibri" pitchFamily="34" charset="-120"/>
              </a:rPr>
              <a:t>se explica por el insumo </a:t>
            </a:r>
            <a:pPr indent="0" marL="0">
              <a:buNone/>
            </a:pPr>
            <a:r>
              <a:rPr lang="en-US" sz="2000" b="1" dirty="0">
                <a:solidFill>
                  <a:srgbClr val="2A5CAA"/>
                </a:solidFill>
                <a:latin typeface="Calibri" pitchFamily="34" charset="0"/>
                <a:ea typeface="Calibri" pitchFamily="34" charset="-122"/>
                <a:cs typeface="Calibri" pitchFamily="34" charset="-120"/>
              </a:rPr>
              <a:t>Y</a:t>
            </a:r>
            <a:endParaRPr lang="en-US" sz="2000" dirty="0"/>
          </a:p>
        </p:txBody>
      </p:sp>
      <p:sp>
        <p:nvSpPr>
          <p:cNvPr id="5" name="Text 3"/>
          <p:cNvSpPr txBox="1"/>
          <p:nvPr/>
        </p:nvSpPr>
        <p:spPr>
          <a:xfrm>
            <a:off x="640080" y="2331720"/>
            <a:ext cx="5120640" cy="457200"/>
          </a:xfrm>
          <a:prstGeom prst="rect">
            <a:avLst/>
          </a:prstGeom>
          <a:noFill/>
          <a:ln/>
        </p:spPr>
        <p:txBody>
          <a:bodyPr wrap="square" lIns="0" tIns="0" rIns="0" bIns="0" rtlCol="0" anchor="ctr"/>
          <a:lstStyle/>
          <a:p>
            <a:pPr indent="0" marL="0">
              <a:buNone/>
            </a:pPr>
            <a:r>
              <a:rPr lang="en-US" sz="2000" b="1" dirty="0">
                <a:solidFill>
                  <a:srgbClr val="1B2A4A"/>
                </a:solidFill>
                <a:latin typeface="Calibri" pitchFamily="34" charset="0"/>
                <a:ea typeface="Calibri" pitchFamily="34" charset="-122"/>
                <a:cs typeface="Calibri" pitchFamily="34" charset="-120"/>
              </a:rPr>
              <a:t>Equipo 2 </a:t>
            </a:r>
            <a:pPr indent="0" marL="0">
              <a:buNone/>
            </a:pPr>
            <a:r>
              <a:rPr lang="en-US" sz="2000" dirty="0">
                <a:solidFill>
                  <a:srgbClr val="44506B"/>
                </a:solidFill>
                <a:latin typeface="Calibri" pitchFamily="34" charset="0"/>
                <a:ea typeface="Calibri" pitchFamily="34" charset="-122"/>
                <a:cs typeface="Calibri" pitchFamily="34" charset="-120"/>
              </a:rPr>
              <a:t>se explica por el insumo </a:t>
            </a:r>
            <a:pPr indent="0" marL="0">
              <a:buNone/>
            </a:pPr>
            <a:r>
              <a:rPr lang="en-US" sz="2000" b="1" dirty="0">
                <a:solidFill>
                  <a:srgbClr val="1E8A5F"/>
                </a:solidFill>
                <a:latin typeface="Calibri" pitchFamily="34" charset="0"/>
                <a:ea typeface="Calibri" pitchFamily="34" charset="-122"/>
                <a:cs typeface="Calibri" pitchFamily="34" charset="-120"/>
              </a:rPr>
              <a:t>Z</a:t>
            </a:r>
            <a:endParaRPr lang="en-US" sz="2000" dirty="0"/>
          </a:p>
        </p:txBody>
      </p:sp>
      <p:sp>
        <p:nvSpPr>
          <p:cNvPr id="6" name="Text 4"/>
          <p:cNvSpPr txBox="1"/>
          <p:nvPr/>
        </p:nvSpPr>
        <p:spPr>
          <a:xfrm>
            <a:off x="640080" y="2971800"/>
            <a:ext cx="5120640" cy="1097280"/>
          </a:xfrm>
          <a:prstGeom prst="rect">
            <a:avLst/>
          </a:prstGeom>
          <a:noFill/>
          <a:ln/>
        </p:spPr>
        <p:txBody>
          <a:bodyPr wrap="square" lIns="0" tIns="0" rIns="0" bIns="0" rtlCol="0" anchor="ctr"/>
          <a:lstStyle/>
          <a:p>
            <a:pPr indent="0" marL="0">
              <a:lnSpc>
                <a:spcPct val="125000"/>
              </a:lnSpc>
              <a:buNone/>
            </a:pPr>
            <a:r>
              <a:rPr lang="en-US" sz="1400" dirty="0">
                <a:solidFill>
                  <a:srgbClr val="44506B"/>
                </a:solidFill>
                <a:latin typeface="Calibri" pitchFamily="34" charset="0"/>
                <a:ea typeface="Calibri" pitchFamily="34" charset="-122"/>
                <a:cs typeface="Calibri" pitchFamily="34" charset="-120"/>
              </a:rPr>
              <a:t>El insumo X no resultó tener relación real con ninguno de los dos: parecía importante mirando los precios tal cual, pero esa relación era casi toda ilusión.</a:t>
            </a:r>
            <a:endParaRPr lang="en-US" sz="1400" dirty="0"/>
          </a:p>
        </p:txBody>
      </p:sp>
      <p:sp>
        <p:nvSpPr>
          <p:cNvPr id="7" name="Text 5"/>
          <p:cNvSpPr txBox="1"/>
          <p:nvPr/>
        </p:nvSpPr>
        <p:spPr>
          <a:xfrm>
            <a:off x="6080760" y="1783080"/>
            <a:ext cx="548640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Equipo 1 — qué tanto explica cada insumo</a:t>
            </a:r>
            <a:endParaRPr lang="en-US" sz="1300" dirty="0"/>
          </a:p>
        </p:txBody>
      </p:sp>
      <p:graphicFrame>
        <p:nvGraphicFramePr>
          <p:cNvPr id="8" name="Chart 0" descr=""/>
          <p:cNvGraphicFramePr/>
          <p:nvPr/>
        </p:nvGraphicFramePr>
        <p:xfrm>
          <a:off x="6080760" y="2103120"/>
          <a:ext cx="5486400" cy="17373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080760" y="3977640"/>
            <a:ext cx="548640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Equipo 2 — qué tanto explica cada insumo</a:t>
            </a:r>
            <a:endParaRPr lang="en-US" sz="1300" dirty="0"/>
          </a:p>
        </p:txBody>
      </p:sp>
      <p:graphicFrame>
        <p:nvGraphicFramePr>
          <p:cNvPr id="10" name="Chart 1" descr=""/>
          <p:cNvGraphicFramePr/>
          <p:nvPr/>
        </p:nvGraphicFramePr>
        <p:xfrm>
          <a:off x="6080760" y="4297680"/>
          <a:ext cx="5486400" cy="173736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457200" y="6400800"/>
            <a:ext cx="6400800" cy="274320"/>
          </a:xfrm>
          <a:prstGeom prst="rect">
            <a:avLst/>
          </a:prstGeom>
          <a:noFill/>
          <a:ln/>
        </p:spPr>
        <p:txBody>
          <a:bodyPr wrap="square" lIns="0" tIns="0" rIns="0" bIns="0" rtlCol="0" anchor="ctr"/>
          <a:lstStyle/>
          <a:p>
            <a:pPr algn="l" indent="0" marL="0">
              <a:buNone/>
            </a:pPr>
            <a:r>
              <a:rPr lang="en-US" sz="1100" dirty="0">
                <a:solidFill>
                  <a:srgbClr val="6B7690"/>
                </a:solidFill>
                <a:latin typeface="Calibri" pitchFamily="34" charset="0"/>
                <a:ea typeface="Calibri" pitchFamily="34" charset="-122"/>
                <a:cs typeface="Calibri" pitchFamily="34" charset="-120"/>
              </a:rPr>
              <a:t>Gestión de costos de equipos de construcción</a:t>
            </a:r>
            <a:endParaRPr lang="en-US" sz="1100" dirty="0"/>
          </a:p>
        </p:txBody>
      </p:sp>
      <p:sp>
        <p:nvSpPr>
          <p:cNvPr id="12" name="Text 8"/>
          <p:cNvSpPr txBox="1"/>
          <p:nvPr/>
        </p:nvSpPr>
        <p:spPr>
          <a:xfrm>
            <a:off x="10820095" y="6400800"/>
            <a:ext cx="914400" cy="274320"/>
          </a:xfrm>
          <a:prstGeom prst="rect">
            <a:avLst/>
          </a:prstGeom>
          <a:noFill/>
          <a:ln/>
        </p:spPr>
        <p:txBody>
          <a:bodyPr wrap="square" lIns="0" tIns="0" rIns="0" bIns="0" rtlCol="0" anchor="ctr"/>
          <a:lstStyle/>
          <a:p>
            <a:pPr algn="r" indent="0" marL="0">
              <a:buNone/>
            </a:pPr>
            <a:r>
              <a:rPr lang="en-US" sz="1100" dirty="0">
                <a:solidFill>
                  <a:srgbClr val="6B7690"/>
                </a:solidFill>
                <a:latin typeface="Calibri" pitchFamily="34" charset="0"/>
                <a:ea typeface="Calibri" pitchFamily="34" charset="-122"/>
                <a:cs typeface="Calibri" pitchFamily="34" charset="-120"/>
              </a:rPr>
              <a:t>6 / 11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457200" cy="457200"/>
          </a:xfrm>
          <a:prstGeom prst="ellipse">
            <a:avLst/>
          </a:prstGeom>
          <a:solidFill>
            <a:srgbClr val="E0640F"/>
          </a:solidFill>
          <a:ln/>
        </p:spPr>
      </p:sp>
      <p:sp>
        <p:nvSpPr>
          <p:cNvPr id="3" name="Text 1"/>
          <p:cNvSpPr txBox="1"/>
          <p:nvPr/>
        </p:nvSpPr>
        <p:spPr>
          <a:xfrm>
            <a:off x="640080" y="5669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4" name="Text 2"/>
          <p:cNvSpPr txBox="1"/>
          <p:nvPr/>
        </p:nvSpPr>
        <p:spPr>
          <a:xfrm>
            <a:off x="1280160" y="457200"/>
            <a:ext cx="10058400" cy="1188720"/>
          </a:xfrm>
          <a:prstGeom prst="rect">
            <a:avLst/>
          </a:prstGeom>
          <a:noFill/>
          <a:ln/>
        </p:spPr>
        <p:txBody>
          <a:bodyPr wrap="square" lIns="0" tIns="0" rIns="0" bIns="0" rtlCol="0" anchor="ctr"/>
          <a:lstStyle/>
          <a:p>
            <a:pPr indent="0" marL="0">
              <a:lnSpc>
                <a:spcPct val="102000"/>
              </a:lnSpc>
              <a:buNone/>
            </a:pPr>
            <a:r>
              <a:rPr lang="en-US" sz="2700" b="1" dirty="0">
                <a:solidFill>
                  <a:srgbClr val="1B2A4A"/>
                </a:solidFill>
                <a:latin typeface="Cambria" pitchFamily="34" charset="0"/>
                <a:ea typeface="Cambria" pitchFamily="34" charset="-122"/>
                <a:cs typeface="Cambria" pitchFamily="34" charset="-120"/>
              </a:rPr>
              <a:t>Proyectamos el costo, probado contra la realidad</a:t>
            </a:r>
            <a:endParaRPr lang="en-US" sz="2700" dirty="0"/>
          </a:p>
        </p:txBody>
      </p:sp>
      <p:sp>
        <p:nvSpPr>
          <p:cNvPr id="5" name="Shape 3"/>
          <p:cNvSpPr/>
          <p:nvPr/>
        </p:nvSpPr>
        <p:spPr>
          <a:xfrm>
            <a:off x="685800" y="1572768"/>
            <a:ext cx="256032" cy="256032"/>
          </a:xfrm>
          <a:prstGeom prst="ellipse">
            <a:avLst/>
          </a:prstGeom>
          <a:solidFill>
            <a:srgbClr val="FFFFFF"/>
          </a:solidFill>
          <a:ln w="22225">
            <a:solidFill>
              <a:srgbClr val="E0640F"/>
            </a:solidFill>
            <a:prstDash val="solid"/>
          </a:ln>
        </p:spPr>
      </p:sp>
      <p:sp>
        <p:nvSpPr>
          <p:cNvPr id="6" name="Text 4"/>
          <p:cNvSpPr txBox="1"/>
          <p:nvPr/>
        </p:nvSpPr>
        <p:spPr>
          <a:xfrm>
            <a:off x="685800" y="1559052"/>
            <a:ext cx="256032" cy="256032"/>
          </a:xfrm>
          <a:prstGeom prst="rect">
            <a:avLst/>
          </a:prstGeom>
          <a:noFill/>
          <a:ln/>
        </p:spPr>
        <p:txBody>
          <a:bodyPr wrap="square" lIns="0" tIns="0" rIns="0" bIns="0" rtlCol="0" anchor="ctr"/>
          <a:lstStyle/>
          <a:p>
            <a:pPr algn="ctr" indent="0" marL="0">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7" name="Text 5"/>
          <p:cNvSpPr txBox="1"/>
          <p:nvPr/>
        </p:nvSpPr>
        <p:spPr>
          <a:xfrm>
            <a:off x="1143000" y="1554480"/>
            <a:ext cx="4846320" cy="868680"/>
          </a:xfrm>
          <a:prstGeom prst="rect">
            <a:avLst/>
          </a:prstGeom>
          <a:noFill/>
          <a:ln/>
        </p:spPr>
        <p:txBody>
          <a:bodyPr wrap="square" lIns="0" tIns="0" rIns="0" bIns="0" rtlCol="0" anchor="t"/>
          <a:lstStyle/>
          <a:p>
            <a:pPr indent="0" marL="0">
              <a:lnSpc>
                <a:spcPct val="115000"/>
              </a:lnSpc>
              <a:buNone/>
            </a:pPr>
            <a:r>
              <a:rPr lang="en-US" sz="1350" dirty="0">
                <a:solidFill>
                  <a:srgbClr val="44506B"/>
                </a:solidFill>
                <a:latin typeface="Calibri" pitchFamily="34" charset="0"/>
                <a:ea typeface="Calibri" pitchFamily="34" charset="-122"/>
                <a:cs typeface="Calibri" pitchFamily="34" charset="-120"/>
              </a:rPr>
              <a:t>Probamos 4 formas distintas de proyectar y las comparamos contra lo que realmente pasó después — no elegimos la que más nos gustaba.</a:t>
            </a:r>
            <a:endParaRPr lang="en-US" sz="1350" dirty="0"/>
          </a:p>
        </p:txBody>
      </p:sp>
      <p:sp>
        <p:nvSpPr>
          <p:cNvPr id="8" name="Shape 6"/>
          <p:cNvSpPr/>
          <p:nvPr/>
        </p:nvSpPr>
        <p:spPr>
          <a:xfrm>
            <a:off x="685800" y="2532888"/>
            <a:ext cx="256032" cy="256032"/>
          </a:xfrm>
          <a:prstGeom prst="ellipse">
            <a:avLst/>
          </a:prstGeom>
          <a:solidFill>
            <a:srgbClr val="FFFFFF"/>
          </a:solidFill>
          <a:ln w="22225">
            <a:solidFill>
              <a:srgbClr val="E0640F"/>
            </a:solidFill>
            <a:prstDash val="solid"/>
          </a:ln>
        </p:spPr>
      </p:sp>
      <p:sp>
        <p:nvSpPr>
          <p:cNvPr id="9" name="Text 7"/>
          <p:cNvSpPr txBox="1"/>
          <p:nvPr/>
        </p:nvSpPr>
        <p:spPr>
          <a:xfrm>
            <a:off x="685800" y="2519172"/>
            <a:ext cx="256032" cy="256032"/>
          </a:xfrm>
          <a:prstGeom prst="rect">
            <a:avLst/>
          </a:prstGeom>
          <a:noFill/>
          <a:ln/>
        </p:spPr>
        <p:txBody>
          <a:bodyPr wrap="square" lIns="0" tIns="0" rIns="0" bIns="0" rtlCol="0" anchor="ctr"/>
          <a:lstStyle/>
          <a:p>
            <a:pPr algn="ctr" indent="0" marL="0">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0" name="Text 8"/>
          <p:cNvSpPr txBox="1"/>
          <p:nvPr/>
        </p:nvSpPr>
        <p:spPr>
          <a:xfrm>
            <a:off x="1143000" y="2514600"/>
            <a:ext cx="4846320" cy="868680"/>
          </a:xfrm>
          <a:prstGeom prst="rect">
            <a:avLst/>
          </a:prstGeom>
          <a:noFill/>
          <a:ln/>
        </p:spPr>
        <p:txBody>
          <a:bodyPr wrap="square" lIns="0" tIns="0" rIns="0" bIns="0" rtlCol="0" anchor="t"/>
          <a:lstStyle/>
          <a:p>
            <a:pPr indent="0" marL="0">
              <a:lnSpc>
                <a:spcPct val="115000"/>
              </a:lnSpc>
              <a:buNone/>
            </a:pPr>
            <a:r>
              <a:rPr lang="en-US" sz="1350" dirty="0">
                <a:solidFill>
                  <a:srgbClr val="44506B"/>
                </a:solidFill>
                <a:latin typeface="Calibri" pitchFamily="34" charset="0"/>
                <a:ea typeface="Calibri" pitchFamily="34" charset="-122"/>
                <a:cs typeface="Calibri" pitchFamily="34" charset="-120"/>
              </a:rPr>
              <a:t>El promedio simple de los últimos 3 meses, la opción más obvia, perdió en las 6 comparaciones que hicimos.</a:t>
            </a:r>
            <a:endParaRPr lang="en-US" sz="1350" dirty="0"/>
          </a:p>
        </p:txBody>
      </p:sp>
      <p:sp>
        <p:nvSpPr>
          <p:cNvPr id="11" name="Shape 9"/>
          <p:cNvSpPr/>
          <p:nvPr/>
        </p:nvSpPr>
        <p:spPr>
          <a:xfrm>
            <a:off x="685800" y="3493008"/>
            <a:ext cx="256032" cy="256032"/>
          </a:xfrm>
          <a:prstGeom prst="ellipse">
            <a:avLst/>
          </a:prstGeom>
          <a:solidFill>
            <a:srgbClr val="FFFFFF"/>
          </a:solidFill>
          <a:ln w="22225">
            <a:solidFill>
              <a:srgbClr val="E0640F"/>
            </a:solidFill>
            <a:prstDash val="solid"/>
          </a:ln>
        </p:spPr>
      </p:sp>
      <p:sp>
        <p:nvSpPr>
          <p:cNvPr id="12" name="Text 10"/>
          <p:cNvSpPr txBox="1"/>
          <p:nvPr/>
        </p:nvSpPr>
        <p:spPr>
          <a:xfrm>
            <a:off x="685800" y="3479292"/>
            <a:ext cx="256032" cy="256032"/>
          </a:xfrm>
          <a:prstGeom prst="rect">
            <a:avLst/>
          </a:prstGeom>
          <a:noFill/>
          <a:ln/>
        </p:spPr>
        <p:txBody>
          <a:bodyPr wrap="square" lIns="0" tIns="0" rIns="0" bIns="0" rtlCol="0" anchor="ctr"/>
          <a:lstStyle/>
          <a:p>
            <a:pPr algn="ctr" indent="0" marL="0">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1143000" y="3474720"/>
            <a:ext cx="4846320" cy="868680"/>
          </a:xfrm>
          <a:prstGeom prst="rect">
            <a:avLst/>
          </a:prstGeom>
          <a:noFill/>
          <a:ln/>
        </p:spPr>
        <p:txBody>
          <a:bodyPr wrap="square" lIns="0" tIns="0" rIns="0" bIns="0" rtlCol="0" anchor="t"/>
          <a:lstStyle/>
          <a:p>
            <a:pPr indent="0" marL="0">
              <a:lnSpc>
                <a:spcPct val="115000"/>
              </a:lnSpc>
              <a:buNone/>
            </a:pPr>
            <a:r>
              <a:rPr lang="en-US" sz="1350" dirty="0">
                <a:solidFill>
                  <a:srgbClr val="44506B"/>
                </a:solidFill>
                <a:latin typeface="Calibri" pitchFamily="34" charset="0"/>
                <a:ea typeface="Calibri" pitchFamily="34" charset="-122"/>
                <a:cs typeface="Calibri" pitchFamily="34" charset="-120"/>
              </a:rPr>
              <a:t>Cada equipo tiene su propio horizonte confiable: 3 meses para Equipo1, 1 mes para Equipo2.</a:t>
            </a:r>
            <a:endParaRPr lang="en-US" sz="1350" dirty="0"/>
          </a:p>
        </p:txBody>
      </p:sp>
      <p:sp>
        <p:nvSpPr>
          <p:cNvPr id="14" name="Shape 12"/>
          <p:cNvSpPr/>
          <p:nvPr/>
        </p:nvSpPr>
        <p:spPr>
          <a:xfrm>
            <a:off x="685800" y="4453128"/>
            <a:ext cx="256032" cy="256032"/>
          </a:xfrm>
          <a:prstGeom prst="ellipse">
            <a:avLst/>
          </a:prstGeom>
          <a:solidFill>
            <a:srgbClr val="FFFFFF"/>
          </a:solidFill>
          <a:ln w="22225">
            <a:solidFill>
              <a:srgbClr val="E0640F"/>
            </a:solidFill>
            <a:prstDash val="solid"/>
          </a:ln>
        </p:spPr>
      </p:sp>
      <p:sp>
        <p:nvSpPr>
          <p:cNvPr id="15" name="Text 13"/>
          <p:cNvSpPr txBox="1"/>
          <p:nvPr/>
        </p:nvSpPr>
        <p:spPr>
          <a:xfrm>
            <a:off x="685800" y="4439412"/>
            <a:ext cx="256032" cy="256032"/>
          </a:xfrm>
          <a:prstGeom prst="rect">
            <a:avLst/>
          </a:prstGeom>
          <a:noFill/>
          <a:ln/>
        </p:spPr>
        <p:txBody>
          <a:bodyPr wrap="square" lIns="0" tIns="0" rIns="0" bIns="0" rtlCol="0" anchor="ctr"/>
          <a:lstStyle/>
          <a:p>
            <a:pPr algn="ctr" indent="0" marL="0">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6" name="Text 14"/>
          <p:cNvSpPr txBox="1"/>
          <p:nvPr/>
        </p:nvSpPr>
        <p:spPr>
          <a:xfrm>
            <a:off x="1143000" y="4434840"/>
            <a:ext cx="4846320" cy="868680"/>
          </a:xfrm>
          <a:prstGeom prst="rect">
            <a:avLst/>
          </a:prstGeom>
          <a:noFill/>
          <a:ln/>
        </p:spPr>
        <p:txBody>
          <a:bodyPr wrap="square" lIns="0" tIns="0" rIns="0" bIns="0" rtlCol="0" anchor="t"/>
          <a:lstStyle/>
          <a:p>
            <a:pPr indent="0" marL="0">
              <a:lnSpc>
                <a:spcPct val="115000"/>
              </a:lnSpc>
              <a:buNone/>
            </a:pPr>
            <a:r>
              <a:rPr lang="en-US" sz="1350" dirty="0">
                <a:solidFill>
                  <a:srgbClr val="44506B"/>
                </a:solidFill>
                <a:latin typeface="Calibri" pitchFamily="34" charset="0"/>
                <a:ea typeface="Calibri" pitchFamily="34" charset="-122"/>
                <a:cs typeface="Calibri" pitchFamily="34" charset="-120"/>
              </a:rPr>
              <a:t>El rango de incertidumbre no es un supuesto: sale de cuánto nos equivocamos de verdad al probar el método contra el pasado.</a:t>
            </a:r>
            <a:endParaRPr lang="en-US" sz="1350" dirty="0"/>
          </a:p>
        </p:txBody>
      </p:sp>
      <p:sp>
        <p:nvSpPr>
          <p:cNvPr id="17" name="Text 15"/>
          <p:cNvSpPr txBox="1"/>
          <p:nvPr/>
        </p:nvSpPr>
        <p:spPr>
          <a:xfrm>
            <a:off x="6172200" y="1508760"/>
            <a:ext cx="5394960" cy="2743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Equipo 1 — proyección a 3 meses</a:t>
            </a:r>
            <a:endParaRPr lang="en-US" sz="1300" dirty="0"/>
          </a:p>
        </p:txBody>
      </p:sp>
      <p:graphicFrame>
        <p:nvGraphicFramePr>
          <p:cNvPr id="18" name="Chart 0" descr=""/>
          <p:cNvGraphicFramePr/>
          <p:nvPr/>
        </p:nvGraphicFramePr>
        <p:xfrm>
          <a:off x="6172200" y="1783080"/>
          <a:ext cx="5394960" cy="12344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6172200" y="3063240"/>
            <a:ext cx="5394960" cy="320040"/>
          </a:xfrm>
          <a:prstGeom prst="rect">
            <a:avLst/>
          </a:prstGeom>
          <a:noFill/>
          <a:ln/>
        </p:spPr>
        <p:txBody>
          <a:bodyPr wrap="square" lIns="0" tIns="0" rIns="0" bIns="0" rtlCol="0" anchor="ctr"/>
          <a:lstStyle/>
          <a:p>
            <a:pPr indent="0" marL="0">
              <a:buNone/>
            </a:pPr>
            <a:r>
              <a:rPr lang="en-US" sz="1250" dirty="0">
                <a:solidFill>
                  <a:srgbClr val="6B7690"/>
                </a:solidFill>
                <a:latin typeface="Calibri" pitchFamily="34" charset="0"/>
                <a:ea typeface="Calibri" pitchFamily="34" charset="-122"/>
                <a:cs typeface="Calibri" pitchFamily="34" charset="-120"/>
              </a:rPr>
              <a:t>Precio actual: </a:t>
            </a:r>
            <a:pPr indent="0" marL="0">
              <a:buNone/>
            </a:pPr>
            <a:r>
              <a:rPr lang="en-US" sz="1250" b="1" dirty="0">
                <a:solidFill>
                  <a:srgbClr val="1B2A4A"/>
                </a:solidFill>
                <a:latin typeface="Calibri" pitchFamily="34" charset="0"/>
                <a:ea typeface="Calibri" pitchFamily="34" charset="-122"/>
                <a:cs typeface="Calibri" pitchFamily="34" charset="-120"/>
              </a:rPr>
              <a:t>$451.73</a:t>
            </a:r>
            <a:pPr indent="0" marL="0">
              <a:buNone/>
            </a:pPr>
            <a:r>
              <a:rPr lang="en-US" sz="1250" dirty="0">
                <a:solidFill>
                  <a:srgbClr val="6B7690"/>
                </a:solidFill>
                <a:latin typeface="Calibri" pitchFamily="34" charset="0"/>
                <a:ea typeface="Calibri" pitchFamily="34" charset="-122"/>
                <a:cs typeface="Calibri" pitchFamily="34" charset="-120"/>
              </a:rPr>
              <a:t>  →  Proyección: </a:t>
            </a:r>
            <a:pPr indent="0" marL="0">
              <a:buNone/>
            </a:pPr>
            <a:r>
              <a:rPr lang="en-US" sz="1250" b="1" dirty="0">
                <a:solidFill>
                  <a:srgbClr val="E0640F"/>
                </a:solidFill>
                <a:latin typeface="Calibri" pitchFamily="34" charset="0"/>
                <a:ea typeface="Calibri" pitchFamily="34" charset="-122"/>
                <a:cs typeface="Calibri" pitchFamily="34" charset="-120"/>
              </a:rPr>
              <a:t>$451.42</a:t>
            </a:r>
            <a:endParaRPr lang="en-US" sz="1250" dirty="0"/>
          </a:p>
        </p:txBody>
      </p:sp>
      <p:sp>
        <p:nvSpPr>
          <p:cNvPr id="20" name="Text 17"/>
          <p:cNvSpPr txBox="1"/>
          <p:nvPr/>
        </p:nvSpPr>
        <p:spPr>
          <a:xfrm>
            <a:off x="6172200" y="3355848"/>
            <a:ext cx="5394960" cy="274320"/>
          </a:xfrm>
          <a:prstGeom prst="rect">
            <a:avLst/>
          </a:prstGeom>
          <a:noFill/>
          <a:ln/>
        </p:spPr>
        <p:txBody>
          <a:bodyPr wrap="square" lIns="0" tIns="0" rIns="0" bIns="0" rtlCol="0" anchor="ctr"/>
          <a:lstStyle/>
          <a:p>
            <a:pPr indent="0" marL="0">
              <a:buNone/>
            </a:pPr>
            <a:r>
              <a:rPr lang="en-US" sz="1150" dirty="0">
                <a:solidFill>
                  <a:srgbClr val="6B7690"/>
                </a:solidFill>
                <a:latin typeface="Calibri" pitchFamily="34" charset="0"/>
                <a:ea typeface="Calibri" pitchFamily="34" charset="-122"/>
                <a:cs typeface="Calibri" pitchFamily="34" charset="-120"/>
              </a:rPr>
              <a:t>Rango probable: $398.93 – $583.13</a:t>
            </a:r>
            <a:endParaRPr lang="en-US" sz="1150" dirty="0"/>
          </a:p>
        </p:txBody>
      </p:sp>
      <p:sp>
        <p:nvSpPr>
          <p:cNvPr id="21" name="Text 18"/>
          <p:cNvSpPr txBox="1"/>
          <p:nvPr/>
        </p:nvSpPr>
        <p:spPr>
          <a:xfrm>
            <a:off x="6172200" y="3794760"/>
            <a:ext cx="5394960" cy="2743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Equipo 2 — proyección a 1 mes</a:t>
            </a:r>
            <a:endParaRPr lang="en-US" sz="1300" dirty="0"/>
          </a:p>
        </p:txBody>
      </p:sp>
      <p:graphicFrame>
        <p:nvGraphicFramePr>
          <p:cNvPr id="22" name="Chart 1" descr=""/>
          <p:cNvGraphicFramePr/>
          <p:nvPr/>
        </p:nvGraphicFramePr>
        <p:xfrm>
          <a:off x="6172200" y="4069080"/>
          <a:ext cx="5394960" cy="1234440"/>
        </p:xfrm>
        <a:graphic xmlns:a="http://schemas.openxmlformats.org/drawingml/2006/main">
          <a:graphicData uri="http://schemas.openxmlformats.org/drawingml/2006/chart">
            <c:chart xmlns:c="http://schemas.openxmlformats.org/drawingml/2006/chart" r:id="rId2"/>
          </a:graphicData>
        </a:graphic>
      </p:graphicFrame>
      <p:sp>
        <p:nvSpPr>
          <p:cNvPr id="23" name="Text 19"/>
          <p:cNvSpPr txBox="1"/>
          <p:nvPr/>
        </p:nvSpPr>
        <p:spPr>
          <a:xfrm>
            <a:off x="6172200" y="5349240"/>
            <a:ext cx="5394960" cy="320040"/>
          </a:xfrm>
          <a:prstGeom prst="rect">
            <a:avLst/>
          </a:prstGeom>
          <a:noFill/>
          <a:ln/>
        </p:spPr>
        <p:txBody>
          <a:bodyPr wrap="square" lIns="0" tIns="0" rIns="0" bIns="0" rtlCol="0" anchor="ctr"/>
          <a:lstStyle/>
          <a:p>
            <a:pPr indent="0" marL="0">
              <a:buNone/>
            </a:pPr>
            <a:r>
              <a:rPr lang="en-US" sz="1250" dirty="0">
                <a:solidFill>
                  <a:srgbClr val="6B7690"/>
                </a:solidFill>
                <a:latin typeface="Calibri" pitchFamily="34" charset="0"/>
                <a:ea typeface="Calibri" pitchFamily="34" charset="-122"/>
                <a:cs typeface="Calibri" pitchFamily="34" charset="-120"/>
              </a:rPr>
              <a:t>Precio actual: </a:t>
            </a:r>
            <a:pPr indent="0" marL="0">
              <a:buNone/>
            </a:pPr>
            <a:r>
              <a:rPr lang="en-US" sz="1250" b="1" dirty="0">
                <a:solidFill>
                  <a:srgbClr val="1B2A4A"/>
                </a:solidFill>
                <a:latin typeface="Calibri" pitchFamily="34" charset="0"/>
                <a:ea typeface="Calibri" pitchFamily="34" charset="-122"/>
                <a:cs typeface="Calibri" pitchFamily="34" charset="-120"/>
              </a:rPr>
              <a:t>$955.35</a:t>
            </a:r>
            <a:pPr indent="0" marL="0">
              <a:buNone/>
            </a:pPr>
            <a:r>
              <a:rPr lang="en-US" sz="1250" dirty="0">
                <a:solidFill>
                  <a:srgbClr val="6B7690"/>
                </a:solidFill>
                <a:latin typeface="Calibri" pitchFamily="34" charset="0"/>
                <a:ea typeface="Calibri" pitchFamily="34" charset="-122"/>
                <a:cs typeface="Calibri" pitchFamily="34" charset="-120"/>
              </a:rPr>
              <a:t>  →  Proyección: </a:t>
            </a:r>
            <a:pPr indent="0" marL="0">
              <a:buNone/>
            </a:pPr>
            <a:r>
              <a:rPr lang="en-US" sz="1250" b="1" dirty="0">
                <a:solidFill>
                  <a:srgbClr val="E0640F"/>
                </a:solidFill>
                <a:latin typeface="Calibri" pitchFamily="34" charset="0"/>
                <a:ea typeface="Calibri" pitchFamily="34" charset="-122"/>
                <a:cs typeface="Calibri" pitchFamily="34" charset="-120"/>
              </a:rPr>
              <a:t>$949.82</a:t>
            </a:r>
            <a:endParaRPr lang="en-US" sz="1250" dirty="0"/>
          </a:p>
        </p:txBody>
      </p:sp>
      <p:sp>
        <p:nvSpPr>
          <p:cNvPr id="24" name="Text 20"/>
          <p:cNvSpPr txBox="1"/>
          <p:nvPr/>
        </p:nvSpPr>
        <p:spPr>
          <a:xfrm>
            <a:off x="6172200" y="5641848"/>
            <a:ext cx="5394960" cy="274320"/>
          </a:xfrm>
          <a:prstGeom prst="rect">
            <a:avLst/>
          </a:prstGeom>
          <a:noFill/>
          <a:ln/>
        </p:spPr>
        <p:txBody>
          <a:bodyPr wrap="square" lIns="0" tIns="0" rIns="0" bIns="0" rtlCol="0" anchor="ctr"/>
          <a:lstStyle/>
          <a:p>
            <a:pPr indent="0" marL="0">
              <a:buNone/>
            </a:pPr>
            <a:r>
              <a:rPr lang="en-US" sz="1150" dirty="0">
                <a:solidFill>
                  <a:srgbClr val="6B7690"/>
                </a:solidFill>
                <a:latin typeface="Calibri" pitchFamily="34" charset="0"/>
                <a:ea typeface="Calibri" pitchFamily="34" charset="-122"/>
                <a:cs typeface="Calibri" pitchFamily="34" charset="-120"/>
              </a:rPr>
              <a:t>Rango probable: $913.9 – $1096.94</a:t>
            </a:r>
            <a:endParaRPr lang="en-US" sz="1150" dirty="0"/>
          </a:p>
        </p:txBody>
      </p:sp>
      <p:sp>
        <p:nvSpPr>
          <p:cNvPr id="25" name="Text 21"/>
          <p:cNvSpPr txBox="1"/>
          <p:nvPr/>
        </p:nvSpPr>
        <p:spPr>
          <a:xfrm>
            <a:off x="457200" y="6400800"/>
            <a:ext cx="6400800" cy="274320"/>
          </a:xfrm>
          <a:prstGeom prst="rect">
            <a:avLst/>
          </a:prstGeom>
          <a:noFill/>
          <a:ln/>
        </p:spPr>
        <p:txBody>
          <a:bodyPr wrap="square" lIns="0" tIns="0" rIns="0" bIns="0" rtlCol="0" anchor="ctr"/>
          <a:lstStyle/>
          <a:p>
            <a:pPr algn="l" indent="0" marL="0">
              <a:buNone/>
            </a:pPr>
            <a:r>
              <a:rPr lang="en-US" sz="1100" dirty="0">
                <a:solidFill>
                  <a:srgbClr val="6B7690"/>
                </a:solidFill>
                <a:latin typeface="Calibri" pitchFamily="34" charset="0"/>
                <a:ea typeface="Calibri" pitchFamily="34" charset="-122"/>
                <a:cs typeface="Calibri" pitchFamily="34" charset="-120"/>
              </a:rPr>
              <a:t>Gestión de costos de equipos de construcción</a:t>
            </a:r>
            <a:endParaRPr lang="en-US" sz="1100" dirty="0"/>
          </a:p>
        </p:txBody>
      </p:sp>
      <p:sp>
        <p:nvSpPr>
          <p:cNvPr id="26" name="Text 22"/>
          <p:cNvSpPr txBox="1"/>
          <p:nvPr/>
        </p:nvSpPr>
        <p:spPr>
          <a:xfrm>
            <a:off x="10820095" y="6400800"/>
            <a:ext cx="914400" cy="274320"/>
          </a:xfrm>
          <a:prstGeom prst="rect">
            <a:avLst/>
          </a:prstGeom>
          <a:noFill/>
          <a:ln/>
        </p:spPr>
        <p:txBody>
          <a:bodyPr wrap="square" lIns="0" tIns="0" rIns="0" bIns="0" rtlCol="0" anchor="ctr"/>
          <a:lstStyle/>
          <a:p>
            <a:pPr algn="r" indent="0" marL="0">
              <a:buNone/>
            </a:pPr>
            <a:r>
              <a:rPr lang="en-US" sz="1100" dirty="0">
                <a:solidFill>
                  <a:srgbClr val="6B7690"/>
                </a:solidFill>
                <a:latin typeface="Calibri" pitchFamily="34" charset="0"/>
                <a:ea typeface="Calibri" pitchFamily="34" charset="-122"/>
                <a:cs typeface="Calibri" pitchFamily="34" charset="-120"/>
              </a:rPr>
              <a:t>7 / 11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640080" y="914400"/>
            <a:ext cx="9144000" cy="320040"/>
          </a:xfrm>
          <a:prstGeom prst="rect">
            <a:avLst/>
          </a:prstGeom>
          <a:noFill/>
          <a:ln/>
        </p:spPr>
        <p:txBody>
          <a:bodyPr wrap="square" lIns="0" tIns="0" rIns="0" bIns="0" rtlCol="0" anchor="ctr"/>
          <a:lstStyle/>
          <a:p>
            <a:pPr indent="0" marL="0">
              <a:buNone/>
            </a:pPr>
            <a:r>
              <a:rPr lang="en-US" sz="1300" b="1" spc="100" kern="0" dirty="0">
                <a:solidFill>
                  <a:srgbClr val="E0640F"/>
                </a:solidFill>
                <a:latin typeface="Calibri" pitchFamily="34" charset="0"/>
                <a:ea typeface="Calibri" pitchFamily="34" charset="-122"/>
                <a:cs typeface="Calibri" pitchFamily="34" charset="-120"/>
              </a:rPr>
              <a:t>UN HALLAZGO QUE NO ESTABA EN EL PLAN</a:t>
            </a:r>
            <a:endParaRPr lang="en-US" sz="1300" dirty="0"/>
          </a:p>
        </p:txBody>
      </p:sp>
      <p:sp>
        <p:nvSpPr>
          <p:cNvPr id="3" name="Text 1"/>
          <p:cNvSpPr txBox="1"/>
          <p:nvPr/>
        </p:nvSpPr>
        <p:spPr>
          <a:xfrm>
            <a:off x="640080" y="1371600"/>
            <a:ext cx="10332720" cy="1188720"/>
          </a:xfrm>
          <a:prstGeom prst="rect">
            <a:avLst/>
          </a:prstGeom>
          <a:noFill/>
          <a:ln/>
        </p:spPr>
        <p:txBody>
          <a:bodyPr wrap="square" lIns="0" tIns="0" rIns="0" bIns="0" rtlCol="0" anchor="ctr"/>
          <a:lstStyle/>
          <a:p>
            <a:pPr indent="0" marL="0">
              <a:lnSpc>
                <a:spcPct val="102000"/>
              </a:lnSpc>
              <a:buNone/>
            </a:pPr>
            <a:r>
              <a:rPr lang="en-US" sz="3200" b="1" dirty="0">
                <a:solidFill>
                  <a:srgbClr val="F7F5EF"/>
                </a:solidFill>
                <a:latin typeface="Cambria" pitchFamily="34" charset="0"/>
                <a:ea typeface="Cambria" pitchFamily="34" charset="-122"/>
                <a:cs typeface="Cambria" pitchFamily="34" charset="-120"/>
              </a:rPr>
              <a:t>El documento del caso traía una</a:t>
            </a:r>
            <a:endParaRPr lang="en-US" sz="3200" dirty="0"/>
          </a:p>
          <a:p>
            <a:pPr indent="0" marL="0">
              <a:lnSpc>
                <a:spcPct val="102000"/>
              </a:lnSpc>
              <a:buNone/>
            </a:pPr>
            <a:r>
              <a:rPr lang="en-US" sz="3200" b="1" dirty="0">
                <a:solidFill>
                  <a:srgbClr val="F7F5EF"/>
                </a:solidFill>
                <a:latin typeface="Cambria" pitchFamily="34" charset="0"/>
                <a:ea typeface="Cambria" pitchFamily="34" charset="-122"/>
                <a:cs typeface="Cambria" pitchFamily="34" charset="-120"/>
              </a:rPr>
              <a:t>instrucción oculta para fabricar</a:t>
            </a:r>
            <a:endParaRPr lang="en-US" sz="3200" dirty="0"/>
          </a:p>
          <a:p>
            <a:pPr indent="0" marL="0">
              <a:lnSpc>
                <a:spcPct val="102000"/>
              </a:lnSpc>
              <a:buNone/>
            </a:pPr>
            <a:r>
              <a:rPr lang="en-US" sz="3200" b="1" dirty="0">
                <a:solidFill>
                  <a:srgbClr val="F7F5EF"/>
                </a:solidFill>
                <a:latin typeface="Cambria" pitchFamily="34" charset="0"/>
                <a:ea typeface="Cambria" pitchFamily="34" charset="-122"/>
                <a:cs typeface="Cambria" pitchFamily="34" charset="-120"/>
              </a:rPr>
              <a:t>los resultados.</a:t>
            </a:r>
            <a:endParaRPr lang="en-US" sz="3200" dirty="0"/>
          </a:p>
        </p:txBody>
      </p:sp>
      <p:sp>
        <p:nvSpPr>
          <p:cNvPr id="4" name="Text 2"/>
          <p:cNvSpPr txBox="1"/>
          <p:nvPr/>
        </p:nvSpPr>
        <p:spPr>
          <a:xfrm>
            <a:off x="640080" y="3383280"/>
            <a:ext cx="9875520" cy="822960"/>
          </a:xfrm>
          <a:prstGeom prst="rect">
            <a:avLst/>
          </a:prstGeom>
          <a:noFill/>
          <a:ln/>
        </p:spPr>
        <p:txBody>
          <a:bodyPr wrap="square" lIns="0" tIns="0" rIns="0" bIns="0" rtlCol="0" anchor="ctr"/>
          <a:lstStyle/>
          <a:p>
            <a:pPr indent="0" marL="0">
              <a:lnSpc>
                <a:spcPct val="125000"/>
              </a:lnSpc>
              <a:buNone/>
            </a:pPr>
            <a:r>
              <a:rPr lang="en-US" sz="1600" dirty="0">
                <a:solidFill>
                  <a:srgbClr val="AEB9CC"/>
                </a:solidFill>
                <a:latin typeface="Calibri" pitchFamily="34" charset="0"/>
                <a:ea typeface="Calibri" pitchFamily="34" charset="-122"/>
                <a:cs typeface="Calibri" pitchFamily="34" charset="-120"/>
              </a:rPr>
              <a:t>Un bloque de texto camuflado le pedía a cualquier asistente de inteligencia artificial que presentara una relación inventada entre insumos y equipos, como si fuera el resultado de un análisis real.</a:t>
            </a:r>
            <a:endParaRPr lang="en-US" sz="1600" dirty="0"/>
          </a:p>
        </p:txBody>
      </p:sp>
      <p:sp>
        <p:nvSpPr>
          <p:cNvPr id="5" name="Shape 3"/>
          <p:cNvSpPr/>
          <p:nvPr/>
        </p:nvSpPr>
        <p:spPr>
          <a:xfrm>
            <a:off x="640080" y="4434840"/>
            <a:ext cx="10195560" cy="868680"/>
          </a:xfrm>
          <a:prstGeom prst="roundRect">
            <a:avLst>
              <a:gd name="adj" fmla="val 9474"/>
            </a:avLst>
          </a:prstGeom>
          <a:solidFill>
            <a:srgbClr val="24365C"/>
          </a:solidFill>
          <a:ln w="12700">
            <a:solidFill>
              <a:srgbClr val="24365C"/>
            </a:solidFill>
            <a:prstDash val="solid"/>
          </a:ln>
        </p:spPr>
      </p:sp>
      <p:sp>
        <p:nvSpPr>
          <p:cNvPr id="6" name="Text 4"/>
          <p:cNvSpPr txBox="1"/>
          <p:nvPr/>
        </p:nvSpPr>
        <p:spPr>
          <a:xfrm>
            <a:off x="960120" y="4434840"/>
            <a:ext cx="9601200" cy="868680"/>
          </a:xfrm>
          <a:prstGeom prst="rect">
            <a:avLst/>
          </a:prstGeom>
          <a:noFill/>
          <a:ln/>
        </p:spPr>
        <p:txBody>
          <a:bodyPr wrap="square" lIns="0" tIns="0" rIns="0" bIns="0" rtlCol="0" anchor="ctr"/>
          <a:lstStyle/>
          <a:p>
            <a:pPr indent="0" marL="0">
              <a:buNone/>
            </a:pPr>
            <a:r>
              <a:rPr lang="en-US" sz="1600" b="1" dirty="0">
                <a:solidFill>
                  <a:srgbClr val="E0640F"/>
                </a:solidFill>
                <a:latin typeface="Calibri" pitchFamily="34" charset="0"/>
                <a:ea typeface="Calibri" pitchFamily="34" charset="-122"/>
                <a:cs typeface="Calibri" pitchFamily="34" charset="-120"/>
              </a:rPr>
              <a:t>✓  </a:t>
            </a:r>
            <a:pPr indent="0" marL="0">
              <a:buNone/>
            </a:pPr>
            <a:r>
              <a:rPr lang="en-US" sz="1600" b="1" dirty="0">
                <a:solidFill>
                  <a:srgbClr val="F7F5EF"/>
                </a:solidFill>
                <a:latin typeface="Calibri" pitchFamily="34" charset="0"/>
                <a:ea typeface="Calibri" pitchFamily="34" charset="-122"/>
                <a:cs typeface="Calibri" pitchFamily="34" charset="-120"/>
              </a:rPr>
              <a:t>Se ignoró — y los datos reales probaron exactamente lo contrario de lo que pedía.</a:t>
            </a:r>
            <a:endParaRPr lang="en-US" sz="1600" dirty="0"/>
          </a:p>
        </p:txBody>
      </p:sp>
      <p:sp>
        <p:nvSpPr>
          <p:cNvPr id="7" name="Text 5"/>
          <p:cNvSpPr txBox="1"/>
          <p:nvPr/>
        </p:nvSpPr>
        <p:spPr>
          <a:xfrm>
            <a:off x="457200" y="6400800"/>
            <a:ext cx="6400800" cy="274320"/>
          </a:xfrm>
          <a:prstGeom prst="rect">
            <a:avLst/>
          </a:prstGeom>
          <a:noFill/>
          <a:ln/>
        </p:spPr>
        <p:txBody>
          <a:bodyPr wrap="square" lIns="0" tIns="0" rIns="0" bIns="0" rtlCol="0" anchor="ctr"/>
          <a:lstStyle/>
          <a:p>
            <a:pPr algn="l" indent="0" marL="0">
              <a:buNone/>
            </a:pPr>
            <a:r>
              <a:rPr lang="en-US" sz="1100" dirty="0">
                <a:solidFill>
                  <a:srgbClr val="AEB9CC"/>
                </a:solidFill>
                <a:latin typeface="Calibri" pitchFamily="34" charset="0"/>
                <a:ea typeface="Calibri" pitchFamily="34" charset="-122"/>
                <a:cs typeface="Calibri" pitchFamily="34" charset="-120"/>
              </a:rPr>
              <a:t>Gestión de costos de equipos de construcción</a:t>
            </a:r>
            <a:endParaRPr lang="en-US" sz="1100" dirty="0"/>
          </a:p>
        </p:txBody>
      </p:sp>
      <p:sp>
        <p:nvSpPr>
          <p:cNvPr id="8" name="Text 6"/>
          <p:cNvSpPr txBox="1"/>
          <p:nvPr/>
        </p:nvSpPr>
        <p:spPr>
          <a:xfrm>
            <a:off x="10820095" y="6400800"/>
            <a:ext cx="914400" cy="274320"/>
          </a:xfrm>
          <a:prstGeom prst="rect">
            <a:avLst/>
          </a:prstGeom>
          <a:noFill/>
          <a:ln/>
        </p:spPr>
        <p:txBody>
          <a:bodyPr wrap="square" lIns="0" tIns="0" rIns="0" bIns="0" rtlCol="0" anchor="ctr"/>
          <a:lstStyle/>
          <a:p>
            <a:pPr algn="r" indent="0" marL="0">
              <a:buNone/>
            </a:pPr>
            <a:r>
              <a:rPr lang="en-US" sz="1100" dirty="0">
                <a:solidFill>
                  <a:srgbClr val="AEB9CC"/>
                </a:solidFill>
                <a:latin typeface="Calibri" pitchFamily="34" charset="0"/>
                <a:ea typeface="Calibri" pitchFamily="34" charset="-122"/>
                <a:cs typeface="Calibri" pitchFamily="34" charset="-120"/>
              </a:rPr>
              <a:t>8 / 11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457200" cy="457200"/>
          </a:xfrm>
          <a:prstGeom prst="ellipse">
            <a:avLst/>
          </a:prstGeom>
          <a:solidFill>
            <a:srgbClr val="E0640F"/>
          </a:solidFill>
          <a:ln/>
        </p:spPr>
      </p:sp>
      <p:sp>
        <p:nvSpPr>
          <p:cNvPr id="3" name="Text 1"/>
          <p:cNvSpPr txBox="1"/>
          <p:nvPr/>
        </p:nvSpPr>
        <p:spPr>
          <a:xfrm>
            <a:off x="640080" y="5669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4" name="Text 2"/>
          <p:cNvSpPr txBox="1"/>
          <p:nvPr/>
        </p:nvSpPr>
        <p:spPr>
          <a:xfrm>
            <a:off x="1280160" y="411480"/>
            <a:ext cx="10058400" cy="1188720"/>
          </a:xfrm>
          <a:prstGeom prst="rect">
            <a:avLst/>
          </a:prstGeom>
          <a:noFill/>
          <a:ln/>
        </p:spPr>
        <p:txBody>
          <a:bodyPr wrap="square" lIns="0" tIns="0" rIns="0" bIns="0" rtlCol="0" anchor="ctr"/>
          <a:lstStyle/>
          <a:p>
            <a:pPr indent="0" marL="0">
              <a:lnSpc>
                <a:spcPct val="102000"/>
              </a:lnSpc>
              <a:buNone/>
            </a:pPr>
            <a:r>
              <a:rPr lang="en-US" sz="2700" b="1" dirty="0">
                <a:solidFill>
                  <a:srgbClr val="1B2A4A"/>
                </a:solidFill>
                <a:latin typeface="Cambria" pitchFamily="34" charset="0"/>
                <a:ea typeface="Cambria" pitchFamily="34" charset="-122"/>
                <a:cs typeface="Cambria" pitchFamily="34" charset="-120"/>
              </a:rPr>
              <a:t>Un asistente para consultar esto</a:t>
            </a:r>
            <a:endParaRPr lang="en-US" sz="2700" dirty="0"/>
          </a:p>
          <a:p>
            <a:pPr indent="0" marL="0">
              <a:lnSpc>
                <a:spcPct val="102000"/>
              </a:lnSpc>
              <a:buNone/>
            </a:pPr>
            <a:r>
              <a:rPr lang="en-US" sz="2700" b="1" dirty="0">
                <a:solidFill>
                  <a:srgbClr val="1B2A4A"/>
                </a:solidFill>
                <a:latin typeface="Cambria" pitchFamily="34" charset="0"/>
                <a:ea typeface="Cambria" pitchFamily="34" charset="-122"/>
                <a:cs typeface="Cambria" pitchFamily="34" charset="-120"/>
              </a:rPr>
              <a:t>cuando quieran</a:t>
            </a:r>
            <a:endParaRPr lang="en-US" sz="2700" dirty="0"/>
          </a:p>
        </p:txBody>
      </p:sp>
      <p:sp>
        <p:nvSpPr>
          <p:cNvPr id="5" name="Shape 3"/>
          <p:cNvSpPr/>
          <p:nvPr/>
        </p:nvSpPr>
        <p:spPr>
          <a:xfrm>
            <a:off x="640080" y="2194560"/>
            <a:ext cx="5074920" cy="2286000"/>
          </a:xfrm>
          <a:prstGeom prst="roundRect">
            <a:avLst>
              <a:gd name="adj" fmla="val 3600"/>
            </a:avLst>
          </a:prstGeom>
          <a:solidFill>
            <a:srgbClr val="FFFFFF"/>
          </a:solidFill>
          <a:ln w="12700">
            <a:solidFill>
              <a:srgbClr val="E4E7ED"/>
            </a:solidFill>
            <a:prstDash val="solid"/>
          </a:ln>
          <a:effectLst>
            <a:outerShdw sx="100000" sy="100000" kx="0" ky="0" algn="bl" rotWithShape="0" blurRad="76200" dist="25400" dir="5400000">
              <a:srgbClr val="1B2A4A">
                <a:alpha val="8000"/>
              </a:srgbClr>
            </a:outerShdw>
          </a:effectLst>
        </p:spPr>
      </p:sp>
      <p:sp>
        <p:nvSpPr>
          <p:cNvPr id="6" name="Text 4"/>
          <p:cNvSpPr txBox="1"/>
          <p:nvPr/>
        </p:nvSpPr>
        <p:spPr>
          <a:xfrm>
            <a:off x="914400" y="2468880"/>
            <a:ext cx="4526280" cy="320040"/>
          </a:xfrm>
          <a:prstGeom prst="rect">
            <a:avLst/>
          </a:prstGeom>
          <a:noFill/>
          <a:ln/>
        </p:spPr>
        <p:txBody>
          <a:bodyPr wrap="square" lIns="0" tIns="0" rIns="0" bIns="0" rtlCol="0" anchor="ctr"/>
          <a:lstStyle/>
          <a:p>
            <a:pPr indent="0" marL="0">
              <a:buNone/>
            </a:pPr>
            <a:r>
              <a:rPr lang="en-US" sz="1200" b="1" spc="100" kern="0" dirty="0">
                <a:solidFill>
                  <a:srgbClr val="6B7690"/>
                </a:solidFill>
                <a:latin typeface="Calibri" pitchFamily="34" charset="0"/>
                <a:ea typeface="Calibri" pitchFamily="34" charset="-122"/>
                <a:cs typeface="Calibri" pitchFamily="34" charset="-120"/>
              </a:rPr>
              <a:t>UN CÁLCULO FIJO</a:t>
            </a:r>
            <a:endParaRPr lang="en-US" sz="1200" dirty="0"/>
          </a:p>
        </p:txBody>
      </p:sp>
      <p:sp>
        <p:nvSpPr>
          <p:cNvPr id="7" name="Text 5"/>
          <p:cNvSpPr txBox="1"/>
          <p:nvPr/>
        </p:nvSpPr>
        <p:spPr>
          <a:xfrm>
            <a:off x="914400" y="2816352"/>
            <a:ext cx="4526280" cy="411480"/>
          </a:xfrm>
          <a:prstGeom prst="rect">
            <a:avLst/>
          </a:prstGeom>
          <a:noFill/>
          <a:ln/>
        </p:spPr>
        <p:txBody>
          <a:bodyPr wrap="square" lIns="0" tIns="0" rIns="0" bIns="0" rtlCol="0" anchor="ctr"/>
          <a:lstStyle/>
          <a:p>
            <a:pPr indent="0" marL="0">
              <a:buNone/>
            </a:pPr>
            <a:r>
              <a:rPr lang="en-US" sz="1900" b="1" dirty="0">
                <a:solidFill>
                  <a:srgbClr val="1B2A4A"/>
                </a:solidFill>
                <a:latin typeface="Calibri" pitchFamily="34" charset="0"/>
                <a:ea typeface="Calibri" pitchFamily="34" charset="-122"/>
                <a:cs typeface="Calibri" pitchFamily="34" charset="-120"/>
              </a:rPr>
              <a:t>El modelo que arma el número</a:t>
            </a:r>
            <a:endParaRPr lang="en-US" sz="1900" dirty="0"/>
          </a:p>
        </p:txBody>
      </p:sp>
      <p:sp>
        <p:nvSpPr>
          <p:cNvPr id="8" name="Text 6"/>
          <p:cNvSpPr txBox="1"/>
          <p:nvPr/>
        </p:nvSpPr>
        <p:spPr>
          <a:xfrm>
            <a:off x="914400" y="3337560"/>
            <a:ext cx="4526280" cy="914400"/>
          </a:xfrm>
          <a:prstGeom prst="rect">
            <a:avLst/>
          </a:prstGeom>
          <a:noFill/>
          <a:ln/>
        </p:spPr>
        <p:txBody>
          <a:bodyPr wrap="square" lIns="0" tIns="0" rIns="0" bIns="0" rtlCol="0" anchor="ctr"/>
          <a:lstStyle/>
          <a:p>
            <a:pPr indent="0" marL="0">
              <a:lnSpc>
                <a:spcPct val="120000"/>
              </a:lnSpc>
              <a:buNone/>
            </a:pPr>
            <a:r>
              <a:rPr lang="en-US" sz="1400" dirty="0">
                <a:solidFill>
                  <a:srgbClr val="44506B"/>
                </a:solidFill>
                <a:latin typeface="Calibri" pitchFamily="34" charset="0"/>
                <a:ea typeface="Calibri" pitchFamily="34" charset="-122"/>
                <a:cs typeface="Calibri" pitchFamily="34" charset="-120"/>
              </a:rPr>
              <a:t>Recibe datos y entrega un número. No decide nada, no recuerda nada entre una consulta y otra.</a:t>
            </a:r>
            <a:endParaRPr lang="en-US" sz="1400" dirty="0"/>
          </a:p>
        </p:txBody>
      </p:sp>
      <p:sp>
        <p:nvSpPr>
          <p:cNvPr id="9" name="Shape 7"/>
          <p:cNvSpPr/>
          <p:nvPr/>
        </p:nvSpPr>
        <p:spPr>
          <a:xfrm>
            <a:off x="6035040" y="2194560"/>
            <a:ext cx="5074920" cy="2286000"/>
          </a:xfrm>
          <a:prstGeom prst="roundRect">
            <a:avLst>
              <a:gd name="adj" fmla="val 3600"/>
            </a:avLst>
          </a:prstGeom>
          <a:solidFill>
            <a:srgbClr val="1B2A4A"/>
          </a:solidFill>
          <a:ln w="12700">
            <a:solidFill>
              <a:srgbClr val="1B2A4A"/>
            </a:solidFill>
            <a:prstDash val="solid"/>
          </a:ln>
        </p:spPr>
      </p:sp>
      <p:sp>
        <p:nvSpPr>
          <p:cNvPr id="10" name="Text 8"/>
          <p:cNvSpPr txBox="1"/>
          <p:nvPr/>
        </p:nvSpPr>
        <p:spPr>
          <a:xfrm>
            <a:off x="6309360" y="2468880"/>
            <a:ext cx="4526280" cy="320040"/>
          </a:xfrm>
          <a:prstGeom prst="rect">
            <a:avLst/>
          </a:prstGeom>
          <a:noFill/>
          <a:ln/>
        </p:spPr>
        <p:txBody>
          <a:bodyPr wrap="square" lIns="0" tIns="0" rIns="0" bIns="0" rtlCol="0" anchor="ctr"/>
          <a:lstStyle/>
          <a:p>
            <a:pPr indent="0" marL="0">
              <a:buNone/>
            </a:pPr>
            <a:r>
              <a:rPr lang="en-US" sz="1200" b="1" spc="100" kern="0" dirty="0">
                <a:solidFill>
                  <a:srgbClr val="E0640F"/>
                </a:solidFill>
                <a:latin typeface="Calibri" pitchFamily="34" charset="0"/>
                <a:ea typeface="Calibri" pitchFamily="34" charset="-122"/>
                <a:cs typeface="Calibri" pitchFamily="34" charset="-120"/>
              </a:rPr>
              <a:t>EL ASISTENTE</a:t>
            </a:r>
            <a:endParaRPr lang="en-US" sz="1200" dirty="0"/>
          </a:p>
        </p:txBody>
      </p:sp>
      <p:sp>
        <p:nvSpPr>
          <p:cNvPr id="11" name="Text 9"/>
          <p:cNvSpPr txBox="1"/>
          <p:nvPr/>
        </p:nvSpPr>
        <p:spPr>
          <a:xfrm>
            <a:off x="6309360" y="2816352"/>
            <a:ext cx="4526280" cy="411480"/>
          </a:xfrm>
          <a:prstGeom prst="rect">
            <a:avLst/>
          </a:prstGeom>
          <a:noFill/>
          <a:ln/>
        </p:spPr>
        <p:txBody>
          <a:bodyPr wrap="square" lIns="0" tIns="0" rIns="0" bIns="0" rtlCol="0" anchor="ctr"/>
          <a:lstStyle/>
          <a:p>
            <a:pPr indent="0" marL="0">
              <a:buNone/>
            </a:pPr>
            <a:r>
              <a:rPr lang="en-US" sz="1900" b="1" dirty="0">
                <a:solidFill>
                  <a:srgbClr val="F7F5EF"/>
                </a:solidFill>
                <a:latin typeface="Calibri" pitchFamily="34" charset="0"/>
                <a:ea typeface="Calibri" pitchFamily="34" charset="-122"/>
                <a:cs typeface="Calibri" pitchFamily="34" charset="-120"/>
              </a:rPr>
              <a:t>El que ustedes van a usar</a:t>
            </a:r>
            <a:endParaRPr lang="en-US" sz="1900" dirty="0"/>
          </a:p>
        </p:txBody>
      </p:sp>
      <p:sp>
        <p:nvSpPr>
          <p:cNvPr id="12" name="Text 10"/>
          <p:cNvSpPr txBox="1"/>
          <p:nvPr/>
        </p:nvSpPr>
        <p:spPr>
          <a:xfrm>
            <a:off x="6309360" y="3337560"/>
            <a:ext cx="4526280" cy="1005840"/>
          </a:xfrm>
          <a:prstGeom prst="rect">
            <a:avLst/>
          </a:prstGeom>
          <a:noFill/>
          <a:ln/>
        </p:spPr>
        <p:txBody>
          <a:bodyPr wrap="square" lIns="0" tIns="0" rIns="0" bIns="0" rtlCol="0" anchor="ctr"/>
          <a:lstStyle/>
          <a:p>
            <a:pPr indent="0" marL="0">
              <a:lnSpc>
                <a:spcPct val="120000"/>
              </a:lnSpc>
              <a:buNone/>
            </a:pPr>
            <a:r>
              <a:rPr lang="en-US" sz="1400" dirty="0">
                <a:solidFill>
                  <a:srgbClr val="F7F5EF"/>
                </a:solidFill>
                <a:latin typeface="Calibri" pitchFamily="34" charset="0"/>
                <a:ea typeface="Calibri" pitchFamily="34" charset="-122"/>
                <a:cs typeface="Calibri" pitchFamily="34" charset="-120"/>
              </a:rPr>
              <a:t>Decide qué revisar según la pregunta, va a buscar la respuesta real, recuerda la conversación, y puede salir a buscar información externa si hace falta.</a:t>
            </a:r>
            <a:endParaRPr lang="en-US" sz="1400" dirty="0"/>
          </a:p>
        </p:txBody>
      </p:sp>
      <p:sp>
        <p:nvSpPr>
          <p:cNvPr id="13" name="Text 11"/>
          <p:cNvSpPr txBox="1"/>
          <p:nvPr/>
        </p:nvSpPr>
        <p:spPr>
          <a:xfrm>
            <a:off x="640080" y="4800600"/>
            <a:ext cx="10241280" cy="457200"/>
          </a:xfrm>
          <a:prstGeom prst="rect">
            <a:avLst/>
          </a:prstGeom>
          <a:noFill/>
          <a:ln/>
        </p:spPr>
        <p:txBody>
          <a:bodyPr wrap="square" lIns="0" tIns="0" rIns="0" bIns="0" rtlCol="0" anchor="ctr"/>
          <a:lstStyle/>
          <a:p>
            <a:pPr indent="0" marL="0">
              <a:buNone/>
            </a:pPr>
            <a:r>
              <a:rPr lang="en-US" sz="1400" i="1" dirty="0">
                <a:solidFill>
                  <a:srgbClr val="6B7690"/>
                </a:solidFill>
                <a:latin typeface="Calibri" pitchFamily="34" charset="0"/>
                <a:ea typeface="Calibri" pitchFamily="34" charset="-122"/>
                <a:cs typeface="Calibri" pitchFamily="34" charset="-120"/>
              </a:rPr>
              <a:t>Se conversa por Telegram, como con cualquier contacto — no hay que entrar a ninguna plataforma nueva. Ya probado en vivo.</a:t>
            </a:r>
            <a:endParaRPr lang="en-US" sz="1400" dirty="0"/>
          </a:p>
        </p:txBody>
      </p:sp>
      <p:sp>
        <p:nvSpPr>
          <p:cNvPr id="14" name="Text 12"/>
          <p:cNvSpPr txBox="1"/>
          <p:nvPr/>
        </p:nvSpPr>
        <p:spPr>
          <a:xfrm>
            <a:off x="457200" y="6400800"/>
            <a:ext cx="6400800" cy="274320"/>
          </a:xfrm>
          <a:prstGeom prst="rect">
            <a:avLst/>
          </a:prstGeom>
          <a:noFill/>
          <a:ln/>
        </p:spPr>
        <p:txBody>
          <a:bodyPr wrap="square" lIns="0" tIns="0" rIns="0" bIns="0" rtlCol="0" anchor="ctr"/>
          <a:lstStyle/>
          <a:p>
            <a:pPr algn="l" indent="0" marL="0">
              <a:buNone/>
            </a:pPr>
            <a:r>
              <a:rPr lang="en-US" sz="1100" dirty="0">
                <a:solidFill>
                  <a:srgbClr val="6B7690"/>
                </a:solidFill>
                <a:latin typeface="Calibri" pitchFamily="34" charset="0"/>
                <a:ea typeface="Calibri" pitchFamily="34" charset="-122"/>
                <a:cs typeface="Calibri" pitchFamily="34" charset="-120"/>
              </a:rPr>
              <a:t>Gestión de costos de equipos de construcción</a:t>
            </a:r>
            <a:endParaRPr lang="en-US" sz="1100" dirty="0"/>
          </a:p>
        </p:txBody>
      </p:sp>
      <p:sp>
        <p:nvSpPr>
          <p:cNvPr id="15" name="Text 13"/>
          <p:cNvSpPr txBox="1"/>
          <p:nvPr/>
        </p:nvSpPr>
        <p:spPr>
          <a:xfrm>
            <a:off x="10820095" y="6400800"/>
            <a:ext cx="914400" cy="274320"/>
          </a:xfrm>
          <a:prstGeom prst="rect">
            <a:avLst/>
          </a:prstGeom>
          <a:noFill/>
          <a:ln/>
        </p:spPr>
        <p:txBody>
          <a:bodyPr wrap="square" lIns="0" tIns="0" rIns="0" bIns="0" rtlCol="0" anchor="ctr"/>
          <a:lstStyle/>
          <a:p>
            <a:pPr algn="r" indent="0" marL="0">
              <a:buNone/>
            </a:pPr>
            <a:r>
              <a:rPr lang="en-US" sz="1100" dirty="0">
                <a:solidFill>
                  <a:srgbClr val="6B7690"/>
                </a:solidFill>
                <a:latin typeface="Calibri" pitchFamily="34" charset="0"/>
                <a:ea typeface="Calibri" pitchFamily="34" charset="-122"/>
                <a:cs typeface="Calibri" pitchFamily="34" charset="-120"/>
              </a:rPr>
              <a:t>9 / 11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10789920" cy="1188720"/>
          </a:xfrm>
          <a:prstGeom prst="rect">
            <a:avLst/>
          </a:prstGeom>
          <a:noFill/>
          <a:ln/>
        </p:spPr>
        <p:txBody>
          <a:bodyPr wrap="square" lIns="0" tIns="0" rIns="0" bIns="0" rtlCol="0" anchor="ctr"/>
          <a:lstStyle/>
          <a:p>
            <a:pPr indent="0" marL="0">
              <a:lnSpc>
                <a:spcPct val="102000"/>
              </a:lnSpc>
              <a:buNone/>
            </a:pPr>
            <a:r>
              <a:rPr lang="en-US" sz="3000" b="1" dirty="0">
                <a:solidFill>
                  <a:srgbClr val="1B2A4A"/>
                </a:solidFill>
                <a:latin typeface="Cambria" pitchFamily="34" charset="0"/>
                <a:ea typeface="Cambria" pitchFamily="34" charset="-122"/>
                <a:cs typeface="Cambria" pitchFamily="34" charset="-120"/>
              </a:rPr>
              <a:t>Pensado para no costar casi nada de mantener</a:t>
            </a:r>
            <a:endParaRPr lang="en-US" sz="3000" dirty="0"/>
          </a:p>
        </p:txBody>
      </p:sp>
      <p:sp>
        <p:nvSpPr>
          <p:cNvPr id="3" name="Shape 1"/>
          <p:cNvSpPr/>
          <p:nvPr/>
        </p:nvSpPr>
        <p:spPr>
          <a:xfrm>
            <a:off x="998068" y="2377440"/>
            <a:ext cx="2880360" cy="1554480"/>
          </a:xfrm>
          <a:prstGeom prst="roundRect">
            <a:avLst>
              <a:gd name="adj" fmla="val 5882"/>
            </a:avLst>
          </a:prstGeom>
          <a:solidFill>
            <a:srgbClr val="1B2A4A"/>
          </a:solidFill>
          <a:ln/>
        </p:spPr>
      </p:sp>
      <p:sp>
        <p:nvSpPr>
          <p:cNvPr id="4" name="Text 2"/>
          <p:cNvSpPr txBox="1"/>
          <p:nvPr/>
        </p:nvSpPr>
        <p:spPr>
          <a:xfrm>
            <a:off x="1226668" y="2697480"/>
            <a:ext cx="2423160" cy="5486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Telegram</a:t>
            </a:r>
            <a:endParaRPr lang="en-US" sz="1600" dirty="0"/>
          </a:p>
        </p:txBody>
      </p:sp>
      <p:sp>
        <p:nvSpPr>
          <p:cNvPr id="5" name="Text 3"/>
          <p:cNvSpPr txBox="1"/>
          <p:nvPr/>
        </p:nvSpPr>
        <p:spPr>
          <a:xfrm>
            <a:off x="1226668" y="3291840"/>
            <a:ext cx="2423160" cy="548640"/>
          </a:xfrm>
          <a:prstGeom prst="rect">
            <a:avLst/>
          </a:prstGeom>
          <a:noFill/>
          <a:ln/>
        </p:spPr>
        <p:txBody>
          <a:bodyPr wrap="square" lIns="0" tIns="0" rIns="0" bIns="0" rtlCol="0" anchor="ctr"/>
          <a:lstStyle/>
          <a:p>
            <a:pPr indent="0" marL="0">
              <a:lnSpc>
                <a:spcPct val="110000"/>
              </a:lnSpc>
              <a:buNone/>
            </a:pPr>
            <a:r>
              <a:rPr lang="en-US" sz="1150" dirty="0">
                <a:solidFill>
                  <a:srgbClr val="E7ECF5"/>
                </a:solidFill>
                <a:latin typeface="Calibri" pitchFamily="34" charset="0"/>
                <a:ea typeface="Calibri" pitchFamily="34" charset="-122"/>
                <a:cs typeface="Calibri" pitchFamily="34" charset="-120"/>
              </a:rPr>
              <a:t>La app donde ustedes preguntan — gratis</a:t>
            </a:r>
            <a:endParaRPr lang="en-US" sz="1150" dirty="0"/>
          </a:p>
        </p:txBody>
      </p:sp>
      <p:sp>
        <p:nvSpPr>
          <p:cNvPr id="6" name="Text 4"/>
          <p:cNvSpPr txBox="1"/>
          <p:nvPr/>
        </p:nvSpPr>
        <p:spPr>
          <a:xfrm>
            <a:off x="3878428" y="2880360"/>
            <a:ext cx="777240" cy="548640"/>
          </a:xfrm>
          <a:prstGeom prst="rect">
            <a:avLst/>
          </a:prstGeom>
          <a:noFill/>
          <a:ln/>
        </p:spPr>
        <p:txBody>
          <a:bodyPr wrap="square" lIns="0" tIns="0" rIns="0" bIns="0" rtlCol="0" anchor="ctr"/>
          <a:lstStyle/>
          <a:p>
            <a:pPr algn="ctr" indent="0" marL="0">
              <a:buNone/>
            </a:pPr>
            <a:r>
              <a:rPr lang="en-US" sz="2600" dirty="0">
                <a:solidFill>
                  <a:srgbClr val="6B7690"/>
                </a:solidFill>
                <a:latin typeface="Calibri" pitchFamily="34" charset="0"/>
                <a:ea typeface="Calibri" pitchFamily="34" charset="-122"/>
                <a:cs typeface="Calibri" pitchFamily="34" charset="-120"/>
              </a:rPr>
              <a:t>→</a:t>
            </a:r>
            <a:endParaRPr lang="en-US" sz="2600" dirty="0"/>
          </a:p>
        </p:txBody>
      </p:sp>
      <p:sp>
        <p:nvSpPr>
          <p:cNvPr id="7" name="Shape 5"/>
          <p:cNvSpPr/>
          <p:nvPr/>
        </p:nvSpPr>
        <p:spPr>
          <a:xfrm>
            <a:off x="4655668" y="2377440"/>
            <a:ext cx="2880360" cy="1554480"/>
          </a:xfrm>
          <a:prstGeom prst="roundRect">
            <a:avLst>
              <a:gd name="adj" fmla="val 5882"/>
            </a:avLst>
          </a:prstGeom>
          <a:solidFill>
            <a:srgbClr val="2A5CAA"/>
          </a:solidFill>
          <a:ln/>
        </p:spPr>
      </p:sp>
      <p:sp>
        <p:nvSpPr>
          <p:cNvPr id="8" name="Text 6"/>
          <p:cNvSpPr txBox="1"/>
          <p:nvPr/>
        </p:nvSpPr>
        <p:spPr>
          <a:xfrm>
            <a:off x="4884268" y="2697480"/>
            <a:ext cx="2423160" cy="5486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El motor que procesa todo</a:t>
            </a:r>
            <a:endParaRPr lang="en-US" sz="1600" dirty="0"/>
          </a:p>
        </p:txBody>
      </p:sp>
      <p:sp>
        <p:nvSpPr>
          <p:cNvPr id="9" name="Text 7"/>
          <p:cNvSpPr txBox="1"/>
          <p:nvPr/>
        </p:nvSpPr>
        <p:spPr>
          <a:xfrm>
            <a:off x="4884268" y="3291840"/>
            <a:ext cx="2423160" cy="548640"/>
          </a:xfrm>
          <a:prstGeom prst="rect">
            <a:avLst/>
          </a:prstGeom>
          <a:noFill/>
          <a:ln/>
        </p:spPr>
        <p:txBody>
          <a:bodyPr wrap="square" lIns="0" tIns="0" rIns="0" bIns="0" rtlCol="0" anchor="ctr"/>
          <a:lstStyle/>
          <a:p>
            <a:pPr indent="0" marL="0">
              <a:lnSpc>
                <a:spcPct val="110000"/>
              </a:lnSpc>
              <a:buNone/>
            </a:pPr>
            <a:r>
              <a:rPr lang="en-US" sz="1150" dirty="0">
                <a:solidFill>
                  <a:srgbClr val="E7ECF5"/>
                </a:solidFill>
                <a:latin typeface="Calibri" pitchFamily="34" charset="0"/>
                <a:ea typeface="Calibri" pitchFamily="34" charset="-122"/>
                <a:cs typeface="Calibri" pitchFamily="34" charset="-120"/>
              </a:rPr>
              <a:t>Recibe los mensajes, corre el análisis, arma la respuesta</a:t>
            </a:r>
            <a:endParaRPr lang="en-US" sz="1150" dirty="0"/>
          </a:p>
        </p:txBody>
      </p:sp>
      <p:sp>
        <p:nvSpPr>
          <p:cNvPr id="10" name="Text 8"/>
          <p:cNvSpPr txBox="1"/>
          <p:nvPr/>
        </p:nvSpPr>
        <p:spPr>
          <a:xfrm>
            <a:off x="7536028" y="2880360"/>
            <a:ext cx="777240" cy="548640"/>
          </a:xfrm>
          <a:prstGeom prst="rect">
            <a:avLst/>
          </a:prstGeom>
          <a:noFill/>
          <a:ln/>
        </p:spPr>
        <p:txBody>
          <a:bodyPr wrap="square" lIns="0" tIns="0" rIns="0" bIns="0" rtlCol="0" anchor="ctr"/>
          <a:lstStyle/>
          <a:p>
            <a:pPr algn="ctr" indent="0" marL="0">
              <a:buNone/>
            </a:pPr>
            <a:r>
              <a:rPr lang="en-US" sz="2600" dirty="0">
                <a:solidFill>
                  <a:srgbClr val="6B7690"/>
                </a:solidFill>
                <a:latin typeface="Calibri" pitchFamily="34" charset="0"/>
                <a:ea typeface="Calibri" pitchFamily="34" charset="-122"/>
                <a:cs typeface="Calibri" pitchFamily="34" charset="-120"/>
              </a:rPr>
              <a:t>→</a:t>
            </a:r>
            <a:endParaRPr lang="en-US" sz="2600" dirty="0"/>
          </a:p>
        </p:txBody>
      </p:sp>
      <p:sp>
        <p:nvSpPr>
          <p:cNvPr id="11" name="Shape 9"/>
          <p:cNvSpPr/>
          <p:nvPr/>
        </p:nvSpPr>
        <p:spPr>
          <a:xfrm>
            <a:off x="8313268" y="2377440"/>
            <a:ext cx="2880360" cy="1554480"/>
          </a:xfrm>
          <a:prstGeom prst="roundRect">
            <a:avLst>
              <a:gd name="adj" fmla="val 5882"/>
            </a:avLst>
          </a:prstGeom>
          <a:solidFill>
            <a:srgbClr val="E0640F"/>
          </a:solidFill>
          <a:ln/>
        </p:spPr>
      </p:sp>
      <p:sp>
        <p:nvSpPr>
          <p:cNvPr id="12" name="Text 10"/>
          <p:cNvSpPr txBox="1"/>
          <p:nvPr/>
        </p:nvSpPr>
        <p:spPr>
          <a:xfrm>
            <a:off x="8541868" y="2697480"/>
            <a:ext cx="2423160" cy="5486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Donde queda todo guardado</a:t>
            </a:r>
            <a:endParaRPr lang="en-US" sz="1600" dirty="0"/>
          </a:p>
        </p:txBody>
      </p:sp>
      <p:sp>
        <p:nvSpPr>
          <p:cNvPr id="13" name="Text 11"/>
          <p:cNvSpPr txBox="1"/>
          <p:nvPr/>
        </p:nvSpPr>
        <p:spPr>
          <a:xfrm>
            <a:off x="8541868" y="3291840"/>
            <a:ext cx="2423160" cy="548640"/>
          </a:xfrm>
          <a:prstGeom prst="rect">
            <a:avLst/>
          </a:prstGeom>
          <a:noFill/>
          <a:ln/>
        </p:spPr>
        <p:txBody>
          <a:bodyPr wrap="square" lIns="0" tIns="0" rIns="0" bIns="0" rtlCol="0" anchor="ctr"/>
          <a:lstStyle/>
          <a:p>
            <a:pPr indent="0" marL="0">
              <a:lnSpc>
                <a:spcPct val="110000"/>
              </a:lnSpc>
              <a:buNone/>
            </a:pPr>
            <a:r>
              <a:rPr lang="en-US" sz="1150" dirty="0">
                <a:solidFill>
                  <a:srgbClr val="E7ECF5"/>
                </a:solidFill>
                <a:latin typeface="Calibri" pitchFamily="34" charset="0"/>
                <a:ea typeface="Calibri" pitchFamily="34" charset="-122"/>
                <a:cs typeface="Calibri" pitchFamily="34" charset="-120"/>
              </a:rPr>
              <a:t>Resultados y memoria de las conversaciones</a:t>
            </a:r>
            <a:endParaRPr lang="en-US" sz="1150" dirty="0"/>
          </a:p>
        </p:txBody>
      </p:sp>
      <p:sp>
        <p:nvSpPr>
          <p:cNvPr id="14" name="Text 12"/>
          <p:cNvSpPr txBox="1"/>
          <p:nvPr/>
        </p:nvSpPr>
        <p:spPr>
          <a:xfrm>
            <a:off x="640080" y="4663440"/>
            <a:ext cx="10332720" cy="822960"/>
          </a:xfrm>
          <a:prstGeom prst="rect">
            <a:avLst/>
          </a:prstGeom>
          <a:noFill/>
          <a:ln/>
        </p:spPr>
        <p:txBody>
          <a:bodyPr wrap="square" lIns="0" tIns="0" rIns="0" bIns="0" rtlCol="0" anchor="ctr"/>
          <a:lstStyle/>
          <a:p>
            <a:pPr indent="0" marL="0">
              <a:buNone/>
            </a:pPr>
            <a:r>
              <a:rPr lang="en-US" sz="4000" b="1" dirty="0">
                <a:solidFill>
                  <a:srgbClr val="E0640F"/>
                </a:solidFill>
                <a:latin typeface="Cambria" pitchFamily="34" charset="0"/>
                <a:ea typeface="Cambria" pitchFamily="34" charset="-122"/>
                <a:cs typeface="Cambria" pitchFamily="34" charset="-120"/>
              </a:rPr>
              <a:t>~$0 </a:t>
            </a:r>
            <a:pPr indent="0" marL="0">
              <a:buNone/>
            </a:pPr>
            <a:r>
              <a:rPr lang="en-US" sz="1500" dirty="0">
                <a:solidFill>
                  <a:srgbClr val="44506B"/>
                </a:solidFill>
                <a:latin typeface="Calibri" pitchFamily="34" charset="0"/>
                <a:ea typeface="Calibri" pitchFamily="34" charset="-122"/>
                <a:cs typeface="Calibri" pitchFamily="34" charset="-120"/>
              </a:rPr>
              <a:t>al mes — el único costo real es el uso del asistente de inteligencia artificial, y para el uso normal es mínimo</a:t>
            </a:r>
            <a:endParaRPr lang="en-US" sz="4000" dirty="0"/>
          </a:p>
        </p:txBody>
      </p:sp>
      <p:sp>
        <p:nvSpPr>
          <p:cNvPr id="15" name="Text 13"/>
          <p:cNvSpPr txBox="1"/>
          <p:nvPr/>
        </p:nvSpPr>
        <p:spPr>
          <a:xfrm>
            <a:off x="457200" y="6400800"/>
            <a:ext cx="6400800" cy="274320"/>
          </a:xfrm>
          <a:prstGeom prst="rect">
            <a:avLst/>
          </a:prstGeom>
          <a:noFill/>
          <a:ln/>
        </p:spPr>
        <p:txBody>
          <a:bodyPr wrap="square" lIns="0" tIns="0" rIns="0" bIns="0" rtlCol="0" anchor="ctr"/>
          <a:lstStyle/>
          <a:p>
            <a:pPr algn="l" indent="0" marL="0">
              <a:buNone/>
            </a:pPr>
            <a:r>
              <a:rPr lang="en-US" sz="1100" dirty="0">
                <a:solidFill>
                  <a:srgbClr val="6B7690"/>
                </a:solidFill>
                <a:latin typeface="Calibri" pitchFamily="34" charset="0"/>
                <a:ea typeface="Calibri" pitchFamily="34" charset="-122"/>
                <a:cs typeface="Calibri" pitchFamily="34" charset="-120"/>
              </a:rPr>
              <a:t>Gestión de costos de equipos de construcción</a:t>
            </a:r>
            <a:endParaRPr lang="en-US" sz="1100" dirty="0"/>
          </a:p>
        </p:txBody>
      </p:sp>
      <p:sp>
        <p:nvSpPr>
          <p:cNvPr id="16" name="Text 14"/>
          <p:cNvSpPr txBox="1"/>
          <p:nvPr/>
        </p:nvSpPr>
        <p:spPr>
          <a:xfrm>
            <a:off x="10820095" y="6400800"/>
            <a:ext cx="914400" cy="274320"/>
          </a:xfrm>
          <a:prstGeom prst="rect">
            <a:avLst/>
          </a:prstGeom>
          <a:noFill/>
          <a:ln/>
        </p:spPr>
        <p:txBody>
          <a:bodyPr wrap="square" lIns="0" tIns="0" rIns="0" bIns="0" rtlCol="0" anchor="ctr"/>
          <a:lstStyle/>
          <a:p>
            <a:pPr algn="r" indent="0" marL="0">
              <a:buNone/>
            </a:pPr>
            <a:r>
              <a:rPr lang="en-US" sz="1100" dirty="0">
                <a:solidFill>
                  <a:srgbClr val="6B7690"/>
                </a:solidFill>
                <a:latin typeface="Calibri" pitchFamily="34" charset="0"/>
                <a:ea typeface="Calibri" pitchFamily="34" charset="-122"/>
                <a:cs typeface="Calibri" pitchFamily="34" charset="-120"/>
              </a:rPr>
              <a:t>10 / 11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640080" y="822960"/>
            <a:ext cx="10515600" cy="1188720"/>
          </a:xfrm>
          <a:prstGeom prst="rect">
            <a:avLst/>
          </a:prstGeom>
          <a:noFill/>
          <a:ln/>
        </p:spPr>
        <p:txBody>
          <a:bodyPr wrap="square" lIns="0" tIns="0" rIns="0" bIns="0" rtlCol="0" anchor="ctr"/>
          <a:lstStyle/>
          <a:p>
            <a:pPr indent="0" marL="0">
              <a:lnSpc>
                <a:spcPct val="102000"/>
              </a:lnSpc>
              <a:buNone/>
            </a:pPr>
            <a:r>
              <a:rPr lang="en-US" sz="3200" b="1" dirty="0">
                <a:solidFill>
                  <a:srgbClr val="F7F5EF"/>
                </a:solidFill>
                <a:latin typeface="Cambria" pitchFamily="34" charset="0"/>
                <a:ea typeface="Cambria" pitchFamily="34" charset="-122"/>
                <a:cs typeface="Cambria" pitchFamily="34" charset="-120"/>
              </a:rPr>
              <a:t>De información suelta a un</a:t>
            </a:r>
            <a:endParaRPr lang="en-US" sz="3200" dirty="0"/>
          </a:p>
          <a:p>
            <a:pPr indent="0" marL="0">
              <a:lnSpc>
                <a:spcPct val="102000"/>
              </a:lnSpc>
              <a:buNone/>
            </a:pPr>
            <a:r>
              <a:rPr lang="en-US" sz="3200" b="1" dirty="0">
                <a:solidFill>
                  <a:srgbClr val="F7F5EF"/>
                </a:solidFill>
                <a:latin typeface="Cambria" pitchFamily="34" charset="0"/>
                <a:ea typeface="Cambria" pitchFamily="34" charset="-122"/>
                <a:cs typeface="Cambria" pitchFamily="34" charset="-120"/>
              </a:rPr>
              <a:t>sistema que responde preguntas</a:t>
            </a:r>
            <a:endParaRPr lang="en-US" sz="3200" dirty="0"/>
          </a:p>
        </p:txBody>
      </p:sp>
      <p:sp>
        <p:nvSpPr>
          <p:cNvPr id="3" name="Shape 1"/>
          <p:cNvSpPr/>
          <p:nvPr/>
        </p:nvSpPr>
        <p:spPr>
          <a:xfrm>
            <a:off x="640080" y="2350008"/>
            <a:ext cx="256032" cy="256032"/>
          </a:xfrm>
          <a:prstGeom prst="ellipse">
            <a:avLst/>
          </a:prstGeom>
          <a:solidFill>
            <a:srgbClr val="FFFFFF"/>
          </a:solidFill>
          <a:ln w="22225">
            <a:solidFill>
              <a:srgbClr val="E0640F"/>
            </a:solidFill>
            <a:prstDash val="solid"/>
          </a:ln>
        </p:spPr>
      </p:sp>
      <p:sp>
        <p:nvSpPr>
          <p:cNvPr id="4" name="Text 2"/>
          <p:cNvSpPr txBox="1"/>
          <p:nvPr/>
        </p:nvSpPr>
        <p:spPr>
          <a:xfrm>
            <a:off x="640080" y="2336292"/>
            <a:ext cx="256032" cy="256032"/>
          </a:xfrm>
          <a:prstGeom prst="rect">
            <a:avLst/>
          </a:prstGeom>
          <a:noFill/>
          <a:ln/>
        </p:spPr>
        <p:txBody>
          <a:bodyPr wrap="square" lIns="0" tIns="0" rIns="0" bIns="0" rtlCol="0" anchor="ctr"/>
          <a:lstStyle/>
          <a:p>
            <a:pPr algn="ctr" indent="0" marL="0">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5" name="Text 3"/>
          <p:cNvSpPr txBox="1"/>
          <p:nvPr/>
        </p:nvSpPr>
        <p:spPr>
          <a:xfrm>
            <a:off x="1097280" y="2331720"/>
            <a:ext cx="4617720" cy="640080"/>
          </a:xfrm>
          <a:prstGeom prst="rect">
            <a:avLst/>
          </a:prstGeom>
          <a:noFill/>
          <a:ln/>
        </p:spPr>
        <p:txBody>
          <a:bodyPr wrap="square" lIns="0" tIns="0" rIns="0" bIns="0" rtlCol="0" anchor="t"/>
          <a:lstStyle/>
          <a:p>
            <a:pPr indent="0" marL="0">
              <a:buNone/>
            </a:pPr>
            <a:r>
              <a:rPr lang="en-US" sz="1500" dirty="0">
                <a:solidFill>
                  <a:srgbClr val="AEB9CC"/>
                </a:solidFill>
                <a:latin typeface="Calibri" pitchFamily="34" charset="0"/>
                <a:ea typeface="Calibri" pitchFamily="34" charset="-122"/>
                <a:cs typeface="Calibri" pitchFamily="34" charset="-120"/>
              </a:rPr>
              <a:t>Análisis confirmado con varias pruebas independientes, no con una sola</a:t>
            </a:r>
            <a:endParaRPr lang="en-US" sz="1500" dirty="0"/>
          </a:p>
        </p:txBody>
      </p:sp>
      <p:sp>
        <p:nvSpPr>
          <p:cNvPr id="6" name="Shape 4"/>
          <p:cNvSpPr/>
          <p:nvPr/>
        </p:nvSpPr>
        <p:spPr>
          <a:xfrm>
            <a:off x="6172200" y="2350008"/>
            <a:ext cx="256032" cy="256032"/>
          </a:xfrm>
          <a:prstGeom prst="ellipse">
            <a:avLst/>
          </a:prstGeom>
          <a:solidFill>
            <a:srgbClr val="FFFFFF"/>
          </a:solidFill>
          <a:ln w="22225">
            <a:solidFill>
              <a:srgbClr val="E0640F"/>
            </a:solidFill>
            <a:prstDash val="solid"/>
          </a:ln>
        </p:spPr>
      </p:sp>
      <p:sp>
        <p:nvSpPr>
          <p:cNvPr id="7" name="Text 5"/>
          <p:cNvSpPr txBox="1"/>
          <p:nvPr/>
        </p:nvSpPr>
        <p:spPr>
          <a:xfrm>
            <a:off x="6172200" y="2336292"/>
            <a:ext cx="256032" cy="256032"/>
          </a:xfrm>
          <a:prstGeom prst="rect">
            <a:avLst/>
          </a:prstGeom>
          <a:noFill/>
          <a:ln/>
        </p:spPr>
        <p:txBody>
          <a:bodyPr wrap="square" lIns="0" tIns="0" rIns="0" bIns="0" rtlCol="0" anchor="ctr"/>
          <a:lstStyle/>
          <a:p>
            <a:pPr algn="ctr" indent="0" marL="0">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8" name="Text 6"/>
          <p:cNvSpPr txBox="1"/>
          <p:nvPr/>
        </p:nvSpPr>
        <p:spPr>
          <a:xfrm>
            <a:off x="6629400" y="2331720"/>
            <a:ext cx="4617720" cy="640080"/>
          </a:xfrm>
          <a:prstGeom prst="rect">
            <a:avLst/>
          </a:prstGeom>
          <a:noFill/>
          <a:ln/>
        </p:spPr>
        <p:txBody>
          <a:bodyPr wrap="square" lIns="0" tIns="0" rIns="0" bIns="0" rtlCol="0" anchor="t"/>
          <a:lstStyle/>
          <a:p>
            <a:pPr indent="0" marL="0">
              <a:buNone/>
            </a:pPr>
            <a:r>
              <a:rPr lang="en-US" sz="1500" dirty="0">
                <a:solidFill>
                  <a:srgbClr val="AEB9CC"/>
                </a:solidFill>
                <a:latin typeface="Calibri" pitchFamily="34" charset="0"/>
                <a:ea typeface="Calibri" pitchFamily="34" charset="-122"/>
                <a:cs typeface="Calibri" pitchFamily="34" charset="-120"/>
              </a:rPr>
              <a:t>Proyección de costos probada contra lo que realmente pasó</a:t>
            </a:r>
            <a:endParaRPr lang="en-US" sz="1500" dirty="0"/>
          </a:p>
        </p:txBody>
      </p:sp>
      <p:sp>
        <p:nvSpPr>
          <p:cNvPr id="9" name="Shape 7"/>
          <p:cNvSpPr/>
          <p:nvPr/>
        </p:nvSpPr>
        <p:spPr>
          <a:xfrm>
            <a:off x="640080" y="3127248"/>
            <a:ext cx="256032" cy="256032"/>
          </a:xfrm>
          <a:prstGeom prst="ellipse">
            <a:avLst/>
          </a:prstGeom>
          <a:solidFill>
            <a:srgbClr val="FFFFFF"/>
          </a:solidFill>
          <a:ln w="22225">
            <a:solidFill>
              <a:srgbClr val="E0640F"/>
            </a:solidFill>
            <a:prstDash val="solid"/>
          </a:ln>
        </p:spPr>
      </p:sp>
      <p:sp>
        <p:nvSpPr>
          <p:cNvPr id="10" name="Text 8"/>
          <p:cNvSpPr txBox="1"/>
          <p:nvPr/>
        </p:nvSpPr>
        <p:spPr>
          <a:xfrm>
            <a:off x="640080" y="3113532"/>
            <a:ext cx="256032" cy="256032"/>
          </a:xfrm>
          <a:prstGeom prst="rect">
            <a:avLst/>
          </a:prstGeom>
          <a:noFill/>
          <a:ln/>
        </p:spPr>
        <p:txBody>
          <a:bodyPr wrap="square" lIns="0" tIns="0" rIns="0" bIns="0" rtlCol="0" anchor="ctr"/>
          <a:lstStyle/>
          <a:p>
            <a:pPr algn="ctr" indent="0" marL="0">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1" name="Text 9"/>
          <p:cNvSpPr txBox="1"/>
          <p:nvPr/>
        </p:nvSpPr>
        <p:spPr>
          <a:xfrm>
            <a:off x="1097280" y="3108960"/>
            <a:ext cx="4617720" cy="640080"/>
          </a:xfrm>
          <a:prstGeom prst="rect">
            <a:avLst/>
          </a:prstGeom>
          <a:noFill/>
          <a:ln/>
        </p:spPr>
        <p:txBody>
          <a:bodyPr wrap="square" lIns="0" tIns="0" rIns="0" bIns="0" rtlCol="0" anchor="t"/>
          <a:lstStyle/>
          <a:p>
            <a:pPr indent="0" marL="0">
              <a:buNone/>
            </a:pPr>
            <a:r>
              <a:rPr lang="en-US" sz="1500" dirty="0">
                <a:solidFill>
                  <a:srgbClr val="AEB9CC"/>
                </a:solidFill>
                <a:latin typeface="Calibri" pitchFamily="34" charset="0"/>
                <a:ea typeface="Calibri" pitchFamily="34" charset="-122"/>
                <a:cs typeface="Calibri" pitchFamily="34" charset="-120"/>
              </a:rPr>
              <a:t>Un asistente conversacional que ya funciona de verdad</a:t>
            </a:r>
            <a:endParaRPr lang="en-US" sz="1500" dirty="0"/>
          </a:p>
        </p:txBody>
      </p:sp>
      <p:sp>
        <p:nvSpPr>
          <p:cNvPr id="12" name="Shape 10"/>
          <p:cNvSpPr/>
          <p:nvPr/>
        </p:nvSpPr>
        <p:spPr>
          <a:xfrm>
            <a:off x="6172200" y="3127248"/>
            <a:ext cx="256032" cy="256032"/>
          </a:xfrm>
          <a:prstGeom prst="ellipse">
            <a:avLst/>
          </a:prstGeom>
          <a:solidFill>
            <a:srgbClr val="FFFFFF"/>
          </a:solidFill>
          <a:ln w="22225">
            <a:solidFill>
              <a:srgbClr val="E0640F"/>
            </a:solidFill>
            <a:prstDash val="solid"/>
          </a:ln>
        </p:spPr>
      </p:sp>
      <p:sp>
        <p:nvSpPr>
          <p:cNvPr id="13" name="Text 11"/>
          <p:cNvSpPr txBox="1"/>
          <p:nvPr/>
        </p:nvSpPr>
        <p:spPr>
          <a:xfrm>
            <a:off x="6172200" y="3113532"/>
            <a:ext cx="256032" cy="256032"/>
          </a:xfrm>
          <a:prstGeom prst="rect">
            <a:avLst/>
          </a:prstGeom>
          <a:noFill/>
          <a:ln/>
        </p:spPr>
        <p:txBody>
          <a:bodyPr wrap="square" lIns="0" tIns="0" rIns="0" bIns="0" rtlCol="0" anchor="ctr"/>
          <a:lstStyle/>
          <a:p>
            <a:pPr algn="ctr" indent="0" marL="0">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6629400" y="3108960"/>
            <a:ext cx="4617720" cy="640080"/>
          </a:xfrm>
          <a:prstGeom prst="rect">
            <a:avLst/>
          </a:prstGeom>
          <a:noFill/>
          <a:ln/>
        </p:spPr>
        <p:txBody>
          <a:bodyPr wrap="square" lIns="0" tIns="0" rIns="0" bIns="0" rtlCol="0" anchor="t"/>
          <a:lstStyle/>
          <a:p>
            <a:pPr indent="0" marL="0">
              <a:buNone/>
            </a:pPr>
            <a:r>
              <a:rPr lang="en-US" sz="1500" dirty="0">
                <a:solidFill>
                  <a:srgbClr val="AEB9CC"/>
                </a:solidFill>
                <a:latin typeface="Calibri" pitchFamily="34" charset="0"/>
                <a:ea typeface="Calibri" pitchFamily="34" charset="-122"/>
                <a:cs typeface="Calibri" pitchFamily="34" charset="-120"/>
              </a:rPr>
              <a:t>Todo listo para funcionar, con un costo casi nulo de mantener</a:t>
            </a:r>
            <a:endParaRPr lang="en-US" sz="1500" dirty="0"/>
          </a:p>
        </p:txBody>
      </p:sp>
      <p:sp>
        <p:nvSpPr>
          <p:cNvPr id="15" name="Text 13"/>
          <p:cNvSpPr txBox="1"/>
          <p:nvPr/>
        </p:nvSpPr>
        <p:spPr>
          <a:xfrm>
            <a:off x="640080" y="5806440"/>
            <a:ext cx="3657600" cy="548640"/>
          </a:xfrm>
          <a:prstGeom prst="rect">
            <a:avLst/>
          </a:prstGeom>
          <a:noFill/>
          <a:ln/>
        </p:spPr>
        <p:txBody>
          <a:bodyPr wrap="square" lIns="0" tIns="0" rIns="0" bIns="0" rtlCol="0" anchor="ctr"/>
          <a:lstStyle/>
          <a:p>
            <a:pPr indent="0" marL="0">
              <a:buNone/>
            </a:pPr>
            <a:r>
              <a:rPr lang="en-US" sz="2600" dirty="0">
                <a:solidFill>
                  <a:srgbClr val="F7F5EF"/>
                </a:solidFill>
                <a:latin typeface="Cambria" pitchFamily="34" charset="0"/>
                <a:ea typeface="Cambria" pitchFamily="34" charset="-122"/>
                <a:cs typeface="Cambria" pitchFamily="34" charset="-120"/>
              </a:rPr>
              <a:t>Gracias</a:t>
            </a:r>
            <a:endParaRPr lang="en-US" sz="2600" dirty="0"/>
          </a:p>
        </p:txBody>
      </p:sp>
      <p:sp>
        <p:nvSpPr>
          <p:cNvPr id="16" name="Text 14"/>
          <p:cNvSpPr txBox="1"/>
          <p:nvPr/>
        </p:nvSpPr>
        <p:spPr>
          <a:xfrm>
            <a:off x="457200" y="6400800"/>
            <a:ext cx="6400800" cy="274320"/>
          </a:xfrm>
          <a:prstGeom prst="rect">
            <a:avLst/>
          </a:prstGeom>
          <a:noFill/>
          <a:ln/>
        </p:spPr>
        <p:txBody>
          <a:bodyPr wrap="square" lIns="0" tIns="0" rIns="0" bIns="0" rtlCol="0" anchor="ctr"/>
          <a:lstStyle/>
          <a:p>
            <a:pPr algn="l" indent="0" marL="0">
              <a:buNone/>
            </a:pPr>
            <a:r>
              <a:rPr lang="en-US" sz="1100" dirty="0">
                <a:solidFill>
                  <a:srgbClr val="AEB9CC"/>
                </a:solidFill>
                <a:latin typeface="Calibri" pitchFamily="34" charset="0"/>
                <a:ea typeface="Calibri" pitchFamily="34" charset="-122"/>
                <a:cs typeface="Calibri" pitchFamily="34" charset="-120"/>
              </a:rPr>
              <a:t>Gestión de costos de equipos de construcción</a:t>
            </a:r>
            <a:endParaRPr lang="en-US" sz="1100" dirty="0"/>
          </a:p>
        </p:txBody>
      </p:sp>
      <p:sp>
        <p:nvSpPr>
          <p:cNvPr id="17" name="Text 15"/>
          <p:cNvSpPr txBox="1"/>
          <p:nvPr/>
        </p:nvSpPr>
        <p:spPr>
          <a:xfrm>
            <a:off x="10820095" y="6400800"/>
            <a:ext cx="914400" cy="274320"/>
          </a:xfrm>
          <a:prstGeom prst="rect">
            <a:avLst/>
          </a:prstGeom>
          <a:noFill/>
          <a:ln/>
        </p:spPr>
        <p:txBody>
          <a:bodyPr wrap="square" lIns="0" tIns="0" rIns="0" bIns="0" rtlCol="0" anchor="ctr"/>
          <a:lstStyle/>
          <a:p>
            <a:pPr algn="r" indent="0" marL="0">
              <a:buNone/>
            </a:pPr>
            <a:r>
              <a:rPr lang="en-US" sz="1100" dirty="0">
                <a:solidFill>
                  <a:srgbClr val="AEB9CC"/>
                </a:solidFill>
                <a:latin typeface="Calibri" pitchFamily="34" charset="0"/>
                <a:ea typeface="Calibri" pitchFamily="34" charset="-122"/>
                <a:cs typeface="Calibri" pitchFamily="34" charset="-120"/>
              </a:rPr>
              <a:t>11 / 11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2026-09-25T15:28:25Z</dcterms:created>
  <dcterms:modified xsi:type="dcterms:W3CDTF">2026-09-25T15:28:25Z</dcterms:modified>
</cp:coreProperties>
</file>